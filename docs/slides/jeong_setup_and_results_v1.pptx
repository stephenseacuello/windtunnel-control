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8.xml" ContentType="application/vnd.openxmlformats-officedocument.presentationml.notesSlide+xml"/>
  <Override PartName="/ppt/charts/chart9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3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44" r:id="rId2"/>
    <p:sldId id="346" r:id="rId3"/>
    <p:sldId id="287" r:id="rId4"/>
    <p:sldId id="335" r:id="rId5"/>
    <p:sldId id="336" r:id="rId6"/>
    <p:sldId id="348" r:id="rId7"/>
    <p:sldId id="327" r:id="rId8"/>
    <p:sldId id="334" r:id="rId9"/>
    <p:sldId id="343" r:id="rId10"/>
    <p:sldId id="345" r:id="rId11"/>
    <p:sldId id="341" r:id="rId12"/>
    <p:sldId id="316" r:id="rId13"/>
    <p:sldId id="32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23"/>
    <p:restoredTop sz="94658"/>
  </p:normalViewPr>
  <p:slideViewPr>
    <p:cSldViewPr snapToGrid="0" snapToObjects="1">
      <p:cViewPr>
        <p:scale>
          <a:sx n="94" d="100"/>
          <a:sy n="94" d="100"/>
        </p:scale>
        <p:origin x="-48" y="7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Peak electrical power vs measured wind speed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Pmax (W)</c:v>
                </c:pt>
              </c:strCache>
            </c:strRef>
          </c:tx>
          <c:spPr>
            <a:ln w="25400" cap="flat">
              <a:solidFill>
                <a:srgbClr val="183A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83A61"/>
              </a:solidFill>
              <a:ln w="9525" cap="flat">
                <a:solidFill>
                  <a:srgbClr val="183A61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10.1</c:v>
                </c:pt>
                <c:pt idx="1">
                  <c:v>18.6</c:v>
                </c:pt>
                <c:pt idx="2">
                  <c:v>29.1</c:v>
                </c:pt>
                <c:pt idx="3">
                  <c:v>37.5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</c:v>
                </c:pt>
                <c:pt idx="1">
                  <c:v>0.27300000000000002</c:v>
                </c:pt>
                <c:pt idx="2">
                  <c:v>1.665</c:v>
                </c:pt>
                <c:pt idx="3">
                  <c:v>3.7930000000000001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5A-8C48-82F1-DA8A86D30D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1F2937"/>
                </a:solidFill>
                <a:latin typeface="Arial"/>
              </a:rPr>
              <a:t>Current at peak power vs wind speed</a:t>
            </a:r>
            <a:endParaRPr lang="en-US" sz="1300"/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I at Pmax (A)</c:v>
          </c:tx>
          <c:spPr>
            <a:ln w="31750">
              <a:solidFill>
                <a:srgbClr val="1F6E8C"/>
              </a:solidFill>
              <a:round/>
            </a:ln>
          </c:spPr>
          <c:marker>
            <c:symbol val="circle"/>
            <c:size val="7"/>
            <c:spPr>
              <a:solidFill>
                <a:srgbClr val="1F6E8C"/>
              </a:solidFill>
              <a:ln>
                <a:solidFill>
                  <a:srgbClr val="FFFFFF"/>
                </a:solidFill>
              </a:ln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10.1</c:v>
              </c:pt>
              <c:pt idx="1">
                <c:v>18.6</c:v>
              </c:pt>
              <c:pt idx="2">
                <c:v>29.1</c:v>
              </c:pt>
              <c:pt idx="3">
                <c:v>37.5</c:v>
              </c:pt>
            </c:strLit>
          </c:cat>
          <c:val>
            <c:numLit>
              <c:formatCode>0.000</c:formatCode>
              <c:ptCount val="4"/>
              <c:pt idx="0">
                <c:v>1.7999999999999999E-2</c:v>
              </c:pt>
              <c:pt idx="1">
                <c:v>6.8000000000000005E-2</c:v>
              </c:pt>
              <c:pt idx="2">
                <c:v>0.24</c:v>
              </c:pt>
              <c:pt idx="3">
                <c:v>0.32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9CB-A242-AC1E-22ACCA210C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1"/>
        </c:dLbls>
        <c:marker val="1"/>
        <c:smooth val="0"/>
        <c:axId val="810001"/>
        <c:axId val="810002"/>
      </c:lineChart>
      <c:catAx>
        <c:axId val="81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10002"/>
        <c:crosses val="autoZero"/>
        <c:auto val="1"/>
        <c:lblAlgn val="ctr"/>
        <c:lblOffset val="100"/>
        <c:noMultiLvlLbl val="0"/>
      </c:catAx>
      <c:valAx>
        <c:axId val="810002"/>
        <c:scaling>
          <c:orientation val="minMax"/>
          <c:max val="0.4"/>
          <c:min val="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.00" sourceLinked="0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10001"/>
        <c:crosses val="autoZero"/>
        <c:crossBetween val="between"/>
        <c:majorUnit val="0.1"/>
      </c:valAx>
    </c:plotArea>
    <c:plotVisOnly val="1"/>
    <c:dispBlanksAs val="gap"/>
    <c:showDLblsOverMax val="0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150" b="1">
                <a:solidFill>
                  <a:srgbClr val="1F2937"/>
                </a:solidFill>
                <a:latin typeface="Arial"/>
              </a:rPr>
              <a:t>Repeat-check difference (%)</a:t>
            </a:r>
            <a:endParaRPr lang="en-US" sz="1150"/>
          </a:p>
        </c:rich>
      </c:tx>
      <c:overlay val="0"/>
      <c:spPr>
        <a:noFill/>
        <a:ln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Difference (%)</c:v>
          </c:tx>
          <c:spPr>
            <a:solidFill>
              <a:srgbClr val="D99B2B"/>
            </a:solidFill>
            <a:ln>
              <a:noFill/>
            </a:ln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Check 1</c:v>
              </c:pt>
              <c:pt idx="1">
                <c:v>Check 2</c:v>
              </c:pt>
            </c:strLit>
          </c:cat>
          <c:val>
            <c:numLit>
              <c:formatCode>0.0</c:formatCode>
              <c:ptCount val="2"/>
              <c:pt idx="0">
                <c:v>0.3</c:v>
              </c:pt>
              <c:pt idx="1">
                <c:v>0.2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0B2-EC41-8F75-FB8961665B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1"/>
        </c:dLbls>
        <c:gapWidth val="85"/>
        <c:axId val="820001"/>
        <c:axId val="820002"/>
      </c:barChart>
      <c:catAx>
        <c:axId val="820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20002"/>
        <c:crosses val="autoZero"/>
        <c:auto val="1"/>
        <c:lblAlgn val="ctr"/>
        <c:lblOffset val="100"/>
        <c:noMultiLvlLbl val="0"/>
      </c:catAx>
      <c:valAx>
        <c:axId val="820002"/>
        <c:scaling>
          <c:orientation val="minMax"/>
          <c:max val="0.5"/>
          <c:min val="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20001"/>
        <c:crosses val="autoZero"/>
        <c:crossBetween val="between"/>
        <c:majorUnit val="0.1"/>
      </c:valAx>
    </c:plotArea>
    <c:plotVisOnly val="1"/>
    <c:dispBlanksAs val="gap"/>
    <c:showDLblsOverMax val="0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150" b="1">
                <a:solidFill>
                  <a:srgbClr val="1F2937"/>
                </a:solidFill>
                <a:latin typeface="Arial"/>
              </a:rPr>
              <a:t>Power-law exponent: measured vs model</a:t>
            </a:r>
            <a:endParaRPr lang="en-US" sz="1150"/>
          </a:p>
        </c:rich>
      </c:tx>
      <c:overlay val="0"/>
      <c:spPr>
        <a:noFill/>
        <a:ln>
          <a:noFill/>
        </a:ln>
      </c:sp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Exponent</c:v>
          </c:tx>
          <c:spPr>
            <a:solidFill>
              <a:srgbClr val="2F7D67"/>
            </a:solidFill>
            <a:ln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Measured</c:v>
              </c:pt>
              <c:pt idx="1">
                <c:v>Predicted</c:v>
              </c:pt>
            </c:strLit>
          </c:cat>
          <c:val>
            <c:numLit>
              <c:formatCode>0.00</c:formatCode>
              <c:ptCount val="2"/>
              <c:pt idx="0">
                <c:v>3.77</c:v>
              </c:pt>
              <c:pt idx="1">
                <c:v>3.79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0E5-7E4B-8617-42554D7EBA1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1"/>
        </c:dLbls>
        <c:gapWidth val="85"/>
        <c:axId val="830001"/>
        <c:axId val="830002"/>
      </c:barChart>
      <c:catAx>
        <c:axId val="830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30002"/>
        <c:crosses val="autoZero"/>
        <c:auto val="1"/>
        <c:lblAlgn val="ctr"/>
        <c:lblOffset val="100"/>
        <c:noMultiLvlLbl val="0"/>
      </c:catAx>
      <c:valAx>
        <c:axId val="830002"/>
        <c:scaling>
          <c:orientation val="minMax"/>
          <c:max val="4"/>
          <c:min val="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30001"/>
        <c:crosses val="autoZero"/>
        <c:crossBetween val="between"/>
        <c:majorUnit val="1"/>
      </c:valAx>
    </c:plotArea>
    <c:plotVisOnly val="1"/>
    <c:dispBlanksAs val="gap"/>
    <c:showDLblsOverMax val="0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250" b="1">
                <a:solidFill>
                  <a:srgbClr val="1F2937"/>
                </a:solidFill>
                <a:latin typeface="Arial"/>
              </a:rPr>
              <a:t>Initial maximum-power envelope vs wind speed</a:t>
            </a:r>
            <a:endParaRPr lang="en-US" sz="1250"/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Pdc,max (W)</c:v>
          </c:tx>
          <c:spPr>
            <a:ln w="28575">
              <a:solidFill>
                <a:srgbClr val="D99B2B"/>
              </a:solidFill>
              <a:round/>
            </a:ln>
          </c:spPr>
          <c:marker>
            <c:symbol val="circle"/>
            <c:size val="5"/>
            <c:spPr>
              <a:solidFill>
                <a:srgbClr val="D99B2B"/>
              </a:solidFill>
              <a:ln>
                <a:solidFill>
                  <a:srgbClr val="FFFFFF"/>
                </a:solidFill>
              </a:ln>
            </c:spPr>
          </c:marker>
          <c:cat>
            <c:strLit>
              <c:ptCount val="13"/>
              <c:pt idx="0">
                <c:v>9.8</c:v>
              </c:pt>
              <c:pt idx="1">
                <c:v>12.0</c:v>
              </c:pt>
              <c:pt idx="2">
                <c:v>14.0</c:v>
              </c:pt>
              <c:pt idx="3">
                <c:v>16.2</c:v>
              </c:pt>
              <c:pt idx="4">
                <c:v>18.4</c:v>
              </c:pt>
              <c:pt idx="5">
                <c:v>20.6</c:v>
              </c:pt>
              <c:pt idx="6">
                <c:v>22.8</c:v>
              </c:pt>
              <c:pt idx="7">
                <c:v>25.0</c:v>
              </c:pt>
              <c:pt idx="8">
                <c:v>27.2</c:v>
              </c:pt>
              <c:pt idx="9">
                <c:v>29.4</c:v>
              </c:pt>
              <c:pt idx="10">
                <c:v>31.6</c:v>
              </c:pt>
              <c:pt idx="11">
                <c:v>33.8</c:v>
              </c:pt>
              <c:pt idx="12">
                <c:v>36.0</c:v>
              </c:pt>
            </c:strLit>
          </c:cat>
          <c:val>
            <c:numLit>
              <c:formatCode>0.000</c:formatCode>
              <c:ptCount val="13"/>
              <c:pt idx="0">
                <c:v>4.5999999999999999E-2</c:v>
              </c:pt>
              <c:pt idx="1">
                <c:v>9.0999999999999998E-2</c:v>
              </c:pt>
              <c:pt idx="2">
                <c:v>0.13200000000000001</c:v>
              </c:pt>
              <c:pt idx="3">
                <c:v>0.187</c:v>
              </c:pt>
              <c:pt idx="4">
                <c:v>0.29299999999999998</c:v>
              </c:pt>
              <c:pt idx="5">
                <c:v>0.46899999999999997</c:v>
              </c:pt>
              <c:pt idx="6">
                <c:v>0.63800000000000001</c:v>
              </c:pt>
              <c:pt idx="7">
                <c:v>1.202</c:v>
              </c:pt>
              <c:pt idx="8">
                <c:v>1.351</c:v>
              </c:pt>
              <c:pt idx="9">
                <c:v>2.0630000000000002</c:v>
              </c:pt>
              <c:pt idx="10">
                <c:v>2.0779999999999998</c:v>
              </c:pt>
              <c:pt idx="11">
                <c:v>2.3519999999999999</c:v>
              </c:pt>
              <c:pt idx="12">
                <c:v>3.0070000000000001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DFD4-5344-B44C-89E245E443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0001"/>
        <c:axId val="880002"/>
      </c:lineChart>
      <c:catAx>
        <c:axId val="88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80002"/>
        <c:crosses val="autoZero"/>
        <c:auto val="1"/>
        <c:lblAlgn val="ctr"/>
        <c:lblOffset val="100"/>
        <c:tickLblSkip val="3"/>
        <c:tickMarkSkip val="3"/>
        <c:noMultiLvlLbl val="0"/>
      </c:catAx>
      <c:valAx>
        <c:axId val="880002"/>
        <c:scaling>
          <c:orientation val="minMax"/>
          <c:max val="6"/>
          <c:min val="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80001"/>
        <c:crosses val="autoZero"/>
        <c:crossBetween val="between"/>
        <c:majorUnit val="1"/>
      </c:valAx>
    </c:plotArea>
    <c:plotVisOnly val="1"/>
    <c:dispBlanksAs val="gap"/>
    <c:showDLblsOverMax val="0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250" b="1">
                <a:solidFill>
                  <a:srgbClr val="1F2937"/>
                </a:solidFill>
                <a:latin typeface="Arial"/>
              </a:rPr>
              <a:t>Initial measured rotor speed vs wind speed</a:t>
            </a:r>
            <a:endParaRPr lang="en-US" sz="1250"/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Measured rotor rpm</c:v>
          </c:tx>
          <c:spPr>
            <a:ln w="28575">
              <a:solidFill>
                <a:srgbClr val="1675B8"/>
              </a:solidFill>
              <a:round/>
            </a:ln>
          </c:spPr>
          <c:marker>
            <c:symbol val="circle"/>
            <c:size val="5"/>
            <c:spPr>
              <a:solidFill>
                <a:srgbClr val="1675B8"/>
              </a:solidFill>
              <a:ln>
                <a:solidFill>
                  <a:srgbClr val="FFFFFF"/>
                </a:solidFill>
              </a:ln>
            </c:spPr>
          </c:marker>
          <c:cat>
            <c:strLit>
              <c:ptCount val="13"/>
              <c:pt idx="0">
                <c:v>9.8</c:v>
              </c:pt>
              <c:pt idx="1">
                <c:v>12.0</c:v>
              </c:pt>
              <c:pt idx="2">
                <c:v>14.0</c:v>
              </c:pt>
              <c:pt idx="3">
                <c:v>16.2</c:v>
              </c:pt>
              <c:pt idx="4">
                <c:v>18.4</c:v>
              </c:pt>
              <c:pt idx="5">
                <c:v>20.6</c:v>
              </c:pt>
              <c:pt idx="6">
                <c:v>22.8</c:v>
              </c:pt>
              <c:pt idx="7">
                <c:v>25.0</c:v>
              </c:pt>
              <c:pt idx="8">
                <c:v>27.2</c:v>
              </c:pt>
              <c:pt idx="9">
                <c:v>29.4</c:v>
              </c:pt>
              <c:pt idx="10">
                <c:v>31.6</c:v>
              </c:pt>
              <c:pt idx="11">
                <c:v>33.8</c:v>
              </c:pt>
              <c:pt idx="12">
                <c:v>36.0</c:v>
              </c:pt>
            </c:strLit>
          </c:cat>
          <c:val>
            <c:numLit>
              <c:formatCode>0.000</c:formatCode>
              <c:ptCount val="13"/>
              <c:pt idx="0">
                <c:v>75.2</c:v>
              </c:pt>
              <c:pt idx="1">
                <c:v>121.1</c:v>
              </c:pt>
              <c:pt idx="2">
                <c:v>170.2</c:v>
              </c:pt>
              <c:pt idx="3">
                <c:v>184</c:v>
              </c:pt>
              <c:pt idx="4">
                <c:v>227.3</c:v>
              </c:pt>
              <c:pt idx="5">
                <c:v>238.7</c:v>
              </c:pt>
              <c:pt idx="6">
                <c:v>268.8</c:v>
              </c:pt>
              <c:pt idx="7">
                <c:v>290.5</c:v>
              </c:pt>
              <c:pt idx="8">
                <c:v>306.89999999999998</c:v>
              </c:pt>
              <c:pt idx="9">
                <c:v>365.9</c:v>
              </c:pt>
              <c:pt idx="10">
                <c:v>424</c:v>
              </c:pt>
              <c:pt idx="11">
                <c:v>419.4</c:v>
              </c:pt>
              <c:pt idx="12">
                <c:v>486.9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615B-134A-BA71-956B70923B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0001"/>
        <c:axId val="890002"/>
      </c:lineChart>
      <c:catAx>
        <c:axId val="89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90002"/>
        <c:crosses val="autoZero"/>
        <c:auto val="1"/>
        <c:lblAlgn val="ctr"/>
        <c:lblOffset val="100"/>
        <c:tickLblSkip val="3"/>
        <c:tickMarkSkip val="3"/>
        <c:noMultiLvlLbl val="0"/>
      </c:catAx>
      <c:valAx>
        <c:axId val="890002"/>
        <c:scaling>
          <c:orientation val="minMax"/>
          <c:max val="650"/>
          <c:min val="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90001"/>
        <c:crosses val="autoZero"/>
        <c:crossBetween val="between"/>
        <c:majorUnit val="100"/>
      </c:valAx>
    </c:plotArea>
    <c:plotVisOnly val="1"/>
    <c:dispBlanksAs val="gap"/>
    <c:showDLblsOverMax val="0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250" b="1">
                <a:solidFill>
                  <a:srgbClr val="1F2937"/>
                </a:solidFill>
                <a:latin typeface="Arial"/>
              </a:rPr>
              <a:t>Peak DC power (W) vs wind speed</a:t>
            </a:r>
            <a:endParaRPr lang="en-US" sz="1250"/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Pdc,max (W)</c:v>
          </c:tx>
          <c:spPr>
            <a:ln w="28575">
              <a:solidFill>
                <a:srgbClr val="D99B2B"/>
              </a:solidFill>
              <a:round/>
            </a:ln>
          </c:spPr>
          <c:marker>
            <c:symbol val="circle"/>
            <c:size val="5"/>
            <c:spPr>
              <a:solidFill>
                <a:srgbClr val="D99B2B"/>
              </a:solidFill>
              <a:ln>
                <a:solidFill>
                  <a:srgbClr val="FFFFFF"/>
                </a:solidFill>
              </a:ln>
            </c:spPr>
          </c:marker>
          <c:cat>
            <c:strLit>
              <c:ptCount val="16"/>
              <c:pt idx="0">
                <c:v>9.8</c:v>
              </c:pt>
              <c:pt idx="1">
                <c:v>12.0</c:v>
              </c:pt>
              <c:pt idx="2">
                <c:v>14.0</c:v>
              </c:pt>
              <c:pt idx="3">
                <c:v>16.2</c:v>
              </c:pt>
              <c:pt idx="4">
                <c:v>18.4</c:v>
              </c:pt>
              <c:pt idx="5">
                <c:v>20.6</c:v>
              </c:pt>
              <c:pt idx="6">
                <c:v>22.8</c:v>
              </c:pt>
              <c:pt idx="7">
                <c:v>25.0</c:v>
              </c:pt>
              <c:pt idx="8">
                <c:v>27.2</c:v>
              </c:pt>
              <c:pt idx="9">
                <c:v>29.4</c:v>
              </c:pt>
              <c:pt idx="10">
                <c:v>31.6</c:v>
              </c:pt>
              <c:pt idx="11">
                <c:v>33.8</c:v>
              </c:pt>
              <c:pt idx="12">
                <c:v>36.0</c:v>
              </c:pt>
              <c:pt idx="13">
                <c:v>38.2</c:v>
              </c:pt>
              <c:pt idx="14">
                <c:v>40.3</c:v>
              </c:pt>
              <c:pt idx="15">
                <c:v>42.5</c:v>
              </c:pt>
            </c:strLit>
          </c:cat>
          <c:val>
            <c:numLit>
              <c:formatCode>0.000</c:formatCode>
              <c:ptCount val="16"/>
              <c:pt idx="0">
                <c:v>0.33318996179999999</c:v>
              </c:pt>
              <c:pt idx="1">
                <c:v>0.53318738629999995</c:v>
              </c:pt>
              <c:pt idx="2">
                <c:v>0.50826072960000002</c:v>
              </c:pt>
              <c:pt idx="3">
                <c:v>0.60749053829999999</c:v>
              </c:pt>
              <c:pt idx="4">
                <c:v>0.76770782159999995</c:v>
              </c:pt>
              <c:pt idx="5">
                <c:v>0.9183883733</c:v>
              </c:pt>
              <c:pt idx="6">
                <c:v>1.0158658081</c:v>
              </c:pt>
              <c:pt idx="7">
                <c:v>1.3403534932000001</c:v>
              </c:pt>
              <c:pt idx="8">
                <c:v>1.825332642</c:v>
              </c:pt>
              <c:pt idx="9">
                <c:v>2.2530555768</c:v>
              </c:pt>
              <c:pt idx="10">
                <c:v>2.6112794840000002</c:v>
              </c:pt>
              <c:pt idx="11">
                <c:v>3.102636333</c:v>
              </c:pt>
              <c:pt idx="12">
                <c:v>3.8178682370999999</c:v>
              </c:pt>
              <c:pt idx="13">
                <c:v>4.3040514036999999</c:v>
              </c:pt>
              <c:pt idx="14">
                <c:v>5.0725460151000004</c:v>
              </c:pt>
              <c:pt idx="15">
                <c:v>5.6016445138000002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DFD4-5344-B44C-89E245E443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0001"/>
        <c:axId val="880002"/>
      </c:lineChart>
      <c:catAx>
        <c:axId val="88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80002"/>
        <c:crosses val="autoZero"/>
        <c:auto val="1"/>
        <c:lblAlgn val="ctr"/>
        <c:lblOffset val="100"/>
        <c:tickLblSkip val="3"/>
        <c:tickMarkSkip val="3"/>
        <c:noMultiLvlLbl val="0"/>
      </c:catAx>
      <c:valAx>
        <c:axId val="880002"/>
        <c:scaling>
          <c:orientation val="minMax"/>
          <c:max val="6"/>
          <c:min val="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80001"/>
        <c:crosses val="autoZero"/>
        <c:crossBetween val="between"/>
        <c:majorUnit val="1"/>
      </c:valAx>
    </c:plotArea>
    <c:plotVisOnly val="1"/>
    <c:dispBlanksAs val="gap"/>
    <c:showDLblsOverMax val="0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250" b="1">
                <a:solidFill>
                  <a:srgbClr val="1F2937"/>
                </a:solidFill>
                <a:latin typeface="Arial"/>
              </a:rPr>
              <a:t>Measured rotor speed (rpm) vs wind speed</a:t>
            </a:r>
            <a:endParaRPr lang="en-US" sz="1250"/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Measured rotor rpm</c:v>
          </c:tx>
          <c:spPr>
            <a:ln w="28575">
              <a:solidFill>
                <a:srgbClr val="1675B8"/>
              </a:solidFill>
              <a:round/>
            </a:ln>
          </c:spPr>
          <c:marker>
            <c:symbol val="circle"/>
            <c:size val="5"/>
            <c:spPr>
              <a:solidFill>
                <a:srgbClr val="1675B8"/>
              </a:solidFill>
              <a:ln>
                <a:solidFill>
                  <a:srgbClr val="FFFFFF"/>
                </a:solidFill>
              </a:ln>
            </c:spPr>
          </c:marker>
          <c:cat>
            <c:strLit>
              <c:ptCount val="16"/>
              <c:pt idx="0">
                <c:v>9.8</c:v>
              </c:pt>
              <c:pt idx="1">
                <c:v>12.0</c:v>
              </c:pt>
              <c:pt idx="2">
                <c:v>14.0</c:v>
              </c:pt>
              <c:pt idx="3">
                <c:v>16.2</c:v>
              </c:pt>
              <c:pt idx="4">
                <c:v>18.4</c:v>
              </c:pt>
              <c:pt idx="5">
                <c:v>20.6</c:v>
              </c:pt>
              <c:pt idx="6">
                <c:v>22.8</c:v>
              </c:pt>
              <c:pt idx="7">
                <c:v>25.0</c:v>
              </c:pt>
              <c:pt idx="8">
                <c:v>27.2</c:v>
              </c:pt>
              <c:pt idx="9">
                <c:v>29.4</c:v>
              </c:pt>
              <c:pt idx="10">
                <c:v>31.6</c:v>
              </c:pt>
              <c:pt idx="11">
                <c:v>33.8</c:v>
              </c:pt>
              <c:pt idx="12">
                <c:v>36.0</c:v>
              </c:pt>
              <c:pt idx="13">
                <c:v>38.2</c:v>
              </c:pt>
              <c:pt idx="14">
                <c:v>40.3</c:v>
              </c:pt>
              <c:pt idx="15">
                <c:v>42.5</c:v>
              </c:pt>
            </c:strLit>
          </c:cat>
          <c:val>
            <c:numLit>
              <c:formatCode>0.0</c:formatCode>
              <c:ptCount val="16"/>
              <c:pt idx="0">
                <c:v>103.9294</c:v>
              </c:pt>
              <c:pt idx="1">
                <c:v>132.7987</c:v>
              </c:pt>
              <c:pt idx="2">
                <c:v>178.9896</c:v>
              </c:pt>
              <c:pt idx="3">
                <c:v>167.4419</c:v>
              </c:pt>
              <c:pt idx="4">
                <c:v>219.4066</c:v>
              </c:pt>
              <c:pt idx="5">
                <c:v>236.72810000000001</c:v>
              </c:pt>
              <c:pt idx="6">
                <c:v>254.0497</c:v>
              </c:pt>
              <c:pt idx="7">
                <c:v>271.37130000000002</c:v>
              </c:pt>
              <c:pt idx="8">
                <c:v>352.20530000000002</c:v>
              </c:pt>
              <c:pt idx="9">
                <c:v>375.30070000000001</c:v>
              </c:pt>
              <c:pt idx="10">
                <c:v>404.17</c:v>
              </c:pt>
              <c:pt idx="11">
                <c:v>461.90859999999998</c:v>
              </c:pt>
              <c:pt idx="12">
                <c:v>508.0994</c:v>
              </c:pt>
              <c:pt idx="13">
                <c:v>554.2903</c:v>
              </c:pt>
              <c:pt idx="14">
                <c:v>617.80269999999996</c:v>
              </c:pt>
              <c:pt idx="15">
                <c:v>594.70730000000003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615B-134A-BA71-956B70923B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0001"/>
        <c:axId val="890002"/>
      </c:lineChart>
      <c:catAx>
        <c:axId val="89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90002"/>
        <c:crosses val="autoZero"/>
        <c:auto val="1"/>
        <c:lblAlgn val="ctr"/>
        <c:lblOffset val="100"/>
        <c:tickLblSkip val="3"/>
        <c:tickMarkSkip val="3"/>
        <c:noMultiLvlLbl val="0"/>
      </c:catAx>
      <c:valAx>
        <c:axId val="890002"/>
        <c:scaling>
          <c:orientation val="minMax"/>
          <c:max val="650"/>
          <c:min val="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90001"/>
        <c:crosses val="autoZero"/>
        <c:crossBetween val="between"/>
        <c:majorUnit val="100"/>
      </c:valAx>
    </c:plotArea>
    <c:plotVisOnly val="1"/>
    <c:dispBlanksAs val="gap"/>
    <c:showDLblsOverMax val="0"/>
  </c:char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250" b="1">
                <a:solidFill>
                  <a:srgbClr val="1F2937"/>
                </a:solidFill>
                <a:latin typeface="Arial"/>
              </a:rPr>
              <a:t>Pmax (W) at four common wind-speed references</a:t>
            </a:r>
            <a:endParaRPr lang="en-US" sz="1250"/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Smooth baseline — interpolated</c:v>
          </c:tx>
          <c:spPr>
            <a:ln w="31750">
              <a:solidFill>
                <a:srgbClr val="D99B2B"/>
              </a:solidFill>
              <a:round/>
            </a:ln>
          </c:spPr>
          <c:marker>
            <c:symbol val="circle"/>
            <c:size val="7"/>
            <c:spPr>
              <a:solidFill>
                <a:srgbClr val="D99B2B"/>
              </a:solidFill>
              <a:ln>
                <a:solidFill>
                  <a:srgbClr val="FFFFFF"/>
                </a:solidFill>
              </a:ln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10.1</c:v>
              </c:pt>
              <c:pt idx="1">
                <c:v>18.6</c:v>
              </c:pt>
              <c:pt idx="2">
                <c:v>29.1</c:v>
              </c:pt>
              <c:pt idx="3">
                <c:v>37.5</c:v>
              </c:pt>
            </c:strLit>
          </c:cat>
          <c:val>
            <c:numLit>
              <c:formatCode>0.000</c:formatCode>
              <c:ptCount val="4"/>
              <c:pt idx="0">
                <c:v>0.36099999999999999</c:v>
              </c:pt>
              <c:pt idx="1">
                <c:v>0.78200000000000003</c:v>
              </c:pt>
              <c:pt idx="2">
                <c:v>2.1949999999999998</c:v>
              </c:pt>
              <c:pt idx="3">
                <c:v>4.16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477A-7348-BB89-1F386D2E4E75}"/>
            </c:ext>
          </c:extLst>
        </c:ser>
        <c:ser>
          <c:idx val="1"/>
          <c:order val="1"/>
          <c:tx>
            <c:v>Ra20 — measured</c:v>
          </c:tx>
          <c:spPr>
            <a:ln w="31750">
              <a:solidFill>
                <a:srgbClr val="1675B8"/>
              </a:solidFill>
              <a:round/>
            </a:ln>
          </c:spPr>
          <c:marker>
            <c:symbol val="circle"/>
            <c:size val="7"/>
            <c:spPr>
              <a:solidFill>
                <a:srgbClr val="1675B8"/>
              </a:solidFill>
              <a:ln>
                <a:solidFill>
                  <a:srgbClr val="FFFFFF"/>
                </a:solidFill>
              </a:ln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10.1</c:v>
              </c:pt>
              <c:pt idx="1">
                <c:v>18.6</c:v>
              </c:pt>
              <c:pt idx="2">
                <c:v>29.1</c:v>
              </c:pt>
              <c:pt idx="3">
                <c:v>37.5</c:v>
              </c:pt>
            </c:strLit>
          </c:cat>
          <c:val>
            <c:numLit>
              <c:formatCode>0.000</c:formatCode>
              <c:ptCount val="4"/>
              <c:pt idx="0">
                <c:v>0.03</c:v>
              </c:pt>
              <c:pt idx="1">
                <c:v>0.27300000000000002</c:v>
              </c:pt>
              <c:pt idx="2">
                <c:v>1.665</c:v>
              </c:pt>
              <c:pt idx="3">
                <c:v>3.7930000000000001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477A-7348-BB89-1F386D2E4E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0001"/>
        <c:axId val="900002"/>
      </c:lineChart>
      <c:catAx>
        <c:axId val="90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900002"/>
        <c:crosses val="autoZero"/>
        <c:auto val="1"/>
        <c:lblAlgn val="ctr"/>
        <c:lblOffset val="100"/>
        <c:noMultiLvlLbl val="0"/>
      </c:catAx>
      <c:valAx>
        <c:axId val="900002"/>
        <c:scaling>
          <c:orientation val="minMax"/>
          <c:max val="4.5"/>
          <c:min val="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900001"/>
        <c:crosses val="autoZero"/>
        <c:crossBetween val="between"/>
        <c:majorUnit val="1"/>
      </c:valAx>
    </c:plotArea>
    <c:legend>
      <c:legendPos val="t"/>
      <c:overlay val="0"/>
    </c:legend>
    <c:plotVisOnly val="1"/>
    <c:dispBlanksAs val="gap"/>
    <c:showDLblsOverMax val="0"/>
  </c:char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1F2937"/>
                </a:solidFill>
                <a:latin typeface="Arial"/>
              </a:rPr>
              <a:t>Calibrated wind speed vs fan rpm</a:t>
            </a:r>
            <a:endParaRPr lang="en-US" sz="1300"/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Wind speed (m/s)</c:v>
          </c:tx>
          <c:spPr>
            <a:ln w="31750">
              <a:solidFill>
                <a:srgbClr val="1675B8"/>
              </a:solidFill>
              <a:round/>
            </a:ln>
          </c:spPr>
          <c:marker>
            <c:symbol val="circle"/>
            <c:size val="7"/>
            <c:spPr>
              <a:solidFill>
                <a:srgbClr val="1675B8"/>
              </a:solidFill>
              <a:ln>
                <a:solidFill>
                  <a:srgbClr val="FFFFFF"/>
                </a:solidFill>
              </a:ln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496</c:v>
              </c:pt>
              <c:pt idx="1">
                <c:v>894</c:v>
              </c:pt>
              <c:pt idx="2">
                <c:v>1384</c:v>
              </c:pt>
              <c:pt idx="3">
                <c:v>1779</c:v>
              </c:pt>
            </c:strLit>
          </c:cat>
          <c:val>
            <c:numLit>
              <c:formatCode>0.0</c:formatCode>
              <c:ptCount val="4"/>
              <c:pt idx="0">
                <c:v>10.1</c:v>
              </c:pt>
              <c:pt idx="1">
                <c:v>18.600000000000001</c:v>
              </c:pt>
              <c:pt idx="2">
                <c:v>29.1</c:v>
              </c:pt>
              <c:pt idx="3">
                <c:v>37.5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27D4-BC41-A018-710B7A8DAA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1"/>
        </c:dLbls>
        <c:marker val="1"/>
        <c:smooth val="0"/>
        <c:axId val="840001"/>
        <c:axId val="840002"/>
      </c:lineChart>
      <c:catAx>
        <c:axId val="84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40002"/>
        <c:crosses val="autoZero"/>
        <c:auto val="1"/>
        <c:lblAlgn val="ctr"/>
        <c:lblOffset val="100"/>
        <c:noMultiLvlLbl val="0"/>
      </c:catAx>
      <c:valAx>
        <c:axId val="840002"/>
        <c:scaling>
          <c:orientation val="minMax"/>
          <c:max val="40"/>
          <c:min val="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40001"/>
        <c:crosses val="autoZero"/>
        <c:crossBetween val="between"/>
        <c:majorUnit val="10"/>
      </c:valAx>
    </c:plotArea>
    <c:plotVisOnly val="1"/>
    <c:dispBlanksAs val="gap"/>
    <c:showDLblsOverMax val="0"/>
  </c:char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1F2937"/>
                </a:solidFill>
                <a:latin typeface="Arial"/>
              </a:rPr>
              <a:t>Peak electrical power vs fan rpm</a:t>
            </a:r>
            <a:endParaRPr lang="en-US" sz="1300"/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Pmax (W)</c:v>
          </c:tx>
          <c:spPr>
            <a:ln w="31750">
              <a:solidFill>
                <a:srgbClr val="D99B2B"/>
              </a:solidFill>
              <a:round/>
            </a:ln>
          </c:spPr>
          <c:marker>
            <c:symbol val="circle"/>
            <c:size val="7"/>
            <c:spPr>
              <a:solidFill>
                <a:srgbClr val="D99B2B"/>
              </a:solidFill>
              <a:ln>
                <a:solidFill>
                  <a:srgbClr val="FFFFFF"/>
                </a:solidFill>
              </a:ln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496</c:v>
              </c:pt>
              <c:pt idx="1">
                <c:v>894</c:v>
              </c:pt>
              <c:pt idx="2">
                <c:v>1384</c:v>
              </c:pt>
              <c:pt idx="3">
                <c:v>1779</c:v>
              </c:pt>
            </c:strLit>
          </c:cat>
          <c:val>
            <c:numLit>
              <c:formatCode>0.000</c:formatCode>
              <c:ptCount val="4"/>
              <c:pt idx="0">
                <c:v>0.03</c:v>
              </c:pt>
              <c:pt idx="1">
                <c:v>0.27300000000000002</c:v>
              </c:pt>
              <c:pt idx="2">
                <c:v>1.665</c:v>
              </c:pt>
              <c:pt idx="3">
                <c:v>3.7930000000000001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92B3-2E4F-B6E7-54799B2172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1"/>
        </c:dLbls>
        <c:marker val="1"/>
        <c:smooth val="0"/>
        <c:axId val="850001"/>
        <c:axId val="850002"/>
      </c:lineChart>
      <c:catAx>
        <c:axId val="85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50002"/>
        <c:crosses val="autoZero"/>
        <c:auto val="1"/>
        <c:lblAlgn val="ctr"/>
        <c:lblOffset val="100"/>
        <c:noMultiLvlLbl val="0"/>
      </c:catAx>
      <c:valAx>
        <c:axId val="850002"/>
        <c:scaling>
          <c:orientation val="minMax"/>
          <c:max val="4"/>
          <c:min val="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50001"/>
        <c:crosses val="autoZero"/>
        <c:crossBetween val="between"/>
        <c:majorUnit val="1"/>
      </c:valAx>
    </c:plotArea>
    <c:plotVisOnly val="1"/>
    <c:dispBlanksAs val="gap"/>
    <c:showDLblsOverMax val="0"/>
  </c:char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1F2937"/>
                </a:solidFill>
                <a:latin typeface="Arial"/>
              </a:rPr>
              <a:t>Generator-model exponent magnitudes</a:t>
            </a:r>
            <a:endParaRPr lang="en-US" sz="1300"/>
          </a:p>
        </c:rich>
      </c:tx>
      <c:overlay val="0"/>
      <c:spPr>
        <a:noFill/>
        <a:ln>
          <a:noFill/>
        </a:ln>
      </c:sp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Power-law exponent</c:v>
          </c:tx>
          <c:invertIfNegative val="0"/>
          <c:dPt>
            <c:idx val="0"/>
            <c:invertIfNegative val="1"/>
            <c:bubble3D val="0"/>
            <c:spPr>
              <a:solidFill>
                <a:srgbClr val="1675B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FEC-EA46-A2DA-19D966491BA9}"/>
              </c:ext>
            </c:extLst>
          </c:dPt>
          <c:dPt>
            <c:idx val="1"/>
            <c:invertIfNegative val="1"/>
            <c:bubble3D val="0"/>
            <c:spPr>
              <a:solidFill>
                <a:srgbClr val="D99B2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FEC-EA46-A2DA-19D966491BA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Voc growth a</c:v>
              </c:pt>
              <c:pt idx="1">
                <c:v>Rint decay |b|</c:v>
              </c:pt>
            </c:strLit>
          </c:cat>
          <c:val>
            <c:numLit>
              <c:formatCode>0.00</c:formatCode>
              <c:ptCount val="2"/>
              <c:pt idx="0">
                <c:v>1.5</c:v>
              </c:pt>
              <c:pt idx="1">
                <c:v>0.79</c:v>
              </c:pt>
            </c:numLit>
          </c:val>
          <c:extLst>
            <c:ext xmlns:c16="http://schemas.microsoft.com/office/drawing/2014/chart" uri="{C3380CC4-5D6E-409C-BE32-E72D297353CC}">
              <c16:uniqueId val="{00000004-6FEC-EA46-A2DA-19D966491B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1"/>
        </c:dLbls>
        <c:gapWidth val="85"/>
        <c:axId val="860001"/>
        <c:axId val="860002"/>
      </c:barChart>
      <c:catAx>
        <c:axId val="86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60002"/>
        <c:crosses val="autoZero"/>
        <c:auto val="1"/>
        <c:lblAlgn val="ctr"/>
        <c:lblOffset val="100"/>
        <c:noMultiLvlLbl val="0"/>
      </c:catAx>
      <c:valAx>
        <c:axId val="860002"/>
        <c:scaling>
          <c:orientation val="minMax"/>
          <c:max val="2"/>
          <c:min val="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60001"/>
        <c:crosses val="autoZero"/>
        <c:crossBetween val="between"/>
        <c:majorUnit val="0.5"/>
      </c:valAx>
    </c:plotArea>
    <c:plotVisOnly val="1"/>
    <c:dispBlanksAs val="gap"/>
    <c:showDLblsOverMax val="0"/>
  </c:char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1F2937"/>
                </a:solidFill>
                <a:latin typeface="Arial"/>
              </a:rPr>
              <a:t>Exponent reconstruction: n = 2a − b</a:t>
            </a:r>
            <a:endParaRPr lang="en-US" sz="1300"/>
          </a:p>
        </c:rich>
      </c:tx>
      <c:overlay val="0"/>
      <c:spPr>
        <a:noFill/>
        <a:ln>
          <a:noFill/>
        </a:ln>
      </c:sp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Exponent contribution</c:v>
          </c:tx>
          <c:invertIfNegative val="1"/>
          <c:dPt>
            <c:idx val="0"/>
            <c:invertIfNegative val="1"/>
            <c:bubble3D val="0"/>
            <c:spPr>
              <a:solidFill>
                <a:srgbClr val="1675B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D99-204F-A7D3-20047E85E786}"/>
              </c:ext>
            </c:extLst>
          </c:dPt>
          <c:dPt>
            <c:idx val="1"/>
            <c:invertIfNegative val="1"/>
            <c:bubble3D val="0"/>
            <c:spPr>
              <a:solidFill>
                <a:srgbClr val="D99B2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D99-204F-A7D3-20047E85E786}"/>
              </c:ext>
            </c:extLst>
          </c:dPt>
          <c:dPt>
            <c:idx val="2"/>
            <c:invertIfNegative val="1"/>
            <c:bubble3D val="0"/>
            <c:spPr>
              <a:solidFill>
                <a:srgbClr val="2F7D6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AD99-204F-A7D3-20047E85E786}"/>
              </c:ext>
            </c:extLst>
          </c:dPt>
          <c:dPt>
            <c:idx val="3"/>
            <c:invertIfNegative val="1"/>
            <c:bubble3D val="0"/>
            <c:spPr>
              <a:solidFill>
                <a:srgbClr val="173A6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AD99-204F-A7D3-20047E85E78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2a</c:v>
              </c:pt>
              <c:pt idx="1">
                <c:v>−b</c:v>
              </c:pt>
              <c:pt idx="2">
                <c:v>Predicted n</c:v>
              </c:pt>
              <c:pt idx="3">
                <c:v>Measured n</c:v>
              </c:pt>
            </c:strLit>
          </c:cat>
          <c:val>
            <c:numLit>
              <c:formatCode>0.00</c:formatCode>
              <c:ptCount val="4"/>
              <c:pt idx="0">
                <c:v>3</c:v>
              </c:pt>
              <c:pt idx="1">
                <c:v>0.79</c:v>
              </c:pt>
              <c:pt idx="2">
                <c:v>3.79</c:v>
              </c:pt>
              <c:pt idx="3">
                <c:v>3.77</c:v>
              </c:pt>
            </c:numLit>
          </c:val>
          <c:extLst>
            <c:ext xmlns:c16="http://schemas.microsoft.com/office/drawing/2014/chart" uri="{C3380CC4-5D6E-409C-BE32-E72D297353CC}">
              <c16:uniqueId val="{00000008-AD99-204F-A7D3-20047E85E78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1"/>
        </c:dLbls>
        <c:gapWidth val="85"/>
        <c:axId val="870001"/>
        <c:axId val="870002"/>
      </c:barChart>
      <c:catAx>
        <c:axId val="87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70002"/>
        <c:crosses val="autoZero"/>
        <c:auto val="1"/>
        <c:lblAlgn val="ctr"/>
        <c:lblOffset val="100"/>
        <c:noMultiLvlLbl val="0"/>
      </c:catAx>
      <c:valAx>
        <c:axId val="870002"/>
        <c:scaling>
          <c:orientation val="minMax"/>
          <c:max val="4"/>
          <c:min val="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noFill/>
          <a:ln>
            <a:solidFill>
              <a:srgbClr val="9CA3AF"/>
            </a:solidFill>
          </a:ln>
        </c:spPr>
        <c:crossAx val="870001"/>
        <c:crosses val="autoZero"/>
        <c:crossBetween val="between"/>
        <c:majorUnit val="1"/>
      </c:valAx>
    </c:plotArea>
    <c:plotVisOnly val="1"/>
    <c:dispBlanksAs val="gap"/>
    <c:showDLblsOverMax val="0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5764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8C623E2-8DA9-094B-AD40-E2FAA01A301E}"/>
              </a:ext>
            </a:extLst>
          </p:cNvPr>
          <p:cNvSpPr/>
          <p:nvPr/>
        </p:nvSpPr>
        <p:spPr>
          <a:xfrm>
            <a:off x="8585200" y="0"/>
            <a:ext cx="3606800" cy="6858000"/>
          </a:xfrm>
          <a:prstGeom prst="rect">
            <a:avLst/>
          </a:prstGeom>
          <a:solidFill>
            <a:srgbClr val="1434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8B62BC-CACA-1942-B609-733E8A2B6F78}"/>
              </a:ext>
            </a:extLst>
          </p:cNvPr>
          <p:cNvSpPr/>
          <p:nvPr/>
        </p:nvSpPr>
        <p:spPr>
          <a:xfrm>
            <a:off x="8204200" y="914400"/>
            <a:ext cx="76200" cy="5029200"/>
          </a:xfrm>
          <a:prstGeom prst="rect">
            <a:avLst/>
          </a:prstGeom>
          <a:solidFill>
            <a:srgbClr val="D7A53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16A70E-3689-9444-ABA6-B735A51BDCEF}"/>
              </a:ext>
            </a:extLst>
          </p:cNvPr>
          <p:cNvSpPr txBox="1"/>
          <p:nvPr/>
        </p:nvSpPr>
        <p:spPr>
          <a:xfrm>
            <a:off x="736600" y="787400"/>
            <a:ext cx="660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00" b="1">
                <a:solidFill>
                  <a:srgbClr val="0B70B7"/>
                </a:solidFill>
                <a:latin typeface="Aptos"/>
              </a:rPr>
              <a:t>EXPERIMENTAL RECORD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FA56A4-0C82-754B-85C2-E4F22FD11FEF}"/>
              </a:ext>
            </a:extLst>
          </p:cNvPr>
          <p:cNvSpPr txBox="1"/>
          <p:nvPr/>
        </p:nvSpPr>
        <p:spPr>
          <a:xfrm>
            <a:off x="736600" y="1422400"/>
            <a:ext cx="69596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3400" b="1">
                <a:solidFill>
                  <a:srgbClr val="102B50"/>
                </a:solidFill>
                <a:latin typeface="Aptos"/>
              </a:rPr>
              <a:t>Surface Roughness Study of a Vertical-Axis Wind Turbine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F21A22-0EC3-1A42-99F8-A2C8046389D3}"/>
              </a:ext>
            </a:extLst>
          </p:cNvPr>
          <p:cNvSpPr txBox="1"/>
          <p:nvPr/>
        </p:nvSpPr>
        <p:spPr>
          <a:xfrm>
            <a:off x="736600" y="3632200"/>
            <a:ext cx="68580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>
                <a:solidFill>
                  <a:srgbClr val="526A87"/>
                </a:solidFill>
                <a:latin typeface="Aptos"/>
              </a:rPr>
              <a:t>Experimental setup, three recovered test records, and requirements for a defensible roughness comparison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E22C78-827A-3041-ACC0-3D726B0B66C8}"/>
              </a:ext>
            </a:extLst>
          </p:cNvPr>
          <p:cNvSpPr txBox="1"/>
          <p:nvPr/>
        </p:nvSpPr>
        <p:spPr>
          <a:xfrm>
            <a:off x="736600" y="5435600"/>
            <a:ext cx="533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 b="1">
                <a:solidFill>
                  <a:srgbClr val="102B50"/>
                </a:solidFill>
                <a:latin typeface="Aptos"/>
              </a:rPr>
              <a:t>Stephen Eacuello · Taegu Kang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B71FDC-C167-0743-94A7-2D7FD1A47998}"/>
              </a:ext>
            </a:extLst>
          </p:cNvPr>
          <p:cNvSpPr txBox="1"/>
          <p:nvPr/>
        </p:nvSpPr>
        <p:spPr>
          <a:xfrm>
            <a:off x="736600" y="58928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526A87"/>
                </a:solidFill>
                <a:latin typeface="Aptos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832980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486" y="266700"/>
            <a:ext cx="26117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>
                <a:solidFill>
                  <a:srgbClr val="1675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SETUP · 1 OF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1486" y="523875"/>
            <a:ext cx="1104872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33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control synchronizes wind, load, and electrical capture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71486" y="1028700"/>
            <a:ext cx="1095347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Aerolab tunnel · 14 wind setpoints · 10.1–37.5 m/s · point-level and summary records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1381125"/>
            <a:ext cx="11048724" cy="28575"/>
          </a:xfrm>
          <a:prstGeom prst="rect">
            <a:avLst/>
          </a:prstGeom>
          <a:solidFill>
            <a:srgbClr val="C9A4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486" y="1924050"/>
            <a:ext cx="1676358" cy="1162050"/>
          </a:xfrm>
          <a:prstGeom prst="rect">
            <a:avLst/>
          </a:prstGeom>
          <a:solidFill>
            <a:srgbClr val="102F54"/>
          </a:solidFill>
          <a:ln w="19050">
            <a:solidFill>
              <a:srgbClr val="102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2931" y="2095500"/>
            <a:ext cx="13334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host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2931" y="2305050"/>
            <a:ext cx="1333467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E3E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Executes each setpoint and writes the run record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04992" y="2495550"/>
            <a:ext cx="352416" cy="19050"/>
          </a:xfrm>
          <a:prstGeom prst="rect">
            <a:avLst/>
          </a:prstGeom>
          <a:solidFill>
            <a:srgbClr val="879C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14557" y="1924050"/>
            <a:ext cx="1676358" cy="116205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86003" y="2095500"/>
            <a:ext cx="13334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Portenta PMC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86003" y="2305050"/>
            <a:ext cx="1333467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USB interface and sole Modbus RTU master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48064" y="2495550"/>
            <a:ext cx="352416" cy="19050"/>
          </a:xfrm>
          <a:prstGeom prst="rect">
            <a:avLst/>
          </a:prstGeom>
          <a:solidFill>
            <a:srgbClr val="879C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57629" y="1924050"/>
            <a:ext cx="1676358" cy="116205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074" y="2095500"/>
            <a:ext cx="13334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 ACS550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074" y="2305050"/>
            <a:ext cx="133346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 fan speed and records measured rpm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91135" y="2495550"/>
            <a:ext cx="352416" cy="19050"/>
          </a:xfrm>
          <a:prstGeom prst="rect">
            <a:avLst/>
          </a:prstGeom>
          <a:solidFill>
            <a:srgbClr val="879C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000700" y="1924050"/>
            <a:ext cx="1676358" cy="116205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72146" y="2095500"/>
            <a:ext cx="133346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 tunnel + VAWT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2146" y="2514600"/>
            <a:ext cx="133346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Three-blade vertical-axis test rotor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34207" y="2495550"/>
            <a:ext cx="352416" cy="19050"/>
          </a:xfrm>
          <a:prstGeom prst="rect">
            <a:avLst/>
          </a:prstGeom>
          <a:solidFill>
            <a:srgbClr val="879C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43771" y="1924050"/>
            <a:ext cx="1676358" cy="1162050"/>
          </a:xfrm>
          <a:prstGeom prst="rect">
            <a:avLst/>
          </a:prstGeom>
          <a:solidFill>
            <a:srgbClr val="FFFFFF"/>
          </a:solidFill>
          <a:ln w="19050">
            <a:solidFill>
              <a:srgbClr val="1684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15217" y="2095500"/>
            <a:ext cx="133346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 + Chroma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15217" y="2514600"/>
            <a:ext cx="1333467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Applies load and measures rectified electrical output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1486" y="3590925"/>
            <a:ext cx="542911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article and operating range</a:t>
            </a:r>
            <a:endParaRPr lang="en-US" sz="16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/>
        </p:nvGraphicFramePr>
        <p:xfrm>
          <a:off x="571486" y="3838575"/>
          <a:ext cx="5429115" cy="1936252"/>
        </p:xfrm>
        <a:graphic>
          <a:graphicData uri="http://schemas.openxmlformats.org/drawingml/2006/table">
            <a:tbl>
              <a:tblPr/>
              <a:tblGrid>
                <a:gridCol w="2280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8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51677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Rotor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B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 = 101.6 mm; span = 245 mm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B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51677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Swept area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2RH = 0.0498 m²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51677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Automated sweep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 points; 500–1800 fan rpm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51677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Wind range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10.1–37.5 m/s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51677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Blade sets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Smooth/Ra20/Ra80 recorded; Ra40 missing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6514937" y="3590925"/>
            <a:ext cx="51052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 at every load step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6514937" y="3838575"/>
            <a:ext cx="510527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Measured fan rpm and calibrated wind speed
• Terminal voltage, current, and electrical power
• Drive status and protocol fingerprint
• Point-level and summary CSVs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514937" y="4943475"/>
            <a:ext cx="5105272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limitation: rotor rpm was not recorded on the common DAQ time base.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71486" y="6534150"/>
            <a:ext cx="11048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D7F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rig documentation and automated-test repository. · Stephen Eacuello and Taegu Kang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45622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486" y="266700"/>
            <a:ext cx="26117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1675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SETUP · 2 OF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1486" y="523875"/>
            <a:ext cx="1104872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33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automated protocol standardizes each point and fails safe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71486" y="1028700"/>
            <a:ext cx="1095347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wind setpoints · load-current sweep · local quadratic Pmax fit · ~10 min per rotor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1381125"/>
            <a:ext cx="11048724" cy="28575"/>
          </a:xfrm>
          <a:prstGeom prst="rect">
            <a:avLst/>
          </a:prstGeom>
          <a:solidFill>
            <a:srgbClr val="C9A4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486" y="1671638"/>
            <a:ext cx="747693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4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1486" y="1995487"/>
            <a:ext cx="5905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62021" y="1971675"/>
            <a:ext cx="18287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wind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2990775" y="1995487"/>
            <a:ext cx="505764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fan rpm; begin only after measured speed stabilizes.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486" y="2538413"/>
            <a:ext cx="747693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4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1486" y="2862262"/>
            <a:ext cx="5905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62021" y="2838450"/>
            <a:ext cx="18287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Sweep load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2990775" y="2752725"/>
            <a:ext cx="505764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Sweep load current while logging voltage, current, power, and measured fan rpm.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1486" y="3405187"/>
            <a:ext cx="747693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4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1486" y="3729038"/>
            <a:ext cx="5905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62021" y="3571875"/>
            <a:ext cx="18287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Pmax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2990775" y="3619500"/>
            <a:ext cx="505764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a local quadratic around the highest-power samples; reject isolated noise peaks.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1486" y="4271963"/>
            <a:ext cx="747693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4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1486" y="5129213"/>
            <a:ext cx="747693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4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1486" y="4591050"/>
            <a:ext cx="5905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62021" y="4433888"/>
            <a:ext cx="18287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Unload and advance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2990775" y="4481512"/>
            <a:ext cx="505764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near 80% of fitted peak; unload, save both records, and advance.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53236" y="1666875"/>
            <a:ext cx="0" cy="360045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02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810405" y="1666875"/>
            <a:ext cx="280980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safeguards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8810405" y="2257425"/>
            <a:ext cx="28098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A6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Hardwired E-stop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810405" y="2457450"/>
            <a:ext cx="28098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protection remains independent of software.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810405" y="2838450"/>
            <a:ext cx="28098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A6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 drive watchdog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810405" y="3038475"/>
            <a:ext cx="28098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 stops if PMC communication is lost.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810405" y="3419475"/>
            <a:ext cx="28098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A6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s host watchdog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810405" y="3619500"/>
            <a:ext cx="28098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PMC unloads and stops if Python communication is lost.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10405" y="4000500"/>
            <a:ext cx="28098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A6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Modbus master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810405" y="4200525"/>
            <a:ext cx="28098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Prevents competing commands to the drive.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71486" y="5429250"/>
            <a:ext cx="110487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Traceability: each run saves point-level data, summary data, and the full protocol fingerprint.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71486" y="5810250"/>
            <a:ext cx="1104872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Interlock: load ON → wind UP → test → wind DOWN → load OFF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571486" y="6534150"/>
            <a:ext cx="11048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D7F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control implementation, drive parameters, and automated sweep protocol.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46634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486" y="257175"/>
            <a:ext cx="27678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>
                <a:solidFill>
                  <a:srgbClr val="1675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DATA &amp; RESULTS · 1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1486" y="504825"/>
            <a:ext cx="1104872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Ra20 peak electrical power rises monotonically to 3.79 W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71486" y="1000125"/>
            <a:ext cx="109058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10.1–37.5 m/s, duplicate checks agree within 0.3%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71486" y="1323975"/>
            <a:ext cx="11048724" cy="28575"/>
          </a:xfrm>
          <a:prstGeom prst="rect">
            <a:avLst/>
          </a:prstGeom>
          <a:solidFill>
            <a:srgbClr val="C9A4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571486" y="1552575"/>
          <a:ext cx="7191195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238919" y="2557463"/>
            <a:ext cx="338129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4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38919" y="1619250"/>
            <a:ext cx="338129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measured points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8238919" y="1990725"/>
            <a:ext cx="33812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automated sweep; four audited points shown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38919" y="3433762"/>
            <a:ext cx="338129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4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38919" y="2705100"/>
            <a:ext cx="338129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≤0.3% difference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8238919" y="3076575"/>
            <a:ext cx="33812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Agreement at both repeated check points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38919" y="4519613"/>
            <a:ext cx="338129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4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38919" y="3581400"/>
            <a:ext cx="338129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3.77; R² = 0.998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8238919" y="3952875"/>
            <a:ext cx="33812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Power-law fit: Pmax ∝ v³·⁷⁷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571486" y="4648200"/>
          <a:ext cx="7191194" cy="1619249"/>
        </p:xfrm>
        <a:graphic>
          <a:graphicData uri="http://schemas.openxmlformats.org/drawingml/2006/table">
            <a:tbl>
              <a:tblPr/>
              <a:tblGrid>
                <a:gridCol w="1521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5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36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8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1677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Fan rpm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B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1677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Wind (m/s)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B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1677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Pmax (W)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B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1677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 at Pmax (A)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B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8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496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0.030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0.018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8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894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18.6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0.273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0.068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8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1384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29.1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1.665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0.240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1779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37.5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3.793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A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0.320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8238919" y="4552950"/>
            <a:ext cx="338129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fan rpm sets wind speed. Rotor rpm was not synchronized, so aerodynamic coefficients cannot yet be compared.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71486" y="6553200"/>
            <a:ext cx="11048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D7F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sweep_v1_Ra20 summary and repeat checks, 26 August 2026.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020691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486" y="257175"/>
            <a:ext cx="27678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>
                <a:solidFill>
                  <a:srgbClr val="1675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DATA &amp; RESULTS · 2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1486" y="504825"/>
            <a:ext cx="1104872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checks confirm the Ra20 run is internally consistent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71486" y="1000125"/>
            <a:ext cx="1085822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at peak power, repeatability, and generator scaling support the same interpretation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71486" y="1323975"/>
            <a:ext cx="11048724" cy="28575"/>
          </a:xfrm>
          <a:prstGeom prst="rect">
            <a:avLst/>
          </a:prstGeom>
          <a:solidFill>
            <a:srgbClr val="C9A4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1486" y="6553200"/>
            <a:ext cx="11048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D7F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Ra20 sweep summary, repeat checks, and generator-model audit, 26 August 2026.</a:t>
            </a:r>
            <a:endParaRPr lang="en-US" sz="1050" dirty="0"/>
          </a:p>
        </p:txBody>
      </p:sp>
      <p:graphicFrame>
        <p:nvGraphicFramePr>
          <p:cNvPr id="26" name="Current response plot"/>
          <p:cNvGraphicFramePr/>
          <p:nvPr/>
        </p:nvGraphicFramePr>
        <p:xfrm>
          <a:off x="571500" y="1587500"/>
          <a:ext cx="6604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Repeatability plot"/>
          <p:cNvGraphicFramePr/>
          <p:nvPr/>
        </p:nvGraphicFramePr>
        <p:xfrm>
          <a:off x="7556500" y="1587500"/>
          <a:ext cx="4064000" cy="184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8" name="Model comparison plot"/>
          <p:cNvGraphicFramePr/>
          <p:nvPr/>
        </p:nvGraphicFramePr>
        <p:xfrm>
          <a:off x="7556500" y="3708400"/>
          <a:ext cx="4064000" cy="184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833B96F-709D-E74B-A292-29DC658CDC25}"/>
              </a:ext>
            </a:extLst>
          </p:cNvPr>
          <p:cNvSpPr/>
          <p:nvPr/>
        </p:nvSpPr>
        <p:spPr>
          <a:xfrm>
            <a:off x="571500" y="5740400"/>
            <a:ext cx="11049000" cy="546100"/>
          </a:xfrm>
          <a:prstGeom prst="rect">
            <a:avLst/>
          </a:prstGeom>
          <a:solidFill>
            <a:srgbClr val="EDF3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rmAutofit/>
          </a:bodyPr>
          <a:lstStyle/>
          <a:p>
            <a:pPr algn="l"/>
            <a:r>
              <a:rPr lang="en-US" sz="1400" b="1">
                <a:solidFill>
                  <a:srgbClr val="173A63"/>
                </a:solidFill>
                <a:latin typeface="Aptos"/>
              </a:rPr>
              <a:t>The Ra20 electrical data are internally consistent; a surface-roughness effect has not yet been established across conditions.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C1D0D4-EE9E-B44B-9622-E59F38E0A522}"/>
              </a:ext>
            </a:extLst>
          </p:cNvPr>
          <p:cNvSpPr/>
          <p:nvPr/>
        </p:nvSpPr>
        <p:spPr>
          <a:xfrm>
            <a:off x="571500" y="5740400"/>
            <a:ext cx="63500" cy="546100"/>
          </a:xfrm>
          <a:prstGeom prst="rect">
            <a:avLst/>
          </a:prstGeom>
          <a:solidFill>
            <a:srgbClr val="D8A9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04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486" y="257175"/>
            <a:ext cx="27678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>
                <a:solidFill>
                  <a:srgbClr val="1675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DATA &amp; RESULTS · 3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1486" y="504825"/>
            <a:ext cx="1104872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testing established a reference—but no significant blade separation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71486" y="1000125"/>
            <a:ext cx="1085822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13-point load-variation record · 9.786–35.963 m/s · measured rotor rpm and maximum-power envelope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71486" y="1323975"/>
            <a:ext cx="11048724" cy="28575"/>
          </a:xfrm>
          <a:prstGeom prst="rect">
            <a:avLst/>
          </a:prstGeom>
          <a:solidFill>
            <a:srgbClr val="C9A4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1486" y="6553200"/>
            <a:ext cx="11048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6D7F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Summary_Table_Part1_MAX.csv and project email threads, 5 June and 27 July 2026.</a:t>
            </a:r>
            <a:endParaRPr lang="en-US" sz="10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15066B-0FC9-F64E-9A10-F058CE391837}"/>
              </a:ext>
            </a:extLst>
          </p:cNvPr>
          <p:cNvSpPr/>
          <p:nvPr/>
        </p:nvSpPr>
        <p:spPr>
          <a:xfrm>
            <a:off x="571500" y="5740400"/>
            <a:ext cx="11049000" cy="546100"/>
          </a:xfrm>
          <a:prstGeom prst="rect">
            <a:avLst/>
          </a:prstGeom>
          <a:solidFill>
            <a:srgbClr val="EDF3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rmAutofit/>
          </a:bodyPr>
          <a:lstStyle/>
          <a:p>
            <a:pPr algn="l"/>
            <a:r>
              <a:rPr lang="en-US" sz="1400" b="1">
                <a:solidFill>
                  <a:srgbClr val="173A63"/>
                </a:solidFill>
                <a:latin typeface="Aptos"/>
              </a:rPr>
              <a:t>Use this as the initial reference: Pmax reaches 3.01 W, and Jeong reported no significant blade differences. Condition metadata and uncertainty are incomplete.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B05B38-C29F-6748-AD98-5B97A81706A6}"/>
              </a:ext>
            </a:extLst>
          </p:cNvPr>
          <p:cNvSpPr/>
          <p:nvPr/>
        </p:nvSpPr>
        <p:spPr>
          <a:xfrm>
            <a:off x="571500" y="5740400"/>
            <a:ext cx="63500" cy="546100"/>
          </a:xfrm>
          <a:prstGeom prst="rect">
            <a:avLst/>
          </a:prstGeom>
          <a:solidFill>
            <a:srgbClr val="D8A9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aphicFrame>
        <p:nvGraphicFramePr>
          <p:cNvPr id="26" name="Smooth baseline power"/>
          <p:cNvGraphicFramePr/>
          <p:nvPr/>
        </p:nvGraphicFramePr>
        <p:xfrm>
          <a:off x="571500" y="1587500"/>
          <a:ext cx="5334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Smooth baseline rotor speed"/>
          <p:cNvGraphicFramePr/>
          <p:nvPr/>
        </p:nvGraphicFramePr>
        <p:xfrm>
          <a:off x="6286500" y="1587500"/>
          <a:ext cx="5334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04532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486" y="257175"/>
            <a:ext cx="27678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>
                <a:solidFill>
                  <a:srgbClr val="1675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DATA &amp; RESULTS · 4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1486" y="504825"/>
            <a:ext cx="1104872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No-texture baseline reaches 5.60 W and 618 rpm before the final point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71486" y="1000125"/>
            <a:ext cx="1085822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16-point no-texture run · 9.786–42.525 m/s · rotor rpm recorded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71486" y="1323975"/>
            <a:ext cx="11048724" cy="28575"/>
          </a:xfrm>
          <a:prstGeom prst="rect">
            <a:avLst/>
          </a:prstGeom>
          <a:solidFill>
            <a:srgbClr val="C9A4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1486" y="6553200"/>
            <a:ext cx="11048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D7F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Summary_Table.csv attached to “Updated Test Data – Wind turbine,” 27 July 2026.</a:t>
            </a:r>
            <a:endParaRPr lang="en-US" sz="10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15066B-0FC9-F64E-9A10-F058CE391837}"/>
              </a:ext>
            </a:extLst>
          </p:cNvPr>
          <p:cNvSpPr/>
          <p:nvPr/>
        </p:nvSpPr>
        <p:spPr>
          <a:xfrm>
            <a:off x="571500" y="5740400"/>
            <a:ext cx="11049000" cy="546100"/>
          </a:xfrm>
          <a:prstGeom prst="rect">
            <a:avLst/>
          </a:prstGeom>
          <a:solidFill>
            <a:srgbClr val="EDF3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rmAutofit/>
          </a:bodyPr>
          <a:lstStyle/>
          <a:p>
            <a:pPr algn="l"/>
            <a:r>
              <a:rPr lang="en-US" sz="1400" b="1">
                <a:solidFill>
                  <a:srgbClr val="173A63"/>
                </a:solidFill>
                <a:latin typeface="Aptos"/>
              </a:rPr>
              <a:t>Power reaches 5.60 W; rpm peaks at 618 then falls 3.7% at the final point. The baseline protocol differs from Ra20.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B05B38-C29F-6748-AD98-5B97A81706A6}"/>
              </a:ext>
            </a:extLst>
          </p:cNvPr>
          <p:cNvSpPr/>
          <p:nvPr/>
        </p:nvSpPr>
        <p:spPr>
          <a:xfrm>
            <a:off x="571500" y="5740400"/>
            <a:ext cx="63500" cy="546100"/>
          </a:xfrm>
          <a:prstGeom prst="rect">
            <a:avLst/>
          </a:prstGeom>
          <a:solidFill>
            <a:srgbClr val="D8A9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aphicFrame>
        <p:nvGraphicFramePr>
          <p:cNvPr id="26" name="Smooth baseline power"/>
          <p:cNvGraphicFramePr/>
          <p:nvPr/>
        </p:nvGraphicFramePr>
        <p:xfrm>
          <a:off x="571500" y="1587500"/>
          <a:ext cx="5334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Smooth baseline rotor speed"/>
          <p:cNvGraphicFramePr/>
          <p:nvPr/>
        </p:nvGraphicFramePr>
        <p:xfrm>
          <a:off x="6286500" y="1587500"/>
          <a:ext cx="5334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572042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486" y="257175"/>
            <a:ext cx="27678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>
                <a:solidFill>
                  <a:srgbClr val="1675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DATA &amp; RESULTS · 5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1486" y="504825"/>
            <a:ext cx="1104872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Ra20 remains below the July no-texture baseline at matched wind speeds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71486" y="1000125"/>
            <a:ext cx="1085822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difference falls from 91.7% to 8.8% across four shared wind references; protocols differ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71486" y="1323975"/>
            <a:ext cx="11048724" cy="28575"/>
          </a:xfrm>
          <a:prstGeom prst="rect">
            <a:avLst/>
          </a:prstGeom>
          <a:solidFill>
            <a:srgbClr val="C9A4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1486" y="6553200"/>
            <a:ext cx="11048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D7F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smooth Summary_Table.csv, 27 July 2026; Ra20 automated sweep summary, 26 August 2026.</a:t>
            </a:r>
            <a:endParaRPr lang="en-US" sz="10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33B96F-709D-E74B-A292-29DC658CDC25}"/>
              </a:ext>
            </a:extLst>
          </p:cNvPr>
          <p:cNvSpPr/>
          <p:nvPr/>
        </p:nvSpPr>
        <p:spPr>
          <a:xfrm>
            <a:off x="571500" y="5740400"/>
            <a:ext cx="11049000" cy="546100"/>
          </a:xfrm>
          <a:prstGeom prst="rect">
            <a:avLst/>
          </a:prstGeom>
          <a:solidFill>
            <a:srgbClr val="EDF3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rmAutofit/>
          </a:bodyPr>
          <a:lstStyle/>
          <a:p>
            <a:pPr algn="l"/>
            <a:r>
              <a:rPr lang="en-US" sz="1400" b="1">
                <a:solidFill>
                  <a:srgbClr val="173A63"/>
                </a:solidFill>
                <a:latin typeface="Aptos"/>
              </a:rPr>
              <a:t>The narrowing gap is descriptive, not causal: smooth values are interpolated and protocols, rotor-speed capture, and uncertainty differ.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C1D0D4-EE9E-B44B-9622-E59F38E0A522}"/>
              </a:ext>
            </a:extLst>
          </p:cNvPr>
          <p:cNvSpPr/>
          <p:nvPr/>
        </p:nvSpPr>
        <p:spPr>
          <a:xfrm>
            <a:off x="571500" y="5740400"/>
            <a:ext cx="63500" cy="546100"/>
          </a:xfrm>
          <a:prstGeom prst="rect">
            <a:avLst/>
          </a:prstGeom>
          <a:solidFill>
            <a:srgbClr val="D8A9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aphicFrame>
        <p:nvGraphicFramePr>
          <p:cNvPr id="26" name="Cross-condition comparison"/>
          <p:cNvGraphicFramePr/>
          <p:nvPr/>
        </p:nvGraphicFramePr>
        <p:xfrm>
          <a:off x="571500" y="1587500"/>
          <a:ext cx="7366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E1BE5A5-14BF-C946-B610-A83F2CE741D5}"/>
              </a:ext>
            </a:extLst>
          </p:cNvPr>
          <p:cNvSpPr txBox="1"/>
          <p:nvPr/>
        </p:nvSpPr>
        <p:spPr>
          <a:xfrm>
            <a:off x="8509000" y="17653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526A87"/>
                </a:solidFill>
                <a:latin typeface="Aptos"/>
              </a:rPr>
              <a:t>DESCRIPTIVE GAP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D4FF774-9C2F-7244-9ABA-2B85C6A793C8}"/>
              </a:ext>
            </a:extLst>
          </p:cNvPr>
          <p:cNvGraphicFramePr>
            <a:graphicFrameLocks noGrp="1"/>
          </p:cNvGraphicFramePr>
          <p:nvPr/>
        </p:nvGraphicFramePr>
        <p:xfrm>
          <a:off x="8255000" y="2184400"/>
          <a:ext cx="3365500" cy="272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750">
                  <a:extLst>
                    <a:ext uri="{9D8B030D-6E8A-4147-A177-3AD203B41FA5}">
                      <a16:colId xmlns:a16="http://schemas.microsoft.com/office/drawing/2014/main" val="269395087"/>
                    </a:ext>
                  </a:extLst>
                </a:gridCol>
                <a:gridCol w="1682750">
                  <a:extLst>
                    <a:ext uri="{9D8B030D-6E8A-4147-A177-3AD203B41FA5}">
                      <a16:colId xmlns:a16="http://schemas.microsoft.com/office/drawing/2014/main" val="2635222700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r>
                        <a:rPr lang="en-US"/>
                        <a:t>Wind (m/s)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Ra20 below smooth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544715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r>
                        <a:rPr lang="en-US"/>
                        <a:t>10.1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91.7%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98969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r>
                        <a:rPr lang="en-US"/>
                        <a:t>18.6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65.1%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255709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r>
                        <a:rPr lang="en-US"/>
                        <a:t>29.1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99158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r>
                        <a:rPr lang="en-US"/>
                        <a:t>37.5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38745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B6109CF-5E35-3844-9BB8-BC481EB894C0}"/>
              </a:ext>
            </a:extLst>
          </p:cNvPr>
          <p:cNvSpPr txBox="1"/>
          <p:nvPr/>
        </p:nvSpPr>
        <p:spPr>
          <a:xfrm>
            <a:off x="8382000" y="5016500"/>
            <a:ext cx="311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9A6A10"/>
                </a:solidFill>
                <a:latin typeface="Aptos"/>
              </a:rPr>
              <a:t>Linear interpolation; no shared uncertainty</a:t>
            </a:r>
          </a:p>
        </p:txBody>
      </p:sp>
    </p:spTree>
    <p:extLst>
      <p:ext uri="{BB962C8B-B14F-4D97-AF65-F5344CB8AC3E}">
        <p14:creationId xmlns:p14="http://schemas.microsoft.com/office/powerpoint/2010/main" val="1201419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486" y="257175"/>
            <a:ext cx="27678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>
                <a:solidFill>
                  <a:srgbClr val="1675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&amp; NEXT STEP</a:t>
            </a:r>
            <a:endParaRPr lang="en-US" sz="1000" b="1" dirty="0"/>
          </a:p>
        </p:txBody>
      </p:sp>
      <p:sp>
        <p:nvSpPr>
          <p:cNvPr id="4" name="Text 2"/>
          <p:cNvSpPr/>
          <p:nvPr/>
        </p:nvSpPr>
        <p:spPr>
          <a:xfrm>
            <a:off x="571486" y="504825"/>
            <a:ext cx="1104872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numeric records strengthen the audit—not a roughness ranking</a:t>
            </a:r>
            <a:endParaRPr lang="en-US" sz="2300" b="1" dirty="0"/>
          </a:p>
        </p:txBody>
      </p:sp>
      <p:sp>
        <p:nvSpPr>
          <p:cNvPr id="5" name="Text 3"/>
          <p:cNvSpPr/>
          <p:nvPr/>
        </p:nvSpPr>
        <p:spPr>
          <a:xfrm>
            <a:off x="571486" y="1000125"/>
            <a:ext cx="1085822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reference, July no-texture baseline, and Ra20 are quantified; Ra80 extraction and a matched campaign remain required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1486" y="1323975"/>
            <a:ext cx="11048724" cy="28575"/>
          </a:xfrm>
          <a:prstGeom prst="rect">
            <a:avLst/>
          </a:prstGeom>
          <a:solidFill>
            <a:srgbClr val="C9A4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486" y="1585913"/>
            <a:ext cx="1104872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4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1486" y="3176587"/>
            <a:ext cx="1104872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4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81280" y="2090737"/>
            <a:ext cx="0" cy="58102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4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7704" y="2090737"/>
            <a:ext cx="21525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</a:t>
            </a:r>
            <a:endParaRPr lang="en-US" sz="1000" b="1" dirty="0"/>
          </a:p>
        </p:txBody>
      </p:sp>
      <p:sp>
        <p:nvSpPr>
          <p:cNvPr id="11" name="Text 9"/>
          <p:cNvSpPr/>
          <p:nvPr/>
        </p:nvSpPr>
        <p:spPr>
          <a:xfrm>
            <a:off x="847704" y="2290762"/>
            <a:ext cx="21525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7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14 Ra20
setpoints</a:t>
            </a:r>
            <a:endParaRPr lang="en-US" sz="1700" b="1" dirty="0"/>
          </a:p>
        </p:txBody>
      </p:sp>
      <p:sp>
        <p:nvSpPr>
          <p:cNvPr id="12" name="Shape 10"/>
          <p:cNvSpPr/>
          <p:nvPr/>
        </p:nvSpPr>
        <p:spPr>
          <a:xfrm>
            <a:off x="7138809" y="1900238"/>
            <a:ext cx="0" cy="96202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4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2261" y="1900238"/>
            <a:ext cx="32955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REPEATABILITY</a:t>
            </a:r>
            <a:endParaRPr lang="en-US" sz="1000" b="1" dirty="0"/>
          </a:p>
        </p:txBody>
      </p:sp>
      <p:sp>
        <p:nvSpPr>
          <p:cNvPr id="14" name="Text 12"/>
          <p:cNvSpPr/>
          <p:nvPr/>
        </p:nvSpPr>
        <p:spPr>
          <a:xfrm>
            <a:off x="3562261" y="2100263"/>
            <a:ext cx="329556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0.3% and 0.2%
check differences</a:t>
            </a:r>
            <a:endParaRPr lang="en-US" sz="1600" b="1" dirty="0"/>
          </a:p>
        </p:txBody>
      </p:sp>
      <p:sp>
        <p:nvSpPr>
          <p:cNvPr id="15" name="Text 13"/>
          <p:cNvSpPr/>
          <p:nvPr/>
        </p:nvSpPr>
        <p:spPr>
          <a:xfrm>
            <a:off x="7419790" y="1990725"/>
            <a:ext cx="39242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COVERAGE</a:t>
            </a:r>
            <a:endParaRPr lang="en-US" sz="1000" b="1" dirty="0"/>
          </a:p>
        </p:txBody>
      </p:sp>
      <p:sp>
        <p:nvSpPr>
          <p:cNvPr id="16" name="Text 14"/>
          <p:cNvSpPr/>
          <p:nvPr/>
        </p:nvSpPr>
        <p:spPr>
          <a:xfrm>
            <a:off x="7419790" y="2190750"/>
            <a:ext cx="39242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numeric records</a:t>
            </a:r>
            <a:endParaRPr lang="en-US" b="1" dirty="0"/>
          </a:p>
        </p:txBody>
      </p:sp>
      <p:sp>
        <p:nvSpPr>
          <p:cNvPr id="17" name="Text 15"/>
          <p:cNvSpPr/>
          <p:nvPr/>
        </p:nvSpPr>
        <p:spPr>
          <a:xfrm>
            <a:off x="7419790" y="2571750"/>
            <a:ext cx="39242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reference + smooth + Ra20 · Ra80 pending · Ra40 missing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486" y="3500438"/>
            <a:ext cx="5219570" cy="0"/>
          </a:xfrm>
          <a:prstGeom prst="line">
            <a:avLst/>
          </a:prstGeom>
          <a:solidFill>
            <a:srgbClr val="FFFFFF">
              <a:alpha val="0"/>
            </a:srgbClr>
          </a:solidFill>
          <a:ln w="47625">
            <a:solidFill>
              <a:srgbClr val="102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1486" y="3657600"/>
            <a:ext cx="521957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BY PRESENT DATA</a:t>
            </a:r>
            <a:endParaRPr lang="en-US" sz="1300" b="1" dirty="0"/>
          </a:p>
        </p:txBody>
      </p:sp>
      <p:sp>
        <p:nvSpPr>
          <p:cNvPr id="20" name="Text 18"/>
          <p:cNvSpPr/>
          <p:nvPr/>
        </p:nvSpPr>
        <p:spPr>
          <a:xfrm>
            <a:off x="571486" y="3952875"/>
            <a:ext cx="521957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13-point record recovered; Jeong reported no significant differences.
July no-texture baseline includes rotor rpm and Pmax.
Ra20 sweep is complete; repeat checks agree within 0.3%.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640" y="3500438"/>
            <a:ext cx="5219570" cy="0"/>
          </a:xfrm>
          <a:prstGeom prst="line">
            <a:avLst/>
          </a:prstGeom>
          <a:solidFill>
            <a:srgbClr val="FFFFFF">
              <a:alpha val="0"/>
            </a:srgbClr>
          </a:solidFill>
          <a:ln w="47625">
            <a:solidFill>
              <a:srgbClr val="167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640" y="3657600"/>
            <a:ext cx="521957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SUPPORTED YET</a:t>
            </a:r>
            <a:endParaRPr lang="en-US" sz="1300" b="1" dirty="0"/>
          </a:p>
        </p:txBody>
      </p:sp>
      <p:sp>
        <p:nvSpPr>
          <p:cNvPr id="23" name="Text 21"/>
          <p:cNvSpPr/>
          <p:nvPr/>
        </p:nvSpPr>
        <p:spPr>
          <a:xfrm>
            <a:off x="6400640" y="3952875"/>
            <a:ext cx="5219570" cy="1362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four-condition roughness ranking.
Cp(</a:t>
            </a:r>
            <a:r>
              <a:rPr lang="el-GR" sz="125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λ) </a:t>
            </a:r>
            <a:r>
              <a:rPr lang="en-US" sz="125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Cq(</a:t>
            </a:r>
            <a:r>
              <a:rPr lang="el-GR" sz="125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λ) </a:t>
            </a:r>
            <a:r>
              <a:rPr lang="en-US" sz="125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synchronized rotor rpm.
A causal roughness claim from unmatched protocols.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71486" y="5676900"/>
            <a:ext cx="1104872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repair/extract Ra80, document the initial-test blade configuration, and run matched smooth/Ra20/Ra40/Ra80 tests with synchronized rotor rpm.</a:t>
            </a:r>
            <a:endParaRPr lang="en-US" sz="1400" b="1" dirty="0"/>
          </a:p>
        </p:txBody>
      </p:sp>
      <p:sp>
        <p:nvSpPr>
          <p:cNvPr id="25" name="Text 23"/>
          <p:cNvSpPr/>
          <p:nvPr/>
        </p:nvSpPr>
        <p:spPr>
          <a:xfrm>
            <a:off x="571486" y="6553200"/>
            <a:ext cx="11048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6D7F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boundary based on project records reviewed through 9 September 2026.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997474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486" y="266700"/>
            <a:ext cx="26117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1675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NEXT CAMPAIGN</a:t>
            </a:r>
            <a:endParaRPr lang="en-US" sz="1200" b="1" dirty="0"/>
          </a:p>
        </p:txBody>
      </p:sp>
      <p:sp>
        <p:nvSpPr>
          <p:cNvPr id="4" name="Text 2"/>
          <p:cNvSpPr/>
          <p:nvPr/>
        </p:nvSpPr>
        <p:spPr>
          <a:xfrm>
            <a:off x="571486" y="523875"/>
            <a:ext cx="1104872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31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matched roughness and fault campaign will make the comparison decision-ready</a:t>
            </a:r>
            <a:endParaRPr lang="en-US" sz="3100" b="1" dirty="0"/>
          </a:p>
        </p:txBody>
      </p:sp>
      <p:sp>
        <p:nvSpPr>
          <p:cNvPr id="5" name="Text 3"/>
          <p:cNvSpPr/>
          <p:nvPr/>
        </p:nvSpPr>
        <p:spPr>
          <a:xfrm>
            <a:off x="571486" y="1028700"/>
            <a:ext cx="1095347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Smooth · Ra20 · Ra40 · Ra80 plus predefined fault blades, synchronized rotor rpm, balanced order, repeats, and normalized analysis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71486" y="1381125"/>
            <a:ext cx="11048724" cy="28575"/>
          </a:xfrm>
          <a:prstGeom prst="rect">
            <a:avLst/>
          </a:prstGeom>
          <a:solidFill>
            <a:srgbClr val="C9A4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486" y="1671638"/>
            <a:ext cx="747693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4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1486" y="1995487"/>
            <a:ext cx="5905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b="1" dirty="0"/>
          </a:p>
        </p:txBody>
      </p:sp>
      <p:sp>
        <p:nvSpPr>
          <p:cNvPr id="9" name="Text 7"/>
          <p:cNvSpPr/>
          <p:nvPr/>
        </p:nvSpPr>
        <p:spPr>
          <a:xfrm>
            <a:off x="1162021" y="1971675"/>
            <a:ext cx="18287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rotor speed</a:t>
            </a:r>
            <a:endParaRPr lang="en-US" sz="2000" b="1" dirty="0"/>
          </a:p>
        </p:txBody>
      </p:sp>
      <p:sp>
        <p:nvSpPr>
          <p:cNvPr id="10" name="Text 8"/>
          <p:cNvSpPr/>
          <p:nvPr/>
        </p:nvSpPr>
        <p:spPr>
          <a:xfrm>
            <a:off x="2990775" y="1995487"/>
            <a:ext cx="505764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Acquire rotor rpm on the common DAQ; verify the channel and pulses per revolution.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71486" y="2538413"/>
            <a:ext cx="747693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4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1486" y="2862262"/>
            <a:ext cx="5905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b="1" dirty="0"/>
          </a:p>
        </p:txBody>
      </p:sp>
      <p:sp>
        <p:nvSpPr>
          <p:cNvPr id="13" name="Text 11"/>
          <p:cNvSpPr/>
          <p:nvPr/>
        </p:nvSpPr>
        <p:spPr>
          <a:xfrm>
            <a:off x="1162021" y="2838450"/>
            <a:ext cx="18287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specimens and order</a:t>
            </a:r>
            <a:endParaRPr lang="en-US" sz="2000" b="1" dirty="0"/>
          </a:p>
        </p:txBody>
      </p:sp>
      <p:sp>
        <p:nvSpPr>
          <p:cNvPr id="14" name="Text 12"/>
          <p:cNvSpPr/>
          <p:nvPr/>
        </p:nvSpPr>
        <p:spPr>
          <a:xfrm>
            <a:off x="2990775" y="2752725"/>
            <a:ext cx="505764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manifest for smooth/Ra20/Ra40/Ra80 and fault cases; use a balanced mounting sequence.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71486" y="3405187"/>
            <a:ext cx="747693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4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1486" y="3729038"/>
            <a:ext cx="5905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b="1" dirty="0"/>
          </a:p>
        </p:txBody>
      </p:sp>
      <p:sp>
        <p:nvSpPr>
          <p:cNvPr id="17" name="Text 15"/>
          <p:cNvSpPr/>
          <p:nvPr/>
        </p:nvSpPr>
        <p:spPr>
          <a:xfrm>
            <a:off x="1162021" y="3571875"/>
            <a:ext cx="18287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and reconcile</a:t>
            </a:r>
            <a:endParaRPr lang="en-US" sz="2000" b="1" dirty="0"/>
          </a:p>
        </p:txBody>
      </p:sp>
      <p:sp>
        <p:nvSpPr>
          <p:cNvPr id="18" name="Text 16"/>
          <p:cNvSpPr/>
          <p:nvPr/>
        </p:nvSpPr>
        <p:spPr>
          <a:xfrm>
            <a:off x="2990775" y="3619500"/>
            <a:ext cx="505764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check points; reconcile wind-speed files; document load-control mode and blade identity for every run.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71486" y="4271963"/>
            <a:ext cx="747693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4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1486" y="5129213"/>
            <a:ext cx="747693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4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1486" y="4591050"/>
            <a:ext cx="5905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500" b="1" dirty="0"/>
          </a:p>
        </p:txBody>
      </p:sp>
      <p:sp>
        <p:nvSpPr>
          <p:cNvPr id="22" name="Text 20"/>
          <p:cNvSpPr/>
          <p:nvPr/>
        </p:nvSpPr>
        <p:spPr>
          <a:xfrm>
            <a:off x="1162021" y="4433888"/>
            <a:ext cx="18287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performance</a:t>
            </a:r>
            <a:endParaRPr lang="en-US" sz="2000" b="1" dirty="0"/>
          </a:p>
        </p:txBody>
      </p:sp>
      <p:sp>
        <p:nvSpPr>
          <p:cNvPr id="23" name="Text 21"/>
          <p:cNvSpPr/>
          <p:nvPr/>
        </p:nvSpPr>
        <p:spPr>
          <a:xfrm>
            <a:off x="2990775" y="4481512"/>
            <a:ext cx="505764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</a:t>
            </a:r>
            <a:r>
              <a:rPr lang="el-GR" sz="12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λ, </a:t>
            </a:r>
            <a:r>
              <a:rPr lang="en-US" sz="12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Cp(</a:t>
            </a:r>
            <a:r>
              <a:rPr lang="el-GR" sz="12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λ), </a:t>
            </a:r>
            <a:r>
              <a:rPr lang="en-US" sz="12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Cq(</a:t>
            </a:r>
            <a:r>
              <a:rPr lang="el-GR" sz="12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λ); </a:t>
            </a:r>
            <a:r>
              <a:rPr lang="en-US" sz="12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smooth, Ra20, Ra40, and Ra80 at matched </a:t>
            </a:r>
            <a:r>
              <a:rPr lang="el-GR" sz="12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λ.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553236" y="1666875"/>
            <a:ext cx="0" cy="360045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02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810405" y="1666875"/>
            <a:ext cx="280980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criteria</a:t>
            </a:r>
            <a:endParaRPr lang="en-US" sz="1950" b="1" dirty="0"/>
          </a:p>
        </p:txBody>
      </p:sp>
      <p:sp>
        <p:nvSpPr>
          <p:cNvPr id="26" name="Text 24"/>
          <p:cNvSpPr/>
          <p:nvPr/>
        </p:nvSpPr>
        <p:spPr>
          <a:xfrm>
            <a:off x="8810405" y="2257425"/>
            <a:ext cx="28098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>
                <a:solidFill>
                  <a:srgbClr val="8A6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Synchronized data</a:t>
            </a:r>
            <a:endParaRPr lang="en-US" sz="1350" b="1" dirty="0"/>
          </a:p>
        </p:txBody>
      </p:sp>
      <p:sp>
        <p:nvSpPr>
          <p:cNvPr id="27" name="Text 25"/>
          <p:cNvSpPr/>
          <p:nvPr/>
        </p:nvSpPr>
        <p:spPr>
          <a:xfrm>
            <a:off x="8810405" y="2457450"/>
            <a:ext cx="28098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Rotor rpm aligned with wind and load measurements.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10405" y="2838450"/>
            <a:ext cx="28098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>
                <a:solidFill>
                  <a:srgbClr val="8A6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Specimen manifest</a:t>
            </a:r>
            <a:endParaRPr lang="en-US" sz="1350" b="1" dirty="0"/>
          </a:p>
        </p:txBody>
      </p:sp>
      <p:sp>
        <p:nvSpPr>
          <p:cNvPr id="29" name="Text 27"/>
          <p:cNvSpPr/>
          <p:nvPr/>
        </p:nvSpPr>
        <p:spPr>
          <a:xfrm>
            <a:off x="8810405" y="3038475"/>
            <a:ext cx="28098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 condition and fault geometry documented.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810405" y="3419475"/>
            <a:ext cx="28098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>
                <a:solidFill>
                  <a:srgbClr val="8A6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data trail</a:t>
            </a:r>
            <a:endParaRPr lang="en-US" sz="1350" b="1" dirty="0"/>
          </a:p>
        </p:txBody>
      </p:sp>
      <p:sp>
        <p:nvSpPr>
          <p:cNvPr id="31" name="Text 29"/>
          <p:cNvSpPr/>
          <p:nvPr/>
        </p:nvSpPr>
        <p:spPr>
          <a:xfrm>
            <a:off x="8810405" y="3619500"/>
            <a:ext cx="28098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and summary records reconciled.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10405" y="4000500"/>
            <a:ext cx="28098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>
                <a:solidFill>
                  <a:srgbClr val="8A6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Decision-ready curves</a:t>
            </a:r>
            <a:endParaRPr lang="en-US" sz="1350" b="1" dirty="0"/>
          </a:p>
        </p:txBody>
      </p:sp>
      <p:sp>
        <p:nvSpPr>
          <p:cNvPr id="33" name="Text 31"/>
          <p:cNvSpPr/>
          <p:nvPr/>
        </p:nvSpPr>
        <p:spPr>
          <a:xfrm>
            <a:off x="8810405" y="4200525"/>
            <a:ext cx="28098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Cp(</a:t>
            </a:r>
            <a:r>
              <a:rPr lang="el-GR" sz="12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λ), </a:t>
            </a:r>
            <a:r>
              <a:rPr lang="en-US" sz="12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Cq(</a:t>
            </a:r>
            <a:r>
              <a:rPr lang="el-GR" sz="12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λ), </a:t>
            </a:r>
            <a:r>
              <a:rPr lang="en-US" sz="12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repeats, and uncertainty.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1486" y="5429250"/>
            <a:ext cx="110487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>
                <a:solidFill>
                  <a:srgbClr val="334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Traceability: preserve raw, point-level, summary, and specimen metadata for every run.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71486" y="5810250"/>
            <a:ext cx="1104872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rule: report a roughness effect only if separation persists at matched </a:t>
            </a:r>
            <a:r>
              <a:rPr lang="el-GR" sz="145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λ </a:t>
            </a:r>
            <a:r>
              <a:rPr lang="en-US" sz="145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repeats and exceeds combined uncertainty.</a:t>
            </a:r>
            <a:endParaRPr lang="en-US" sz="1450" b="1" dirty="0"/>
          </a:p>
        </p:txBody>
      </p:sp>
      <p:sp>
        <p:nvSpPr>
          <p:cNvPr id="36" name="Text 34"/>
          <p:cNvSpPr/>
          <p:nvPr/>
        </p:nvSpPr>
        <p:spPr>
          <a:xfrm>
            <a:off x="571486" y="6534150"/>
            <a:ext cx="11048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6D7F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completion protocol based on the present measurement and data audit.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83052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486" y="257175"/>
            <a:ext cx="27678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>
                <a:solidFill>
                  <a:srgbClr val="1675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A · DATA INVENTORY</a:t>
            </a:r>
            <a:endParaRPr lang="en-US" sz="1000" b="1" dirty="0"/>
          </a:p>
        </p:txBody>
      </p:sp>
      <p:sp>
        <p:nvSpPr>
          <p:cNvPr id="4" name="Text 2"/>
          <p:cNvSpPr/>
          <p:nvPr/>
        </p:nvSpPr>
        <p:spPr>
          <a:xfrm>
            <a:off x="571486" y="504825"/>
            <a:ext cx="1104872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numeric records are recovered; two roughness conditions remain incomplete</a:t>
            </a:r>
            <a:endParaRPr lang="en-US" sz="2300" b="1" dirty="0"/>
          </a:p>
        </p:txBody>
      </p:sp>
      <p:sp>
        <p:nvSpPr>
          <p:cNvPr id="5" name="Text 3"/>
          <p:cNvSpPr/>
          <p:nvPr/>
        </p:nvSpPr>
        <p:spPr>
          <a:xfrm>
            <a:off x="571486" y="1000125"/>
            <a:ext cx="1085822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reference, July no-texture baseline, and Ra20 are quantified; Ra80 extraction failed and Ra40 was not located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1486" y="1323975"/>
            <a:ext cx="11048724" cy="28575"/>
          </a:xfrm>
          <a:prstGeom prst="rect">
            <a:avLst/>
          </a:prstGeom>
          <a:solidFill>
            <a:srgbClr val="C9A4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1486" y="6553200"/>
            <a:ext cx="11048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6D7F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status based on connected project records reviewed through 9 September 2026.</a:t>
            </a:r>
            <a:endParaRPr lang="en-US" sz="850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27E412E-AFE6-2142-B559-583FDF5758D7}"/>
              </a:ext>
            </a:extLst>
          </p:cNvPr>
          <p:cNvGraphicFramePr>
            <a:graphicFrameLocks noGrp="1"/>
          </p:cNvGraphicFramePr>
          <p:nvPr/>
        </p:nvGraphicFramePr>
        <p:xfrm>
          <a:off x="571500" y="1739900"/>
          <a:ext cx="110490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0">
                  <a:extLst>
                    <a:ext uri="{9D8B030D-6E8A-4147-A177-3AD203B41FA5}">
                      <a16:colId xmlns:a16="http://schemas.microsoft.com/office/drawing/2014/main" val="3247273576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1103059562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845659257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Aptos"/>
                        </a:rPr>
                        <a:t>Condition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Aptos"/>
                        </a:rPr>
                        <a:t>Available record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Aptos"/>
                        </a:rPr>
                        <a:t>Interpretation status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1736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17365D"/>
                          </a:solidFill>
                          <a:latin typeface="Aptos"/>
                        </a:rPr>
                        <a:t>Smooth</a:t>
                      </a:r>
                    </a:p>
                  </a:txBody>
                  <a:tcPr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17365D"/>
                          </a:solidFill>
                          <a:latin typeface="Aptos"/>
                        </a:rPr>
                        <a:t>27 Jul 2026 · 16-point smooth 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17365D"/>
                          </a:solidFill>
                          <a:latin typeface="Aptos"/>
                        </a:rPr>
                        <a:t>Quantified; procedure differs from Ra20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4773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17365D"/>
                          </a:solidFill>
                          <a:latin typeface="Aptos"/>
                        </a:rPr>
                        <a:t>Ra20</a:t>
                      </a:r>
                    </a:p>
                  </a:txBody>
                  <a:tcPr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17365D"/>
                          </a:solidFill>
                          <a:latin typeface="Aptos"/>
                        </a:rPr>
                        <a:t>Complete 14-point automated sweep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17365D"/>
                          </a:solidFill>
                          <a:latin typeface="Aptos"/>
                        </a:rPr>
                        <a:t>Analyzed and repeatable; rotor rpm absent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136475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17365D"/>
                          </a:solidFill>
                          <a:latin typeface="Aptos"/>
                        </a:rPr>
                        <a:t>Ra40</a:t>
                      </a:r>
                    </a:p>
                  </a:txBody>
                  <a:tcPr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17365D"/>
                          </a:solidFill>
                          <a:latin typeface="Aptos"/>
                        </a:rPr>
                        <a:t>No run located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17365D"/>
                          </a:solidFill>
                          <a:latin typeface="Aptos"/>
                        </a:rPr>
                        <a:t>Missing condition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3353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17365D"/>
                          </a:solidFill>
                          <a:latin typeface="Aptos"/>
                        </a:rPr>
                        <a:t>Ra80</a:t>
                      </a:r>
                    </a:p>
                  </a:txBody>
                  <a:tcPr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17365D"/>
                          </a:solidFill>
                          <a:latin typeface="Aptos"/>
                        </a:rPr>
                        <a:t>Point + summary CSVs located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17365D"/>
                          </a:solidFill>
                          <a:latin typeface="Aptos"/>
                        </a:rPr>
                        <a:t>Numeric extraction and QA pending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348559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F18D0859-61FF-7845-A9DF-BC4AC667C866}"/>
              </a:ext>
            </a:extLst>
          </p:cNvPr>
          <p:cNvSpPr/>
          <p:nvPr/>
        </p:nvSpPr>
        <p:spPr>
          <a:xfrm>
            <a:off x="571500" y="5359400"/>
            <a:ext cx="11049000" cy="723900"/>
          </a:xfrm>
          <a:prstGeom prst="rect">
            <a:avLst/>
          </a:prstGeom>
          <a:solidFill>
            <a:srgbClr val="EEF3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rmAutofit/>
          </a:bodyPr>
          <a:lstStyle/>
          <a:p>
            <a:pPr algn="l"/>
            <a:r>
              <a:rPr lang="en-US" sz="1500" b="1">
                <a:solidFill>
                  <a:srgbClr val="17365D"/>
                </a:solidFill>
                <a:latin typeface="Aptos"/>
              </a:rPr>
              <a:t>Archive status: initial + smooth + Ra20 numeric · Ra80 pending extraction · Ra40 missing.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658919-D98E-594C-9E89-42F26670F9AF}"/>
              </a:ext>
            </a:extLst>
          </p:cNvPr>
          <p:cNvSpPr/>
          <p:nvPr/>
        </p:nvSpPr>
        <p:spPr>
          <a:xfrm>
            <a:off x="571500" y="5359400"/>
            <a:ext cx="63500" cy="723900"/>
          </a:xfrm>
          <a:prstGeom prst="rect">
            <a:avLst/>
          </a:prstGeom>
          <a:solidFill>
            <a:srgbClr val="C9A4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95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486" y="257175"/>
            <a:ext cx="27678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>
                <a:solidFill>
                  <a:srgbClr val="1675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B · CALIBRATION LINK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1486" y="504825"/>
            <a:ext cx="1104872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fan rpm connects tunnel calibration to electrical output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71486" y="1000125"/>
            <a:ext cx="1085822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audited reference points connect measured drive speed, wind speed, and Pmax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71486" y="1323975"/>
            <a:ext cx="11048724" cy="28575"/>
          </a:xfrm>
          <a:prstGeom prst="rect">
            <a:avLst/>
          </a:prstGeom>
          <a:solidFill>
            <a:srgbClr val="C9A4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1486" y="6553200"/>
            <a:ext cx="11048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D7F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Ra20 sweep summary and audited reference points, 26 August 2026.</a:t>
            </a:r>
            <a:endParaRPr lang="en-US" sz="1050" dirty="0"/>
          </a:p>
        </p:txBody>
      </p:sp>
      <p:graphicFrame>
        <p:nvGraphicFramePr>
          <p:cNvPr id="26" name="Calibration plot"/>
          <p:cNvGraphicFramePr/>
          <p:nvPr/>
        </p:nvGraphicFramePr>
        <p:xfrm>
          <a:off x="571500" y="1587500"/>
          <a:ext cx="5334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Drive response plot"/>
          <p:cNvGraphicFramePr/>
          <p:nvPr/>
        </p:nvGraphicFramePr>
        <p:xfrm>
          <a:off x="6286500" y="1587500"/>
          <a:ext cx="5334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915066B-0FC9-F64E-9A10-F058CE391837}"/>
              </a:ext>
            </a:extLst>
          </p:cNvPr>
          <p:cNvSpPr/>
          <p:nvPr/>
        </p:nvSpPr>
        <p:spPr>
          <a:xfrm>
            <a:off x="571500" y="5740400"/>
            <a:ext cx="11049000" cy="546100"/>
          </a:xfrm>
          <a:prstGeom prst="rect">
            <a:avLst/>
          </a:prstGeom>
          <a:solidFill>
            <a:srgbClr val="EDF3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rmAutofit/>
          </a:bodyPr>
          <a:lstStyle/>
          <a:p>
            <a:pPr algn="l"/>
            <a:r>
              <a:rPr lang="en-US" sz="1400" b="1">
                <a:solidFill>
                  <a:srgbClr val="173A63"/>
                </a:solidFill>
                <a:latin typeface="Aptos"/>
              </a:rPr>
              <a:t>Fan speed links the controlled input to measured wind and Pmax; rotor rpm is still required for aerodynamic performance.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B05B38-C29F-6748-AD98-5B97A81706A6}"/>
              </a:ext>
            </a:extLst>
          </p:cNvPr>
          <p:cNvSpPr/>
          <p:nvPr/>
        </p:nvSpPr>
        <p:spPr>
          <a:xfrm>
            <a:off x="571500" y="5740400"/>
            <a:ext cx="63500" cy="546100"/>
          </a:xfrm>
          <a:prstGeom prst="rect">
            <a:avLst/>
          </a:prstGeom>
          <a:solidFill>
            <a:srgbClr val="D8A9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26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486" y="257175"/>
            <a:ext cx="27678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1675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C · GENERATOR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1486" y="504825"/>
            <a:ext cx="1104872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 exponents reconstruct the measured Ra20 power law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71486" y="1000125"/>
            <a:ext cx="1085822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516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 ∝ v¹·⁵⁰ and Rint ∝ v⁻⁰·⁷⁹ predict n = 3.79—within 0.02 of measured 3.77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71486" y="1323975"/>
            <a:ext cx="11048724" cy="28575"/>
          </a:xfrm>
          <a:prstGeom prst="rect">
            <a:avLst/>
          </a:prstGeom>
          <a:solidFill>
            <a:srgbClr val="C9A4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1486" y="6553200"/>
            <a:ext cx="11048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D7F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generator-model audit and Wind Tunnel Logs, 26 August 2026.</a:t>
            </a:r>
            <a:endParaRPr lang="en-US" sz="1050" dirty="0"/>
          </a:p>
        </p:txBody>
      </p:sp>
      <p:graphicFrame>
        <p:nvGraphicFramePr>
          <p:cNvPr id="26" name="Generator input exponents"/>
          <p:cNvGraphicFramePr/>
          <p:nvPr/>
        </p:nvGraphicFramePr>
        <p:xfrm>
          <a:off x="571500" y="1587500"/>
          <a:ext cx="5334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Exponent reconstruction"/>
          <p:cNvGraphicFramePr/>
          <p:nvPr/>
        </p:nvGraphicFramePr>
        <p:xfrm>
          <a:off x="6286500" y="1587500"/>
          <a:ext cx="5334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9BFD276-8056-5C40-9B8F-1FBB9588D075}"/>
              </a:ext>
            </a:extLst>
          </p:cNvPr>
          <p:cNvSpPr/>
          <p:nvPr/>
        </p:nvSpPr>
        <p:spPr>
          <a:xfrm>
            <a:off x="571500" y="5740400"/>
            <a:ext cx="11049000" cy="546100"/>
          </a:xfrm>
          <a:prstGeom prst="rect">
            <a:avLst/>
          </a:prstGeom>
          <a:solidFill>
            <a:srgbClr val="EDF3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rmAutofit/>
          </a:bodyPr>
          <a:lstStyle/>
          <a:p>
            <a:pPr algn="l"/>
            <a:r>
              <a:rPr lang="en-US" sz="1400" b="1">
                <a:solidFill>
                  <a:srgbClr val="173A63"/>
                </a:solidFill>
                <a:latin typeface="Aptos"/>
              </a:rPr>
              <a:t>The 0.02 agreement validates the electrical generator model—not a blade-roughness ranking without matched Cp(</a:t>
            </a:r>
            <a:r>
              <a:rPr lang="el-GR" sz="1400" b="1">
                <a:solidFill>
                  <a:srgbClr val="173A63"/>
                </a:solidFill>
                <a:latin typeface="Aptos"/>
              </a:rPr>
              <a:t>λ) </a:t>
            </a:r>
            <a:r>
              <a:rPr lang="en-US" sz="1400" b="1">
                <a:solidFill>
                  <a:srgbClr val="173A63"/>
                </a:solidFill>
                <a:latin typeface="Aptos"/>
              </a:rPr>
              <a:t>curves.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C920D-489D-0347-8F9B-A9D67CA1ED56}"/>
              </a:ext>
            </a:extLst>
          </p:cNvPr>
          <p:cNvSpPr/>
          <p:nvPr/>
        </p:nvSpPr>
        <p:spPr>
          <a:xfrm>
            <a:off x="571500" y="5740400"/>
            <a:ext cx="63500" cy="546100"/>
          </a:xfrm>
          <a:prstGeom prst="rect">
            <a:avLst/>
          </a:prstGeom>
          <a:solidFill>
            <a:srgbClr val="D8A9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36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48771A8-8927-3748-9B7C-ABFBF2EA608A}">
  <we:reference id="WA200010215" version="2.0.0.0" store="Omex" storeType="OMEX"/>
  <we:alternateReferences>
    <we:reference id="WA200010215" version="2.0.0.0" store="WA200010215" storeType="OMEX"/>
  </we:alternateReferences>
  <we:properties>
    <we:property name="bps.codex_control.document_id" value="&quot;48eb117c-520a-4984-a065-6b2498453d8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33082</TotalTime>
  <Words>1643</Words>
  <Application>Microsoft Macintosh PowerPoint</Application>
  <PresentationFormat>Widescreen</PresentationFormat>
  <Paragraphs>222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Stephen Eacuello</cp:lastModifiedBy>
  <cp:revision>22</cp:revision>
  <dcterms:created xsi:type="dcterms:W3CDTF">2013-01-27T09:14:16Z</dcterms:created>
  <dcterms:modified xsi:type="dcterms:W3CDTF">2026-09-24T19:15:03Z</dcterms:modified>
  <cp:category/>
</cp:coreProperties>
</file>