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Setup pair = slides 2-3. Results pair = slides 4-5. Slides 6-7 are optional; 6 is the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Swept area is 2RH because it is a VAWT. Using pi*R^2 overstates Cp by 1.54x. The blade is a cambered plate, NOT an airfoil - it matters for any polar or XFOIL cross-check.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two watchdogs are the slide's point: each layer is watched by the layer BELOW it, so the host being wrong cannot run the fan away.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fingerprint is the campaign's integrity mechanism. Across a dozen rotors it is very easy to change a setting by accident and impossible to spot afterwards - the numbers stay plausible.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present v^3.77 as 'Cp still climbing with Reynolds'. A 9-agent audit on 25 Aug showed the exponent is a generator characteristic. Fitted from the CSV by src/generator_model.py: V_oc ~ v^1.50, R_int ~ v^-0.79, n = 2a-b = 3.79 vs 3.77 measured. The honest version is stronger and it is the argument for slide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ask, aimed at the person who owns the DAQ. Keep it concrete: channel number and pulses-per-rev, that is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Optional slide. For an academic audience this is the most credible thing in the deck - it shows the limits are known and quantified rather than unexamined.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1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B59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74519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B5985A"/>
                </a:solidFill>
                <a:latin typeface="Calibri"/>
              </a:rPr>
              <a:t>UNIVERSITY OF RHODE ISLAND  ·  SODHI LAB  ×  JEONG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377440"/>
            <a:ext cx="102412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Programmable Characterisation of</a:t>
            </a:r>
          </a:p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3D-Printed Wind Turbine Blades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8862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C0DDF2"/>
                </a:solidFill>
                <a:latin typeface="Calibri"/>
              </a:rPr>
              <a:t>Automated load sweeps in the Aerolab wind tunnel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4526280"/>
            <a:ext cx="2194560" cy="27432"/>
          </a:xfrm>
          <a:prstGeom prst="rect">
            <a:avLst/>
          </a:prstGeom>
          <a:solidFill>
            <a:srgbClr val="2277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84632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Stephen Acuello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C0DDF2"/>
                </a:solidFill>
                <a:latin typeface="Calibri"/>
              </a:rPr>
              <a:t>seacuello@uri.edu   ·   26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021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0292"/>
          </a:xfrm>
          <a:prstGeom prst="rect">
            <a:avLst/>
          </a:prstGeom>
          <a:solidFill>
            <a:srgbClr val="B59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5448"/>
            <a:ext cx="11185855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C0DDF2"/>
                </a:solidFill>
                <a:latin typeface="Calibri"/>
              </a:rPr>
              <a:t>SLIDE 1 OF 2  ·  EXPERIMENTAL 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9768"/>
            <a:ext cx="11185855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FFFFFF"/>
                </a:solidFill>
                <a:latin typeface="Calibri"/>
              </a:rPr>
              <a:t>The Rig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81328"/>
            <a:ext cx="12191695" cy="5376672"/>
          </a:xfrm>
          <a:prstGeom prst="rect">
            <a:avLst/>
          </a:prstGeom>
          <a:solidFill>
            <a:srgbClr val="F5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pic>
        <p:nvPicPr>
          <p:cNvPr id="7" name="Picture 6" descr="system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315" y="1591056"/>
            <a:ext cx="6552329" cy="41696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5815584"/>
            <a:ext cx="6675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 i="1">
                <a:solidFill>
                  <a:srgbClr val="5B7288"/>
                </a:solidFill>
                <a:latin typeface="Calibri"/>
              </a:rPr>
              <a:t>Full measurement and control chain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1591056"/>
            <a:ext cx="420624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2277B3"/>
                </a:solidFill>
                <a:latin typeface="Calibri"/>
              </a:rPr>
              <a:t>CONTROL CHAIN</a:t>
            </a:r>
          </a:p>
          <a:p>
            <a:pPr algn="l">
              <a:spcAft>
                <a:spcPts val="900"/>
              </a:spcAft>
            </a:pPr>
            <a:r>
              <a:rPr sz="1300" b="1">
                <a:solidFill>
                  <a:srgbClr val="002147"/>
                </a:solidFill>
                <a:latin typeface="Calibri"/>
              </a:rPr>
              <a:t>Drive — </a:t>
            </a:r>
            <a:r>
              <a:rPr sz="1300" b="0">
                <a:solidFill>
                  <a:srgbClr val="0D2338"/>
                </a:solidFill>
                <a:latin typeface="Calibri"/>
              </a:rPr>
              <a:t>ABB ACS550-U1-046A-2, 15 HP, 208–240 V 3φ. Commands speed in rpm; full scale 2435</a:t>
            </a:r>
          </a:p>
          <a:p>
            <a:pPr algn="l">
              <a:spcAft>
                <a:spcPts val="900"/>
              </a:spcAft>
            </a:pPr>
            <a:r>
              <a:rPr sz="1300" b="1">
                <a:solidFill>
                  <a:srgbClr val="002147"/>
                </a:solidFill>
                <a:latin typeface="Calibri"/>
              </a:rPr>
              <a:t>Path — </a:t>
            </a:r>
            <a:r>
              <a:rPr sz="1300" b="0">
                <a:solidFill>
                  <a:srgbClr val="0D2338"/>
                </a:solidFill>
                <a:latin typeface="Calibri"/>
              </a:rPr>
              <a:t>Python → USB → Portenta Machine Control → RS-485 Modbus → drive</a:t>
            </a:r>
          </a:p>
          <a:p>
            <a:pPr algn="l">
              <a:spcAft>
                <a:spcPts val="900"/>
              </a:spcAft>
            </a:pPr>
            <a:r>
              <a:rPr sz="1300" b="1">
                <a:solidFill>
                  <a:srgbClr val="002147"/>
                </a:solidFill>
                <a:latin typeface="Calibri"/>
              </a:rPr>
              <a:t>Load — </a:t>
            </a:r>
            <a:r>
              <a:rPr sz="1300" b="0">
                <a:solidFill>
                  <a:srgbClr val="0D2338"/>
                </a:solidFill>
                <a:latin typeface="Calibri"/>
              </a:rPr>
              <a:t>Chroma 63004-150-60 — sets the rotor's operating point and measures it</a:t>
            </a:r>
          </a:p>
          <a:p>
            <a:pPr algn="l">
              <a:spcAft>
                <a:spcPts val="900"/>
              </a:spcAft>
            </a:pPr>
            <a:r>
              <a:rPr sz="1300" b="1">
                <a:solidFill>
                  <a:srgbClr val="002147"/>
                </a:solidFill>
                <a:latin typeface="Calibri"/>
              </a:rPr>
              <a:t>Wind — </a:t>
            </a:r>
            <a:r>
              <a:rPr sz="1300" b="0">
                <a:solidFill>
                  <a:srgbClr val="0D2338"/>
                </a:solidFill>
                <a:latin typeface="Calibri"/>
              </a:rPr>
              <a:t>500–1800 rpm fan = 10.1–37.5 m/s, v = 0.02132·rpm − 0.424 (R² = 0.9996)</a:t>
            </a:r>
          </a:p>
          <a:p>
            <a:pPr algn="l">
              <a:spcAft>
                <a:spcPts val="900"/>
              </a:spcAft>
            </a:pPr>
            <a:r>
              <a:rPr sz="1300" b="1">
                <a:solidFill>
                  <a:srgbClr val="002147"/>
                </a:solidFill>
                <a:latin typeface="Calibri"/>
              </a:rPr>
              <a:t>Bandwidth — </a:t>
            </a:r>
            <a:r>
              <a:rPr sz="1300" b="0">
                <a:solidFill>
                  <a:srgbClr val="0D2338"/>
                </a:solidFill>
                <a:latin typeface="Calibri"/>
              </a:rPr>
              <a:t>τ = 0.63 ± 0.12 s, from five 1-cosine gusts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2277B3"/>
                </a:solidFill>
                <a:latin typeface="Calibri"/>
              </a:rPr>
              <a:t>ROTOR UNDER TEST</a:t>
            </a:r>
          </a:p>
          <a:p>
            <a:pPr algn="l">
              <a:spcAft>
                <a:spcPts val="900"/>
              </a:spcAft>
            </a:pPr>
            <a:r>
              <a:rPr sz="1300" b="1">
                <a:solidFill>
                  <a:srgbClr val="002147"/>
                </a:solidFill>
                <a:latin typeface="Calibri"/>
              </a:rPr>
              <a:t>Vertical-axis H-rotor</a:t>
            </a:r>
            <a:r>
              <a:rPr sz="1300" b="0">
                <a:solidFill>
                  <a:srgbClr val="0D2338"/>
                </a:solidFill>
                <a:latin typeface="Calibri"/>
              </a:rPr>
              <a:t>, 3 blades, R = 101.6 mm, span 245 mm. Swept area 2RH = 0.0498 m² — a cylinder, not a disc.</a:t>
            </a:r>
          </a:p>
          <a:p>
            <a:pPr algn="l">
              <a:spcAft>
                <a:spcPts val="0"/>
              </a:spcAft>
            </a:pPr>
            <a:r>
              <a:rPr sz="1300" b="1">
                <a:solidFill>
                  <a:srgbClr val="002147"/>
                </a:solidFill>
                <a:latin typeface="Calibri"/>
              </a:rPr>
              <a:t>Blade: </a:t>
            </a:r>
            <a:r>
              <a:rPr sz="1300" b="0">
                <a:solidFill>
                  <a:srgbClr val="0D2338"/>
                </a:solidFill>
                <a:latin typeface="Calibri"/>
              </a:rPr>
              <a:t>thin cambered plate — 1.79 mm wall, t/c 4%, 42% camber, 183° turning. Not an airfoil.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021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0292"/>
          </a:xfrm>
          <a:prstGeom prst="rect">
            <a:avLst/>
          </a:prstGeom>
          <a:solidFill>
            <a:srgbClr val="B59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5448"/>
            <a:ext cx="11185855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C0DDF2"/>
                </a:solidFill>
                <a:latin typeface="Calibri"/>
              </a:rPr>
              <a:t>SLIDE 2 OF 2  ·  EXPERIMENTAL 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9768"/>
            <a:ext cx="11185855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FFFFFF"/>
                </a:solidFill>
                <a:latin typeface="Calibri"/>
              </a:rPr>
              <a:t>Safety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81328"/>
            <a:ext cx="12191695" cy="5376672"/>
          </a:xfrm>
          <a:prstGeom prst="rect">
            <a:avLst/>
          </a:prstGeom>
          <a:solidFill>
            <a:srgbClr val="F5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618488"/>
            <a:ext cx="11155680" cy="868680"/>
          </a:xfrm>
          <a:prstGeom prst="rect">
            <a:avLst/>
          </a:prstGeom>
          <a:solidFill>
            <a:srgbClr val="FDF0EE"/>
          </a:solidFill>
          <a:ln w="1270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l">
              <a:spcAft>
                <a:spcPts val="300"/>
              </a:spcAft>
            </a:pPr>
            <a:r>
              <a:rPr sz="1900" b="1" i="0">
                <a:solidFill>
                  <a:srgbClr val="B3261E"/>
                </a:solidFill>
                <a:latin typeface="Calibri"/>
              </a:rPr>
              <a:t>The hardwired E-stop is the safety device.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0D2338"/>
                </a:solidFill>
                <a:latin typeface="Calibri"/>
              </a:rPr>
              <a:t>No software is in that chain. Everything below reduces how often it is needed — none of it replaces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688336"/>
            <a:ext cx="3538728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0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64592"/>
          <a:lstStyle/>
          <a:p>
            <a:pPr algn="l">
              <a:spcAft>
                <a:spcPts val="1000"/>
              </a:spcAft>
            </a:pPr>
            <a:r>
              <a:rPr sz="1250" b="1" i="0">
                <a:solidFill>
                  <a:srgbClr val="2277B3"/>
                </a:solidFill>
                <a:latin typeface="Calibri"/>
              </a:rPr>
              <a:t>TWO INDEPENDENT WATCHDOGS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2277B3"/>
                </a:solidFill>
                <a:latin typeface="Calibri"/>
              </a:rPr>
              <a:t>• </a:t>
            </a:r>
            <a:r>
              <a:rPr sz="1250" b="1">
                <a:solidFill>
                  <a:srgbClr val="002147"/>
                </a:solidFill>
                <a:latin typeface="Calibri"/>
              </a:rPr>
              <a:t>The drive stops the fan</a:t>
            </a:r>
            <a:r>
              <a:rPr sz="1250" b="0">
                <a:solidFill>
                  <a:srgbClr val="0D2338"/>
                </a:solidFill>
                <a:latin typeface="Calibri"/>
              </a:rPr>
              <a:t> if the PMC goes quiet — par 3018/3019, 3.0 s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2277B3"/>
                </a:solidFill>
                <a:latin typeface="Calibri"/>
              </a:rPr>
              <a:t>• </a:t>
            </a:r>
            <a:r>
              <a:rPr sz="1250" b="1">
                <a:solidFill>
                  <a:srgbClr val="002147"/>
                </a:solidFill>
                <a:latin typeface="Calibri"/>
              </a:rPr>
              <a:t>The PMC stops the fan</a:t>
            </a:r>
            <a:r>
              <a:rPr sz="1250" b="0">
                <a:solidFill>
                  <a:srgbClr val="0D2338"/>
                </a:solidFill>
                <a:latin typeface="Calibri"/>
              </a:rPr>
              <a:t> if the host goes quiet — 5.0 s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2277B3"/>
                </a:solidFill>
                <a:latin typeface="Calibri"/>
              </a:rPr>
              <a:t>• </a:t>
            </a:r>
            <a:r>
              <a:rPr sz="1250" b="1">
                <a:solidFill>
                  <a:srgbClr val="002147"/>
                </a:solidFill>
                <a:latin typeface="Calibri"/>
              </a:rPr>
              <a:t/>
            </a:r>
            <a:r>
              <a:rPr sz="1250" b="0">
                <a:solidFill>
                  <a:srgbClr val="0D2338"/>
                </a:solidFill>
                <a:latin typeface="Calibri"/>
              </a:rPr>
              <a:t>Neither depends on the layer above it being correct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0248" y="2688336"/>
            <a:ext cx="3538728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0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64592"/>
          <a:lstStyle/>
          <a:p>
            <a:pPr algn="l">
              <a:spcAft>
                <a:spcPts val="1000"/>
              </a:spcAft>
            </a:pPr>
            <a:r>
              <a:rPr sz="1250" b="1" i="0">
                <a:solidFill>
                  <a:srgbClr val="2277B3"/>
                </a:solidFill>
                <a:latin typeface="Calibri"/>
              </a:rPr>
              <a:t>ONE MODBUS MASTER ONLY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2277B3"/>
                </a:solidFill>
                <a:latin typeface="Calibri"/>
              </a:rPr>
              <a:t>• </a:t>
            </a:r>
            <a:r>
              <a:rPr sz="1250" b="1">
                <a:solidFill>
                  <a:srgbClr val="002147"/>
                </a:solidFill>
                <a:latin typeface="Calibri"/>
              </a:rPr>
              <a:t>The PMC is the master.</a:t>
            </a:r>
            <a:r>
              <a:rPr sz="1250" b="0">
                <a:solidFill>
                  <a:srgbClr val="0D2338"/>
                </a:solidFill>
                <a:latin typeface="Calibri"/>
              </a:rPr>
              <a:t> Modbus RTU permits exactly one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2277B3"/>
                </a:solidFill>
                <a:latin typeface="Calibri"/>
              </a:rPr>
              <a:t>• </a:t>
            </a:r>
            <a:r>
              <a:rPr sz="1250" b="1">
                <a:solidFill>
                  <a:srgbClr val="002147"/>
                </a:solidFill>
                <a:latin typeface="Calibri"/>
              </a:rPr>
              <a:t/>
            </a:r>
            <a:r>
              <a:rPr sz="1250" b="0">
                <a:solidFill>
                  <a:srgbClr val="0D2338"/>
                </a:solidFill>
                <a:latin typeface="Calibri"/>
              </a:rPr>
              <a:t>A direct host-to-drive cable must never be landed as well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2277B3"/>
                </a:solidFill>
                <a:latin typeface="Calibri"/>
              </a:rPr>
              <a:t>• </a:t>
            </a:r>
            <a:r>
              <a:rPr sz="1250" b="1">
                <a:solidFill>
                  <a:srgbClr val="002147"/>
                </a:solidFill>
                <a:latin typeface="Calibri"/>
              </a:rPr>
              <a:t/>
            </a:r>
            <a:r>
              <a:rPr sz="1250" b="0">
                <a:solidFill>
                  <a:srgbClr val="0D2338"/>
                </a:solidFill>
                <a:latin typeface="Calibri"/>
              </a:rPr>
              <a:t>Two devices commanding a 15 HP fan, neither aware of the other, is the failure this prevents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7576" y="2688336"/>
            <a:ext cx="3538728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0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64592"/>
          <a:lstStyle/>
          <a:p>
            <a:pPr algn="l">
              <a:spcAft>
                <a:spcPts val="1000"/>
              </a:spcAft>
            </a:pPr>
            <a:r>
              <a:rPr sz="1250" b="1" i="0">
                <a:solidFill>
                  <a:srgbClr val="2277B3"/>
                </a:solidFill>
                <a:latin typeface="Calibri"/>
              </a:rPr>
              <a:t>TURBINE INTERLOCK</a:t>
            </a:r>
          </a:p>
          <a:p>
            <a:pPr algn="l">
              <a:spcAft>
                <a:spcPts val="900"/>
              </a:spcAft>
            </a:pPr>
            <a:r>
              <a:rPr sz="1300" b="1" i="0">
                <a:solidFill>
                  <a:srgbClr val="8A7038"/>
                </a:solidFill>
                <a:latin typeface="Consolas"/>
              </a:rPr>
              <a:t>load ON → wind UP → test → wind DOWN → load OFF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2277B3"/>
                </a:solidFill>
                <a:latin typeface="Calibri"/>
              </a:rPr>
              <a:t>• </a:t>
            </a:r>
            <a:r>
              <a:rPr sz="1250" b="1">
                <a:solidFill>
                  <a:srgbClr val="002147"/>
                </a:solidFill>
                <a:latin typeface="Calibri"/>
              </a:rPr>
              <a:t/>
            </a:r>
            <a:r>
              <a:rPr sz="1250" b="0">
                <a:solidFill>
                  <a:srgbClr val="0D2338"/>
                </a:solidFill>
                <a:latin typeface="Calibri"/>
              </a:rPr>
              <a:t>An unloaded rotor in moving air accelerates until something mechanical stops it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2277B3"/>
                </a:solidFill>
                <a:latin typeface="Calibri"/>
              </a:rPr>
              <a:t>• </a:t>
            </a:r>
            <a:r>
              <a:rPr sz="1250" b="1">
                <a:solidFill>
                  <a:srgbClr val="002147"/>
                </a:solidFill>
                <a:latin typeface="Calibri"/>
              </a:rPr>
              <a:t/>
            </a:r>
            <a:r>
              <a:rPr sz="1250" b="0">
                <a:solidFill>
                  <a:srgbClr val="0D2338"/>
                </a:solidFill>
                <a:latin typeface="Calibri"/>
              </a:rPr>
              <a:t>Enforced on every path that can move the fan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2277B3"/>
                </a:solidFill>
                <a:latin typeface="Calibri"/>
              </a:rPr>
              <a:t>• </a:t>
            </a:r>
            <a:r>
              <a:rPr sz="1250" b="1">
                <a:solidFill>
                  <a:srgbClr val="002147"/>
                </a:solidFill>
                <a:latin typeface="Calibri"/>
              </a:rPr>
              <a:t>If the fan cannot be confirmed stopped,</a:t>
            </a:r>
            <a:r>
              <a:rPr sz="1250" b="0">
                <a:solidFill>
                  <a:srgbClr val="0D2338"/>
                </a:solidFill>
                <a:latin typeface="Calibri"/>
              </a:rPr>
              <a:t> the load stays 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5742432"/>
            <a:ext cx="11185855" cy="658368"/>
          </a:xfrm>
          <a:prstGeom prst="rect">
            <a:avLst/>
          </a:prstGeom>
          <a:solidFill>
            <a:srgbClr val="0021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/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Each layer is watched by the layer below it — so a host that is wrong, hung or unplugged cannot run the fan away.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021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0292"/>
          </a:xfrm>
          <a:prstGeom prst="rect">
            <a:avLst/>
          </a:prstGeom>
          <a:solidFill>
            <a:srgbClr val="B59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5448"/>
            <a:ext cx="11185855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C0DDF2"/>
                </a:solidFill>
                <a:latin typeface="Calibri"/>
              </a:rPr>
              <a:t>SLIDE 1 OF 2  · 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9768"/>
            <a:ext cx="11185855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FFFFFF"/>
                </a:solidFill>
                <a:latin typeface="Calibri"/>
              </a:rPr>
              <a:t>Method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81328"/>
            <a:ext cx="12191695" cy="5376672"/>
          </a:xfrm>
          <a:prstGeom prst="rect">
            <a:avLst/>
          </a:prstGeom>
          <a:solidFill>
            <a:srgbClr val="F5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591056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0D2338"/>
                </a:solidFill>
                <a:latin typeface="Calibri"/>
              </a:rPr>
              <a:t>Automated blade characterisation — </a:t>
            </a:r>
            <a:r>
              <a:rPr sz="1700" b="1">
                <a:solidFill>
                  <a:srgbClr val="002147"/>
                </a:solidFill>
                <a:latin typeface="Calibri"/>
              </a:rPr>
              <a:t>~10 minutes per rotor, unattended, 14 wind speeds</a:t>
            </a:r>
          </a:p>
        </p:txBody>
      </p:sp>
      <p:pic>
        <p:nvPicPr>
          <p:cNvPr id="8" name="Picture 7" descr="sweep_protoc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3583" y="2103120"/>
            <a:ext cx="5376672" cy="37124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5870448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 i="1">
                <a:solidFill>
                  <a:srgbClr val="5B7288"/>
                </a:solidFill>
                <a:latin typeface="Calibri"/>
              </a:rPr>
              <a:t>Outer loop = wind speed; inner loop = load current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2103120"/>
            <a:ext cx="406908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2277B3"/>
                </a:solidFill>
                <a:latin typeface="Calibri"/>
              </a:rPr>
              <a:t>AT EACH WIND SPEED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2277B3"/>
                </a:solidFill>
                <a:latin typeface="Calibri"/>
              </a:rPr>
              <a:t>• </a:t>
            </a:r>
            <a:r>
              <a:rPr sz="1300" b="0">
                <a:solidFill>
                  <a:srgbClr val="0D2338"/>
                </a:solidFill>
                <a:latin typeface="Calibri"/>
              </a:rPr>
              <a:t>Ramp the electronic load in constant-current steps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2277B3"/>
                </a:solidFill>
                <a:latin typeface="Calibri"/>
              </a:rPr>
              <a:t>• </a:t>
            </a:r>
            <a:r>
              <a:rPr sz="1300" b="0">
                <a:solidFill>
                  <a:srgbClr val="0D2338"/>
                </a:solidFill>
                <a:latin typeface="Calibri"/>
              </a:rPr>
              <a:t>Stop once electrical power falls to 80% of its peak — the rotor is never driven to stall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2277B3"/>
                </a:solidFill>
                <a:latin typeface="Calibri"/>
              </a:rPr>
              <a:t>• </a:t>
            </a:r>
            <a:r>
              <a:rPr sz="1300" b="0">
                <a:solidFill>
                  <a:srgbClr val="0D2338"/>
                </a:solidFill>
                <a:latin typeface="Calibri"/>
              </a:rPr>
              <a:t>Record V and I at every step, unload, advance the wind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2277B3"/>
                </a:solidFill>
                <a:latin typeface="Calibri"/>
              </a:rPr>
              <a:t>WHY A PARABOLIC FIT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0D2338"/>
                </a:solidFill>
                <a:latin typeface="Calibri"/>
              </a:rPr>
              <a:t>The top of P(I) is flat. The largest single sample is biased high, and the bias grows with sample count — so blades with different point counts would be compared unfairly.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2277B3"/>
                </a:solidFill>
                <a:latin typeface="Calibri"/>
              </a:rPr>
              <a:t>PROTOCOL FINGERPRINT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0D2338"/>
                </a:solidFill>
                <a:latin typeface="Calibri"/>
              </a:rPr>
              <a:t>Every run carries one. </a:t>
            </a:r>
            <a:r>
              <a:rPr sz="1300" b="1">
                <a:solidFill>
                  <a:srgbClr val="002147"/>
                </a:solidFill>
                <a:latin typeface="Calibri"/>
              </a:rPr>
              <a:t>Runs measured under different settings are not comparable</a:t>
            </a:r>
            <a:r>
              <a:rPr sz="1300" b="0">
                <a:solidFill>
                  <a:srgbClr val="0D2338"/>
                </a:solidFill>
                <a:latin typeface="Calibri"/>
              </a:rPr>
              <a:t> — the fingerprint makes that visible instead of silent.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021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0292"/>
          </a:xfrm>
          <a:prstGeom prst="rect">
            <a:avLst/>
          </a:prstGeom>
          <a:solidFill>
            <a:srgbClr val="B59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5448"/>
            <a:ext cx="11185855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C0DDF2"/>
                </a:solidFill>
                <a:latin typeface="Calibri"/>
              </a:rPr>
              <a:t>SLIDE 2 OF 2  · 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9768"/>
            <a:ext cx="11185855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FFFFFF"/>
                </a:solidFill>
                <a:latin typeface="Calibri"/>
              </a:rPr>
              <a:t>Blade v1, Ra 20 µm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81328"/>
            <a:ext cx="12191695" cy="5376672"/>
          </a:xfrm>
          <a:prstGeom prst="rect">
            <a:avLst/>
          </a:prstGeom>
          <a:solidFill>
            <a:srgbClr val="F5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18488"/>
          <a:ext cx="557784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1097280"/>
                <a:gridCol w="960120"/>
                <a:gridCol w="1188720"/>
                <a:gridCol w="109728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fan rpm cmd</a:t>
                      </a:r>
                    </a:p>
                  </a:txBody>
                  <a:tcPr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measured</a:t>
                      </a:r>
                    </a:p>
                  </a:txBody>
                  <a:tcPr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m/s</a:t>
                      </a:r>
                    </a:p>
                  </a:txBody>
                  <a:tcPr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P_max</a:t>
                      </a:r>
                    </a:p>
                  </a:txBody>
                  <a:tcPr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at</a:t>
                      </a:r>
                    </a:p>
                  </a:txBody>
                  <a:tcPr>
                    <a:solidFill>
                      <a:srgbClr val="00214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D2338"/>
                          </a:solidFill>
                          <a:latin typeface="Consolas"/>
                        </a:rPr>
                        <a:t>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D2338"/>
                          </a:solidFill>
                          <a:latin typeface="Consolas"/>
                        </a:rPr>
                        <a:t>496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D2338"/>
                          </a:solidFill>
                          <a:latin typeface="Consolas"/>
                        </a:rPr>
                        <a:t>10.1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D2338"/>
                          </a:solidFill>
                          <a:latin typeface="Consolas"/>
                        </a:rPr>
                        <a:t>0.030 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D2338"/>
                          </a:solidFill>
                          <a:latin typeface="Consolas"/>
                        </a:rPr>
                        <a:t>0.018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D2338"/>
                          </a:solidFill>
                          <a:latin typeface="Consolas"/>
                        </a:rPr>
                        <a:t>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D2338"/>
                          </a:solidFill>
                          <a:latin typeface="Consolas"/>
                        </a:rPr>
                        <a:t>894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D2338"/>
                          </a:solidFill>
                          <a:latin typeface="Consolas"/>
                        </a:rPr>
                        <a:t>18.6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D2338"/>
                          </a:solidFill>
                          <a:latin typeface="Consolas"/>
                        </a:rPr>
                        <a:t>0.273 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D2338"/>
                          </a:solidFill>
                          <a:latin typeface="Consolas"/>
                        </a:rPr>
                        <a:t>0.068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D2338"/>
                          </a:solidFill>
                          <a:latin typeface="Consolas"/>
                        </a:rPr>
                        <a:t>1400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D2338"/>
                          </a:solidFill>
                          <a:latin typeface="Consolas"/>
                        </a:rPr>
                        <a:t>1384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D2338"/>
                          </a:solidFill>
                          <a:latin typeface="Consolas"/>
                        </a:rPr>
                        <a:t>29.1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D2338"/>
                          </a:solidFill>
                          <a:latin typeface="Consolas"/>
                        </a:rPr>
                        <a:t>1.665 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D2338"/>
                          </a:solidFill>
                          <a:latin typeface="Consolas"/>
                        </a:rPr>
                        <a:t>0.240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2147"/>
                          </a:solidFill>
                          <a:latin typeface="Consolas"/>
                        </a:rPr>
                        <a:t>1800</a:t>
                      </a:r>
                    </a:p>
                  </a:txBody>
                  <a:tcPr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02147"/>
                          </a:solidFill>
                          <a:latin typeface="Consolas"/>
                        </a:rPr>
                        <a:t>1779</a:t>
                      </a:r>
                    </a:p>
                  </a:txBody>
                  <a:tcPr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02147"/>
                          </a:solidFill>
                          <a:latin typeface="Consolas"/>
                        </a:rPr>
                        <a:t>37.5</a:t>
                      </a:r>
                    </a:p>
                  </a:txBody>
                  <a:tcPr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02147"/>
                          </a:solidFill>
                          <a:latin typeface="Consolas"/>
                        </a:rPr>
                        <a:t>3.793 W</a:t>
                      </a:r>
                    </a:p>
                  </a:txBody>
                  <a:tcPr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02147"/>
                          </a:solidFill>
                          <a:latin typeface="Consolas"/>
                        </a:rPr>
                        <a:t>0.320 A</a:t>
                      </a:r>
                    </a:p>
                  </a:txBody>
                  <a:tcPr>
                    <a:solidFill>
                      <a:srgbClr val="EAF1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3657600"/>
            <a:ext cx="5577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1">
                <a:solidFill>
                  <a:srgbClr val="5B7288"/>
                </a:solidFill>
                <a:latin typeface="Calibri"/>
              </a:rPr>
              <a:t>Wind speed is derived from MEASURED fan rpm, not commanded — the drive settles 4–13 rpm below setpoint.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995928"/>
            <a:ext cx="557784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0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1F7A52"/>
                </a:solidFill>
                <a:latin typeface="Calibri"/>
              </a:rPr>
              <a:t>WHAT IS SOLID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1F7A52"/>
                </a:solidFill>
                <a:latin typeface="Calibri"/>
              </a:rPr>
              <a:t>• </a:t>
            </a:r>
            <a:r>
              <a:rPr sz="1250" b="0">
                <a:solidFill>
                  <a:srgbClr val="0D2338"/>
                </a:solidFill>
                <a:latin typeface="Calibri"/>
              </a:rPr>
              <a:t>14 / 14 points clean, single continuous run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1F7A52"/>
                </a:solidFill>
                <a:latin typeface="Calibri"/>
              </a:rPr>
              <a:t>• </a:t>
            </a:r>
            <a:r>
              <a:rPr sz="1250" b="0">
                <a:solidFill>
                  <a:srgbClr val="0D2338"/>
                </a:solidFill>
                <a:latin typeface="Calibri"/>
              </a:rPr>
              <a:t>P ∝ v^3.77, R² = 0.998 across 10.1–37.5 m/s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1F7A52"/>
                </a:solidFill>
                <a:latin typeface="Calibri"/>
              </a:rPr>
              <a:t>• </a:t>
            </a:r>
            <a:r>
              <a:rPr sz="1250" b="0">
                <a:solidFill>
                  <a:srgbClr val="0D2338"/>
                </a:solidFill>
                <a:latin typeface="Calibri"/>
              </a:rPr>
              <a:t>Independent repeats at 1200 and 1800 rpm match to 0.3% / 0.2%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618488"/>
            <a:ext cx="5394960" cy="3950208"/>
          </a:xfrm>
          <a:prstGeom prst="rect">
            <a:avLst/>
          </a:prstGeom>
          <a:solidFill>
            <a:srgbClr val="FFFFFF"/>
          </a:solidFill>
          <a:ln w="12700">
            <a:solidFill>
              <a:srgbClr val="B59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64592"/>
          <a:lstStyle/>
          <a:p>
            <a:pPr algn="l">
              <a:spcAft>
                <a:spcPts val="1000"/>
              </a:spcAft>
            </a:pPr>
            <a:r>
              <a:rPr sz="1250" b="1" i="0">
                <a:solidFill>
                  <a:srgbClr val="8A7038"/>
                </a:solidFill>
                <a:latin typeface="Calibri"/>
              </a:rPr>
              <a:t>WHAT IT DOES NOT YET SHOW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0D2338"/>
                </a:solidFill>
                <a:latin typeface="Calibri"/>
              </a:rPr>
              <a:t>This is electrical power at the terminals — </a:t>
            </a:r>
            <a:r>
              <a:rPr sz="1500" b="1">
                <a:solidFill>
                  <a:srgbClr val="B3261E"/>
                </a:solidFill>
                <a:latin typeface="Calibri"/>
              </a:rPr>
              <a:t>not Cp</a:t>
            </a:r>
            <a:r>
              <a:rPr sz="1500" b="0">
                <a:solidFill>
                  <a:srgbClr val="0D2338"/>
                </a:solidFill>
                <a:latin typeface="Calibri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8A7038"/>
                </a:solidFill>
                <a:latin typeface="Calibri"/>
              </a:rPr>
              <a:t>That exponent describes the GENERATOR, not the blade:</a:t>
            </a:r>
          </a:p>
          <a:p>
            <a:pPr algn="l" lvl="1">
              <a:spcAft>
                <a:spcPts val="500"/>
              </a:spcAft>
            </a:pPr>
            <a:r>
              <a:rPr sz="1150" b="0" i="0">
                <a:solidFill>
                  <a:srgbClr val="002147"/>
                </a:solidFill>
                <a:latin typeface="Consolas"/>
              </a:rPr>
              <a:t>V_oc ∝ v^1.50      R_int ∝ v^-0.79</a:t>
            </a:r>
          </a:p>
          <a:p>
            <a:pPr algn="l" lvl="1">
              <a:spcAft>
                <a:spcPts val="500"/>
              </a:spcAft>
            </a:pPr>
            <a:r>
              <a:rPr sz="1150" b="0" i="0">
                <a:solidFill>
                  <a:srgbClr val="002147"/>
                </a:solidFill>
                <a:latin typeface="Consolas"/>
              </a:rPr>
              <a:t>R_int falls 88 → 36 Ω across the range</a:t>
            </a:r>
          </a:p>
          <a:p>
            <a:pPr algn="l" lvl="1">
              <a:spcAft>
                <a:spcPts val="500"/>
              </a:spcAft>
            </a:pPr>
            <a:r>
              <a:rPr sz="1150" b="0" i="0">
                <a:solidFill>
                  <a:srgbClr val="002147"/>
                </a:solidFill>
                <a:latin typeface="Consolas"/>
              </a:rPr>
              <a:t>peaks at the Thévenin match, P = V_oc²/4R_int</a:t>
            </a:r>
          </a:p>
          <a:p>
            <a:pPr algn="l" lvl="1">
              <a:spcAft>
                <a:spcPts val="500"/>
              </a:spcAft>
            </a:pPr>
            <a:r>
              <a:rPr sz="1150" b="0" i="0">
                <a:solidFill>
                  <a:srgbClr val="002147"/>
                </a:solidFill>
                <a:latin typeface="Consolas"/>
              </a:rPr>
              <a:t>n = 2a − b = 3.79   vs   3.77 measured</a:t>
            </a:r>
          </a:p>
          <a:p>
            <a:pPr algn="l">
              <a:spcAft>
                <a:spcPts val="1000"/>
              </a:spcAft>
            </a:pPr>
            <a:r>
              <a:rPr sz="1300" b="1">
                <a:solidFill>
                  <a:srgbClr val="8A7038"/>
                </a:solidFill>
                <a:latin typeface="Calibri"/>
              </a:rPr>
              <a:t>→ </a:t>
            </a:r>
            <a:r>
              <a:rPr sz="1300" b="0">
                <a:solidFill>
                  <a:srgbClr val="0D2338"/>
                </a:solidFill>
                <a:latin typeface="Calibri"/>
              </a:rPr>
              <a:t>Almost nothing is left for the blade to move. Without rotor speed, comparing blades partly means comparing the generator.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0D2338"/>
                </a:solidFill>
                <a:latin typeface="Calibri"/>
              </a:rPr>
              <a:t>Efficiency is </a:t>
            </a:r>
            <a:r>
              <a:rPr sz="1300" b="1">
                <a:solidFill>
                  <a:srgbClr val="B3261E"/>
                </a:solidFill>
                <a:latin typeface="Calibri"/>
              </a:rPr>
              <a:t>Cp = 0.10–0.24%</a:t>
            </a:r>
            <a:r>
              <a:rPr sz="1300" b="0">
                <a:solidFill>
                  <a:srgbClr val="0D2338"/>
                </a:solidFill>
                <a:latin typeface="Calibri"/>
              </a:rPr>
              <a:t>, about 100× below a working turbine — the rotor spins far too fast for its own good, held there by the generator.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5742432"/>
            <a:ext cx="11185855" cy="658368"/>
          </a:xfrm>
          <a:prstGeom prst="rect">
            <a:avLst/>
          </a:prstGeom>
          <a:solidFill>
            <a:srgbClr val="0021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/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The measurement is sound. Its interpretation needs rotor speed — which is the next slide.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021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0292"/>
          </a:xfrm>
          <a:prstGeom prst="rect">
            <a:avLst/>
          </a:prstGeom>
          <a:solidFill>
            <a:srgbClr val="B59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5448"/>
            <a:ext cx="11185855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C0DDF2"/>
                </a:solidFill>
                <a:latin typeface="Calibri"/>
              </a:rPr>
              <a:t>OPTIONAL  ·  THE NEXT MEASUREMENT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9768"/>
            <a:ext cx="11185855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FFFFFF"/>
                </a:solidFill>
                <a:latin typeface="Calibri"/>
              </a:rPr>
              <a:t>One Channel Unlocks Cp(λ)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81328"/>
            <a:ext cx="12191695" cy="5376672"/>
          </a:xfrm>
          <a:prstGeom prst="rect">
            <a:avLst/>
          </a:prstGeom>
          <a:solidFill>
            <a:srgbClr val="F5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618488"/>
            <a:ext cx="11155680" cy="1051560"/>
          </a:xfrm>
          <a:prstGeom prst="rect">
            <a:avLst/>
          </a:prstGeom>
          <a:solidFill>
            <a:srgbClr val="EFF6F1"/>
          </a:solidFill>
          <a:ln w="12700">
            <a:solidFill>
              <a:srgbClr val="1F7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l">
              <a:spcAft>
                <a:spcPts val="300"/>
              </a:spcAft>
            </a:pPr>
            <a:r>
              <a:rPr sz="1900" b="1" i="0">
                <a:solidFill>
                  <a:srgbClr val="1F7A52"/>
                </a:solidFill>
                <a:latin typeface="Calibri"/>
              </a:rPr>
              <a:t>The rotor-speed measurement already exists in the Jeong lab DAQ.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0D2338"/>
                </a:solidFill>
                <a:latin typeface="Calibri"/>
              </a:rPr>
              <a:t>A proximity sensor on the rig already records it. What is needed is its channel number and pulses-per-revolution — not new hardware.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852928"/>
            <a:ext cx="5486400" cy="2999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0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64592"/>
          <a:lstStyle/>
          <a:p>
            <a:pPr algn="l">
              <a:spcAft>
                <a:spcPts val="1000"/>
              </a:spcAft>
            </a:pPr>
            <a:r>
              <a:rPr sz="1200" b="1" i="0">
                <a:solidFill>
                  <a:srgbClr val="2277B3"/>
                </a:solidFill>
                <a:latin typeface="Calibri"/>
              </a:rPr>
              <a:t>WHY IT MATTERS MORE THAN ANY BLADE RUN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2277B3"/>
                </a:solidFill>
                <a:latin typeface="Calibri"/>
              </a:rPr>
              <a:t>• </a:t>
            </a:r>
            <a:r>
              <a:rPr sz="1300" b="0">
                <a:solidFill>
                  <a:srgbClr val="0D2338"/>
                </a:solidFill>
                <a:latin typeface="Calibri"/>
              </a:rPr>
              <a:t>Without rotor speed there is no λ and no Cp — the rig cannot tell blade aerodynamics from generator matching.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2277B3"/>
                </a:solidFill>
                <a:latin typeface="Calibri"/>
              </a:rPr>
              <a:t>• </a:t>
            </a:r>
            <a:r>
              <a:rPr sz="1300" b="0">
                <a:solidFill>
                  <a:srgbClr val="0D2338"/>
                </a:solidFill>
                <a:latin typeface="Calibri"/>
              </a:rPr>
              <a:t>A better blade can measure as LESS power. A blade that grabs more energy spins slower, and slower means less voltage, so the meter reads lower.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2277B3"/>
                </a:solidFill>
                <a:latin typeface="Calibri"/>
              </a:rPr>
              <a:t>• </a:t>
            </a:r>
            <a:r>
              <a:rPr sz="1300" b="0">
                <a:solidFill>
                  <a:srgbClr val="0D2338"/>
                </a:solidFill>
                <a:latin typeface="Calibri"/>
              </a:rPr>
              <a:t>Two rotors five times apart in efficiency would rank purely by how freely they spin.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2852928"/>
            <a:ext cx="5486400" cy="2999232"/>
          </a:xfrm>
          <a:prstGeom prst="rect">
            <a:avLst/>
          </a:prstGeom>
          <a:solidFill>
            <a:srgbClr val="FFFFFF"/>
          </a:solidFill>
          <a:ln w="12700">
            <a:solidFill>
              <a:srgbClr val="B59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64592"/>
          <a:lstStyle/>
          <a:p>
            <a:pPr algn="l">
              <a:spcAft>
                <a:spcPts val="1000"/>
              </a:spcAft>
            </a:pPr>
            <a:r>
              <a:rPr sz="1200" b="1" i="0">
                <a:solidFill>
                  <a:srgbClr val="8A7038"/>
                </a:solidFill>
                <a:latin typeface="Calibri"/>
              </a:rPr>
              <a:t>THE PAYOFF IS RETROACTIVE</a:t>
            </a:r>
          </a:p>
          <a:p>
            <a:pPr algn="l">
              <a:spcAft>
                <a:spcPts val="1200"/>
              </a:spcAft>
            </a:pPr>
            <a:r>
              <a:rPr sz="1300" b="0">
                <a:solidFill>
                  <a:srgbClr val="0D2338"/>
                </a:solidFill>
                <a:latin typeface="Calibri"/>
              </a:rPr>
              <a:t>Every </a:t>
            </a:r>
            <a:r>
              <a:rPr sz="1300" b="0">
                <a:solidFill>
                  <a:srgbClr val="002147"/>
                </a:solidFill>
                <a:latin typeface="Consolas"/>
              </a:rPr>
              <a:t>sweep_*_points.csv</a:t>
            </a:r>
            <a:r>
              <a:rPr sz="1300" b="0">
                <a:solidFill>
                  <a:srgbClr val="0D2338"/>
                </a:solidFill>
                <a:latin typeface="Calibri"/>
              </a:rPr>
              <a:t> already holds a full load ramp at all 14 wind speeds. Adding one rotor-speed channel converts the </a:t>
            </a:r>
            <a:r>
              <a:rPr sz="1300" b="1">
                <a:solidFill>
                  <a:srgbClr val="002147"/>
                </a:solidFill>
                <a:latin typeface="Calibri"/>
              </a:rPr>
              <a:t>entire existing archive</a:t>
            </a:r>
            <a:r>
              <a:rPr sz="1300" b="0">
                <a:solidFill>
                  <a:srgbClr val="0D2338"/>
                </a:solidFill>
                <a:latin typeface="Calibri"/>
              </a:rPr>
              <a:t> into a Cq(λ) traverse — without another minute of tunnel time.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2277B3"/>
                </a:solidFill>
                <a:latin typeface="Calibri"/>
              </a:rPr>
              <a:t>ALSO USEFUL, AND ALREADY BUILT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0D2338"/>
                </a:solidFill>
                <a:latin typeface="Calibri"/>
              </a:rPr>
              <a:t>Fan rpm now leaves the PMC as a 0–10 V analog signal for the DAQ (</a:t>
            </a:r>
            <a:r>
              <a:rPr sz="1300" b="0">
                <a:solidFill>
                  <a:srgbClr val="002147"/>
                </a:solidFill>
                <a:latin typeface="Consolas"/>
              </a:rPr>
              <a:t>0.5 V + rpm/300</a:t>
            </a:r>
            <a:r>
              <a:rPr sz="1300" b="0">
                <a:solidFill>
                  <a:srgbClr val="0D2338"/>
                </a:solidFill>
                <a:latin typeface="Calibri"/>
              </a:rPr>
              <a:t>), so fan speed and rotor speed share one time base. 0.000 V is a live zero meaning INVALID, not zero rpm.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42432"/>
            <a:ext cx="11185855" cy="658368"/>
          </a:xfrm>
          <a:prstGeom prst="rect">
            <a:avLst/>
          </a:prstGeom>
          <a:solidFill>
            <a:srgbClr val="0021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/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The ask is two numbers: which DAQ channel, and how many pulses per revolution.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021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0292"/>
          </a:xfrm>
          <a:prstGeom prst="rect">
            <a:avLst/>
          </a:prstGeom>
          <a:solidFill>
            <a:srgbClr val="B59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5448"/>
            <a:ext cx="11185855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C0DDF2"/>
                </a:solidFill>
                <a:latin typeface="Calibri"/>
              </a:rPr>
              <a:t>OPTIONAL  ·  STATED PLAINLY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9768"/>
            <a:ext cx="11185855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FFFFFF"/>
                </a:solidFill>
                <a:latin typeface="Calibri"/>
              </a:rPr>
              <a:t>Known Limitations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81328"/>
            <a:ext cx="12191695" cy="5376672"/>
          </a:xfrm>
          <a:prstGeom prst="rect">
            <a:avLst/>
          </a:prstGeom>
          <a:solidFill>
            <a:srgbClr val="F5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618488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1">
                <a:solidFill>
                  <a:srgbClr val="5B7288"/>
                </a:solidFill>
                <a:latin typeface="Calibri"/>
              </a:rPr>
              <a:t>Every one of these was found by adversarial review of our own results, and each is recorded in the repository.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103120"/>
            <a:ext cx="5486400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C0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18872"/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02147"/>
                </a:solidFill>
                <a:latin typeface="Calibri"/>
              </a:rPr>
              <a:t>Not Cp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0D2338"/>
                </a:solidFill>
                <a:latin typeface="Calibri"/>
              </a:rPr>
              <a:t>Electrical power only. Cp(λ) needs the rotor-speed channel; every blade tested before that lands must be re-run to obtain λ.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2103120"/>
            <a:ext cx="5486400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C0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18872"/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02147"/>
                </a:solidFill>
                <a:latin typeface="Calibri"/>
              </a:rPr>
              <a:t>The blade is not an airfoil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0D2338"/>
                </a:solidFill>
                <a:latin typeface="Calibri"/>
              </a:rPr>
              <a:t>1.79 mm wall, t/c 4%, 42% camber, square-cut edges. Separation is pinned by geometry, so XFOIL and polar cross-checks answer a different question.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675888"/>
            <a:ext cx="5486400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C0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18872"/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02147"/>
                </a:solidFill>
                <a:latin typeface="Calibri"/>
              </a:rPr>
              <a:t>Reynolds range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0D2338"/>
                </a:solidFill>
                <a:latin typeface="Calibri"/>
              </a:rPr>
              <a:t>Re_chord = 32,376 → 119,735. Below Reynolds-independence for a cross-flow turbine (~2×10⁵), so absolute performance is not transferable to full scale.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3675888"/>
            <a:ext cx="5486400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C0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18872"/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02147"/>
                </a:solidFill>
                <a:latin typeface="Calibri"/>
              </a:rPr>
              <a:t>Source impedance not separated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0D2338"/>
                </a:solidFill>
                <a:latin typeface="Calibri"/>
              </a:rPr>
              <a:t>R_int is fitted at r² ≥ 0.986, but it is the WHOLE source — winding, rectifier, wiring and sense IC together. Ohm the winding phase-to-phase to separate them.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5248656"/>
            <a:ext cx="5486400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C0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18872"/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02147"/>
                </a:solidFill>
                <a:latin typeface="Calibri"/>
              </a:rPr>
              <a:t>Wind speed disagreement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0D2338"/>
                </a:solidFill>
                <a:latin typeface="Calibri"/>
              </a:rPr>
              <a:t>Summary and points files differ by 1.1–1.2% at the same fan set point. At v^3.77 that is 4.5% in power. Unresolved — flagged, not averaged away.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5248656"/>
            <a:ext cx="5486400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C0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18872"/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02147"/>
                </a:solidFill>
                <a:latin typeface="Calibri"/>
              </a:rPr>
              <a:t>Single-mount data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0D2338"/>
                </a:solidFill>
                <a:latin typeface="Calibri"/>
              </a:rPr>
              <a:t>Every result so far comes from one mounting of one rotor. There is no mount-to-mount error bar yet; the ABBA protocol for the next session produces the first one.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