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pair = slides 2-3. Results pair = slides 4-5. Slides 6-7 are optional; 6 is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Swept area is 2RH because it is a VAWT. Using pi*R^2 overstates Cp by 1.54x. The blade is a cambered plate, NOT an airfoil - it matters for any polar or XFOIL cross-check.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watchdogs are the slide's point: each layer is watched by the layer BELOW it, so the host being wrong cannot run the fan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fingerprint is the campaign's integrity mechanism. Across a dozen rotors it is very easy to change a setting by accident and impossible to spot afterwards - the numbers stay plausible.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present v^3.77 as 'Cp still climbing with Reynolds'. A 9-agent audit on 25 Aug showed the exponent is a generator characteristic: V_oc ~ v^1.52, R_int ~ v^-0.64, n = 2a-b = 3.69. The honest version is stronger and it is the argument for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ask, aimed at the person who owns the DAQ. Keep it concrete: channel number and pulses-per-rev, that is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slide. For an academic audience this is the most credible thing in the deck - it shows the limits are known and quantified rather than unexamined.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5985A"/>
                </a:solidFill>
                <a:latin typeface="Calibri"/>
              </a:rPr>
              <a:t>UNIVERSITY OF RHODE ISLAND  ·  SODHI LAB  ×  JEONG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Programmable Characterisation of</a:t>
            </a:r>
          </a:p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3D-Printed Wind Turbine Blades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C0DDF2"/>
                </a:solidFill>
                <a:latin typeface="Calibri"/>
              </a:rPr>
              <a:t>Automated load sweeps in the Aerolab wind tunnel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26280"/>
            <a:ext cx="2194560" cy="274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Stephen Acuello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0DDF2"/>
                </a:solidFill>
                <a:latin typeface="Calibri"/>
              </a:rPr>
              <a:t>seacuello@uri.edu   ·   26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The Rig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91056"/>
            <a:ext cx="6675120" cy="4480560"/>
          </a:xfrm>
          <a:prstGeom prst="rect">
            <a:avLst/>
          </a:prstGeom>
          <a:solidFill>
            <a:srgbClr val="EAF1F8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FIGURE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7288"/>
                </a:solidFill>
                <a:latin typeface="Consolas"/>
              </a:rPr>
              <a:t>docs/diagrams/system_overview.png</a:t>
            </a:r>
          </a:p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B7288"/>
                </a:solidFill>
                <a:latin typeface="Calibri"/>
              </a:rPr>
              <a:t>Full measurement and control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591056"/>
            <a:ext cx="420624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CONTROL CHAIN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Drive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ABB ACS550-U1-046A-2, 15 HP, 208–240 V 3φ. Commands speed in rpm; full scale 2435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Path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Python → USB → Portenta Machine Control → RS-485 Modbus → drive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Load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Chroma 63004-150-60 — sets the rotor's operating point and measures it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Wind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500–1800 rpm fan = 10.1–37.5 m/s, v = 0.02132·rpm − 0.424 (R² = 0.9996)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Bandwidth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τ = 0.63 ± 0.12 s, from five 1-cosine gusts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ROTOR UNDER TEST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Vertical-axis H-rotor</a:t>
            </a:r>
            <a:r>
              <a:rPr sz="1300" b="0">
                <a:solidFill>
                  <a:srgbClr val="0D2338"/>
                </a:solidFill>
                <a:latin typeface="Calibri"/>
              </a:rPr>
              <a:t>, 3 blades, R = 101.6 mm, span 245 mm. Swept area 2RH = 0.0498 m² — a cylinder, not a disc.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Blade: </a:t>
            </a:r>
            <a:r>
              <a:rPr sz="1300" b="0">
                <a:solidFill>
                  <a:srgbClr val="0D2338"/>
                </a:solidFill>
                <a:latin typeface="Calibri"/>
              </a:rPr>
              <a:t>thin cambered plate — 1.79 mm wall, t/c 4%, 42% camber, 183° turning. Not an airfoil.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Safety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868680"/>
          </a:xfrm>
          <a:prstGeom prst="rect">
            <a:avLst/>
          </a:prstGeom>
          <a:solidFill>
            <a:srgbClr val="FDF0EE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B3261E"/>
                </a:solidFill>
                <a:latin typeface="Calibri"/>
              </a:rPr>
              <a:t>The hardwired E-stop is the safety device.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No software is in that chain. Everything below reduces how often it is needed — none of it replaces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TWO INDEPENDENT WATCHDOGS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drive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PMC goes quiet — par 3018/3019, 3.0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host goes quiet — 5.0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Neither depends on the layer above it being correct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0248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ONE MODBUS MASTER ONLY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is the master.</a:t>
            </a:r>
            <a:r>
              <a:rPr sz="1250" b="0">
                <a:solidFill>
                  <a:srgbClr val="0D2338"/>
                </a:solidFill>
                <a:latin typeface="Calibri"/>
              </a:rPr>
              <a:t> Modbus RTU permits exactly one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 direct host-to-drive cable must never be landed as well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Two devices commanding a 15 HP fan, neither aware of the other, is the failure this prevents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7576" y="2688336"/>
            <a:ext cx="3538728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TURBINE INTERLOCK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8A7038"/>
                </a:solidFill>
                <a:latin typeface="Consolas"/>
              </a:rPr>
              <a:t>load ON → wind UP → test → wind DOWN → load OFF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An unloaded rotor in moving air accelerates until something mechanical stops it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Enforced on every path that can move the fan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If the fan cannot be confirmed stopped,</a:t>
            </a:r>
            <a:r>
              <a:rPr sz="1250" b="0">
                <a:solidFill>
                  <a:srgbClr val="0D2338"/>
                </a:solidFill>
                <a:latin typeface="Calibri"/>
              </a:rPr>
              <a:t> the load stays 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Each layer is watched by the layer below it — so a host that is wrong, hung or unplugged cannot run the fan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91056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0D2338"/>
                </a:solidFill>
                <a:latin typeface="Calibri"/>
              </a:rPr>
              <a:t>Automated blade characterisation — </a:t>
            </a:r>
            <a:r>
              <a:rPr sz="1700" b="1">
                <a:solidFill>
                  <a:srgbClr val="002147"/>
                </a:solidFill>
                <a:latin typeface="Calibri"/>
              </a:rPr>
              <a:t>~10 minutes per rotor, unattended, 14 wind speeds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6858000" cy="4023360"/>
          </a:xfrm>
          <a:prstGeom prst="rect">
            <a:avLst/>
          </a:prstGeom>
          <a:solidFill>
            <a:srgbClr val="EAF1F8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FIGURE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7288"/>
                </a:solidFill>
                <a:latin typeface="Consolas"/>
              </a:rPr>
              <a:t>docs/diagrams/sweep_protocol.png</a:t>
            </a:r>
          </a:p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B7288"/>
                </a:solidFill>
                <a:latin typeface="Calibri"/>
              </a:rPr>
              <a:t>Outer loop = wind speed; inner loop = load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40690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AT EACH WIND SPEED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Ramp the electronic load in constant-current steps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Stop once electrical power falls to 80% of its peak — the rotor is never driven to stall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Record V and I at every step, unload, advance the wind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A PARABOLIC FIT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D2338"/>
                </a:solidFill>
                <a:latin typeface="Calibri"/>
              </a:rPr>
              <a:t>The top of P(I) is flat. The largest single sample is biased high, and the bias grows with sample count — so blades with different point counts would be compared unfairly.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PROTOCOL FINGERPRINT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run carries one. </a:t>
            </a:r>
            <a:r>
              <a:rPr sz="1300" b="1">
                <a:solidFill>
                  <a:srgbClr val="002147"/>
                </a:solidFill>
                <a:latin typeface="Calibri"/>
              </a:rPr>
              <a:t>Runs measured under different settings are not comparable</a:t>
            </a:r>
            <a:r>
              <a:rPr sz="1300" b="0">
                <a:solidFill>
                  <a:srgbClr val="0D2338"/>
                </a:solidFill>
                <a:latin typeface="Calibri"/>
              </a:rPr>
              <a:t> — the fingerprint makes that visible instead of silent.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Blade v1, Ra 20 µm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18488"/>
          <a:ext cx="5577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097280"/>
                <a:gridCol w="960120"/>
                <a:gridCol w="118872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fan rpm cmd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m/s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P_max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at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0.030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0.018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0.273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0.068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1.665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0.240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1800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1779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37.5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3.793 W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0.320 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65760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Wind speed is derived from MEASURED fan rpm, not commanded — the drive settles 4–13 rpm below setpoint.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95928"/>
            <a:ext cx="557784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7A52"/>
                </a:solidFill>
                <a:latin typeface="Calibri"/>
              </a:rPr>
              <a:t>WHAT IS SOLID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14 / 14 points clean, single continuous run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P ∝ v^3.77, R² = 0.998 across 10.1–37.5 m/s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Independent repeats at 1200 and 1800 rpm match to 0.3% / 0.2%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18488"/>
            <a:ext cx="5394960" cy="3950208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8A7038"/>
                </a:solidFill>
                <a:latin typeface="Calibri"/>
              </a:rPr>
              <a:t>WHAT IT DOES NOT YET SHOW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0D2338"/>
                </a:solidFill>
                <a:latin typeface="Calibri"/>
              </a:rPr>
              <a:t>This is electrical power at the load terminals — </a:t>
            </a:r>
            <a:r>
              <a:rPr sz="1450" b="1">
                <a:solidFill>
                  <a:srgbClr val="B3261E"/>
                </a:solidFill>
                <a:latin typeface="Calibri"/>
              </a:rPr>
              <a:t>not Cp</a:t>
            </a:r>
            <a:r>
              <a:rPr sz="1450" b="0">
                <a:solidFill>
                  <a:srgbClr val="0D2338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D2338"/>
                </a:solidFill>
                <a:latin typeface="Calibri"/>
              </a:rPr>
              <a:t>The v^3.77 exponent decomposes into the generator, not the rotor: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V_oc ∝ v^1.52      R_int ∝ v^−0.64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R_int falls 73.6 → 40.1 Ω across the range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peaks at the Thévenin match, P = V_oc²/4R_int</a:t>
            </a:r>
          </a:p>
          <a:p>
            <a:pPr algn="l" lvl="1">
              <a:spcAft>
                <a:spcPts val="500"/>
              </a:spcAft>
            </a:pPr>
            <a:r>
              <a:rPr sz="1150" b="0" i="0">
                <a:solidFill>
                  <a:srgbClr val="002147"/>
                </a:solidFill>
                <a:latin typeface="Consolas"/>
              </a:rPr>
              <a:t>n = 2a − b = 3.69   vs   3.77 measured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8A7038"/>
                </a:solidFill>
                <a:latin typeface="Calibri"/>
              </a:rPr>
              <a:t>→ </a:t>
            </a:r>
            <a:r>
              <a:rPr sz="1300" b="0">
                <a:solidFill>
                  <a:srgbClr val="0D2338"/>
                </a:solidFill>
                <a:latin typeface="Calibri"/>
              </a:rPr>
              <a:t>Little aerodynamic residual is left for the blade to move. Without rotor speed, blade comparisons partly compare the generator.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Cp_elec = </a:t>
            </a:r>
            <a:r>
              <a:rPr sz="1300" b="1">
                <a:solidFill>
                  <a:srgbClr val="B3261E"/>
                </a:solidFill>
                <a:latin typeface="Calibri"/>
              </a:rPr>
              <a:t>0.10–0.24%</a:t>
            </a:r>
            <a:r>
              <a:rPr sz="1300" b="0">
                <a:solidFill>
                  <a:srgbClr val="0D2338"/>
                </a:solidFill>
                <a:latin typeface="Calibri"/>
              </a:rPr>
              <a:t>, roughly 100× below a working H-rotor, because peak power sits at ω/ω_runaway ≈ 0.70→0.94 — the far limb of Cp(λ) where Cp → 0 by construction.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measurement is sound. Its interpretation needs rotor speed — which is the next slide.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THE NEXT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One Channel Unlocks Cp(λ)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1051560"/>
          </a:xfrm>
          <a:prstGeom prst="rect">
            <a:avLst/>
          </a:prstGeom>
          <a:solidFill>
            <a:srgbClr val="EFF6F1"/>
          </a:solidFill>
          <a:ln w="12700">
            <a:solidFill>
              <a:srgbClr val="1F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1F7A52"/>
                </a:solidFill>
                <a:latin typeface="Calibri"/>
              </a:rPr>
              <a:t>The rotor-speed measurement already exists in the Jeong lab DAQ.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A proximity sensor on the rig already records it. What is needed is its channel number and pulses-per-revolution — not new hardware.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52928"/>
            <a:ext cx="54864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IT MATTERS MORE THAN ANY BLADE RUN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Without ω there is no λ and no Cp — the rig cannot separate rotor aerodynamics from generator matching.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A better blade can read as LESS power: raising Cp_max while adding low-α drag lowers λ_runaway, lowers V_oc, and lowers measured P as the SQUARE.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Two rotors at Cp_max 5% and 25% would rank purely by how freely they spin.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852928"/>
            <a:ext cx="54864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8A7038"/>
                </a:solidFill>
                <a:latin typeface="Calibri"/>
              </a:rPr>
              <a:t>THE PAYOFF IS RETROACTIVE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</a:t>
            </a:r>
            <a:r>
              <a:rPr sz="1300" b="0">
                <a:solidFill>
                  <a:srgbClr val="002147"/>
                </a:solidFill>
                <a:latin typeface="Consolas"/>
              </a:rPr>
              <a:t>sweep_*_points.csv</a:t>
            </a:r>
            <a:r>
              <a:rPr sz="1300" b="0">
                <a:solidFill>
                  <a:srgbClr val="0D2338"/>
                </a:solidFill>
                <a:latin typeface="Calibri"/>
              </a:rPr>
              <a:t> already holds a full load ramp at all 14 wind speeds. Adding one rotor-speed channel converts the </a:t>
            </a:r>
            <a:r>
              <a:rPr sz="1300" b="1">
                <a:solidFill>
                  <a:srgbClr val="002147"/>
                </a:solidFill>
                <a:latin typeface="Calibri"/>
              </a:rPr>
              <a:t>entire existing archive</a:t>
            </a:r>
            <a:r>
              <a:rPr sz="1300" b="0">
                <a:solidFill>
                  <a:srgbClr val="0D2338"/>
                </a:solidFill>
                <a:latin typeface="Calibri"/>
              </a:rPr>
              <a:t> into a Cq(λ) traverse — without another minute of tunnel time.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ALSO USEFUL, AND ALREADY BUILT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Fan rpm now leaves the PMC as a 0–10 V analog signal for the DAQ (</a:t>
            </a:r>
            <a:r>
              <a:rPr sz="1300" b="0">
                <a:solidFill>
                  <a:srgbClr val="002147"/>
                </a:solidFill>
                <a:latin typeface="Consolas"/>
              </a:rPr>
              <a:t>0.5 V + rpm/300</a:t>
            </a:r>
            <a:r>
              <a:rPr sz="1300" b="0">
                <a:solidFill>
                  <a:srgbClr val="0D2338"/>
                </a:solidFill>
                <a:latin typeface="Calibri"/>
              </a:rPr>
              <a:t>), so fan speed and rotor speed share one time base. 0.000 V is a live zero meaning INVALID, not zero rpm.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42432"/>
            <a:ext cx="11185855" cy="658368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ask is two numbers: which DAQ channel, and how many pulses per revolution.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STATED PLAINLY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Known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5B7288"/>
                </a:solidFill>
                <a:latin typeface="Calibri"/>
              </a:rPr>
              <a:t>Every one of these was found by adversarial review of our own results, and each is recorded in the repository.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Not Cp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Electrical power only. Cp(λ) needs the rotor-speed channel; every blade tested before that lands must be re-run to obtain λ.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103120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The blade is not an airfoil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1.79 mm wall, t/c 4%, 42% camber, square-cut edges. Separation is pinned by geometry, so XFOIL and polar cross-checks answer a different question.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675888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Reynolds range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Re_chord = 32,376 → 119,735. Below Reynolds-independence for a cross-flow turbine (~2×10⁵), so absolute performance is not transferable to full scale.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675888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Generator not characterised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R_int is inferred from a curve fit and has never been measured directly. It gates every derived quantity.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248656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Wind speed disagreement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Summary and points files differ by 1.1–1.2% at the same fan set point. At v^3.77 that is 4.5% in power. Unresolved — flagged, not averaged away.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5248656"/>
            <a:ext cx="5486400" cy="1426464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Single-mount data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Every result so far comes from one mounting of one rotor. There is no mount-to-mount error bar yet; the ABBA protocol for the next session produces the first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