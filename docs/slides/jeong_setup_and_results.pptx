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 pair = slides 2-3. Results pair = slides 4-5. Slides 6-7 are optional; 6 is the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Swept area is 2RH because it is a VAWT. Using pi*R^2 overstates Cp by 1.54x. The blade is a cambered plate, NOT an airfoil - it matters for any polar or XFOIL cross-check.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watchdogs are the slide's point: each layer is watched by the layer BELOW it, so the host being wrong cannot run the fan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fingerprint is the campaign's integrity mechanism. Across a dozen rotors it is very easy to change a setting by accident and impossible to spot afterwards - the numbers stay plausible.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present v^3.77 as 'Cp still climbing with Reynolds'. A 9-agent audit on 25 Aug showed the exponent is a generator characteristic: V_oc ~ v^1.52, R_int ~ v^-0.64, n = 2a-b = 3.69. The honest version is stronger and it is the argument for slide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ask, aimed at the person who owns the DAQ. Keep it concrete: channel number and pulses-per-rev, that is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slide. For an academic audience this is the most credible thing in the deck - it shows the limits are known and quantified rather than unexamined.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59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5985A"/>
                </a:solidFill>
                <a:latin typeface="Calibri"/>
              </a:rPr>
              <a:t>UNIVERSITY OF RHODE ISLAND  ·  SODHI LAB  ×  JEONG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102412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Programmable Characterisation of</a:t>
            </a:r>
          </a:p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3D-Printed Wind Turbine Blades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86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C0DDF2"/>
                </a:solidFill>
                <a:latin typeface="Calibri"/>
              </a:rPr>
              <a:t>Automated load sweeps in the Aerolab wind tunnel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526280"/>
            <a:ext cx="2194560" cy="27432"/>
          </a:xfrm>
          <a:prstGeom prst="rect">
            <a:avLst/>
          </a:prstGeom>
          <a:solidFill>
            <a:srgbClr val="227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8463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Stephen Acuello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0DDF2"/>
                </a:solidFill>
                <a:latin typeface="Calibri"/>
              </a:rPr>
              <a:t>seacuello@uri.edu   ·   26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0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292"/>
          </a:xfrm>
          <a:prstGeom prst="rect">
            <a:avLst/>
          </a:prstGeom>
          <a:solidFill>
            <a:srgbClr val="B59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85855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0DDF2"/>
                </a:solidFill>
                <a:latin typeface="Calibri"/>
              </a:rPr>
              <a:t>SLIDE 1 OF 2  ·  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9768"/>
            <a:ext cx="1118585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The Rig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81328"/>
            <a:ext cx="12191695" cy="5376672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91056"/>
            <a:ext cx="6675120" cy="3566160"/>
          </a:xfrm>
          <a:prstGeom prst="rect">
            <a:avLst/>
          </a:prstGeom>
          <a:solidFill>
            <a:srgbClr val="EAF1F8"/>
          </a:solidFill>
          <a:ln w="12700">
            <a:solidFill>
              <a:srgbClr val="C0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2277B3"/>
                </a:solidFill>
                <a:latin typeface="Calibri"/>
              </a:rPr>
              <a:t>FIGURE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B7288"/>
                </a:solidFill>
                <a:latin typeface="Consolas"/>
              </a:rPr>
              <a:t>docs/diagrams/system_overview.png</a:t>
            </a:r>
          </a:p>
          <a:p>
            <a:pPr algn="ctr">
              <a:spcAft>
                <a:spcPts val="600"/>
              </a:spcAft>
            </a:pPr>
            <a:r>
              <a:rPr sz="1100" b="0" i="1">
                <a:solidFill>
                  <a:srgbClr val="5B7288"/>
                </a:solidFill>
                <a:latin typeface="Calibri"/>
              </a:rPr>
              <a:t>Full measurement and control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591056"/>
            <a:ext cx="42062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2277B3"/>
                </a:solidFill>
                <a:latin typeface="Calibri"/>
              </a:rPr>
              <a:t>CONTROL CHAIN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002147"/>
                </a:solidFill>
                <a:latin typeface="Calibri"/>
              </a:rPr>
              <a:t>Drive — </a:t>
            </a:r>
            <a:r>
              <a:rPr sz="1300" b="0">
                <a:solidFill>
                  <a:srgbClr val="0D2338"/>
                </a:solidFill>
                <a:latin typeface="Calibri"/>
              </a:rPr>
              <a:t>ABB ACS550-U1-046A-2, 15 HP, 208–240 V 3φ. Commands speed in rpm; full scale 2435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002147"/>
                </a:solidFill>
                <a:latin typeface="Calibri"/>
              </a:rPr>
              <a:t>Path — </a:t>
            </a:r>
            <a:r>
              <a:rPr sz="1300" b="0">
                <a:solidFill>
                  <a:srgbClr val="0D2338"/>
                </a:solidFill>
                <a:latin typeface="Calibri"/>
              </a:rPr>
              <a:t>Python host → USB → Portenta Machine Control → RS-485 Modbus RTU → drive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002147"/>
                </a:solidFill>
                <a:latin typeface="Calibri"/>
              </a:rPr>
              <a:t>Load — </a:t>
            </a:r>
            <a:r>
              <a:rPr sz="1300" b="0">
                <a:solidFill>
                  <a:srgbClr val="0D2338"/>
                </a:solidFill>
                <a:latin typeface="Calibri"/>
              </a:rPr>
              <a:t>Chroma 63004-150-60. Sets the rotor's operating point and is the best V/I instrument on the rig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002147"/>
                </a:solidFill>
                <a:latin typeface="Calibri"/>
              </a:rPr>
              <a:t>Wind — </a:t>
            </a:r>
            <a:r>
              <a:rPr sz="1300" b="0">
                <a:solidFill>
                  <a:srgbClr val="0D2338"/>
                </a:solidFill>
                <a:latin typeface="Calibri"/>
              </a:rPr>
              <a:t>500–1800 rpm fan = 10.1–37.5 m/s, v = 0.02132·rpm − 0.424 (R² = 0.9996)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002147"/>
                </a:solidFill>
                <a:latin typeface="Calibri"/>
              </a:rPr>
              <a:t>Bandwidth — </a:t>
            </a:r>
            <a:r>
              <a:rPr sz="1300" b="0">
                <a:solidFill>
                  <a:srgbClr val="0D2338"/>
                </a:solidFill>
                <a:latin typeface="Calibri"/>
              </a:rPr>
              <a:t>τ = 0.63 ± 0.12 s, from five 1-cosine gusts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2277B3"/>
                </a:solidFill>
                <a:latin typeface="Calibri"/>
              </a:rPr>
              <a:t>ROTOR UNDER TEST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002147"/>
                </a:solidFill>
                <a:latin typeface="Calibri"/>
              </a:rPr>
              <a:t>Vertical-axis H-rotor</a:t>
            </a:r>
            <a:r>
              <a:rPr sz="1300" b="0">
                <a:solidFill>
                  <a:srgbClr val="0D2338"/>
                </a:solidFill>
                <a:latin typeface="Calibri"/>
              </a:rPr>
              <a:t>, 3 blades, R = 101.6 mm, span 245 mm. Swept area 2RH = 0.0498 m² — a cylinder, not a disc.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002147"/>
                </a:solidFill>
                <a:latin typeface="Calibri"/>
              </a:rPr>
              <a:t>Blade section: </a:t>
            </a:r>
            <a:r>
              <a:rPr sz="1300" b="0">
                <a:solidFill>
                  <a:srgbClr val="0D2338"/>
                </a:solidFill>
                <a:latin typeface="Calibri"/>
              </a:rPr>
              <a:t>thin cambered plate, 1.79 mm wall, t/c 4%, 42% camber, 183° turning, square edges.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0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292"/>
          </a:xfrm>
          <a:prstGeom prst="rect">
            <a:avLst/>
          </a:prstGeom>
          <a:solidFill>
            <a:srgbClr val="B59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85855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0DDF2"/>
                </a:solidFill>
                <a:latin typeface="Calibri"/>
              </a:rPr>
              <a:t>SLIDE 2 OF 2  ·  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9768"/>
            <a:ext cx="1118585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Safety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81328"/>
            <a:ext cx="12191695" cy="5376672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18488"/>
            <a:ext cx="11155680" cy="868680"/>
          </a:xfrm>
          <a:prstGeom prst="rect">
            <a:avLst/>
          </a:prstGeom>
          <a:solidFill>
            <a:srgbClr val="FDF0EE"/>
          </a:solidFill>
          <a:ln w="1270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>
              <a:spcAft>
                <a:spcPts val="300"/>
              </a:spcAft>
            </a:pPr>
            <a:r>
              <a:rPr sz="1900" b="1" i="0">
                <a:solidFill>
                  <a:srgbClr val="B3261E"/>
                </a:solidFill>
                <a:latin typeface="Calibri"/>
              </a:rPr>
              <a:t>The hardwired E-stop is the safety device.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0D2338"/>
                </a:solidFill>
                <a:latin typeface="Calibri"/>
              </a:rPr>
              <a:t>No software is in that chain. Everything below reduces how often it is needed — none of it replaces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688336"/>
            <a:ext cx="353872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l">
              <a:spcAft>
                <a:spcPts val="1000"/>
              </a:spcAft>
            </a:pPr>
            <a:r>
              <a:rPr sz="1250" b="1" i="0">
                <a:solidFill>
                  <a:srgbClr val="2277B3"/>
                </a:solidFill>
                <a:latin typeface="Calibri"/>
              </a:rPr>
              <a:t>TWO INDEPENDENT WATCHDOGS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277B3"/>
                </a:solidFill>
                <a:latin typeface="Calibri"/>
              </a:rPr>
              <a:t>• </a:t>
            </a:r>
            <a:r>
              <a:rPr sz="1250" b="1">
                <a:solidFill>
                  <a:srgbClr val="002147"/>
                </a:solidFill>
                <a:latin typeface="Calibri"/>
              </a:rPr>
              <a:t>The drive stops the fan</a:t>
            </a:r>
            <a:r>
              <a:rPr sz="1250" b="0">
                <a:solidFill>
                  <a:srgbClr val="0D2338"/>
                </a:solidFill>
                <a:latin typeface="Calibri"/>
              </a:rPr>
              <a:t> if the PMC goes quiet — par 3018/3019, 3.0 s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277B3"/>
                </a:solidFill>
                <a:latin typeface="Calibri"/>
              </a:rPr>
              <a:t>• </a:t>
            </a:r>
            <a:r>
              <a:rPr sz="1250" b="1">
                <a:solidFill>
                  <a:srgbClr val="002147"/>
                </a:solidFill>
                <a:latin typeface="Calibri"/>
              </a:rPr>
              <a:t>The PMC stops the fan</a:t>
            </a:r>
            <a:r>
              <a:rPr sz="1250" b="0">
                <a:solidFill>
                  <a:srgbClr val="0D2338"/>
                </a:solidFill>
                <a:latin typeface="Calibri"/>
              </a:rPr>
              <a:t> if the host goes quiet — 5.0 s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277B3"/>
                </a:solidFill>
                <a:latin typeface="Calibri"/>
              </a:rPr>
              <a:t>• </a:t>
            </a:r>
            <a:r>
              <a:rPr sz="1250" b="1">
                <a:solidFill>
                  <a:srgbClr val="002147"/>
                </a:solidFill>
                <a:latin typeface="Calibri"/>
              </a:rPr>
              <a:t/>
            </a:r>
            <a:r>
              <a:rPr sz="1250" b="0">
                <a:solidFill>
                  <a:srgbClr val="0D2338"/>
                </a:solidFill>
                <a:latin typeface="Calibri"/>
              </a:rPr>
              <a:t>Neither depends on the layer above it being correct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2688336"/>
            <a:ext cx="353872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l">
              <a:spcAft>
                <a:spcPts val="1000"/>
              </a:spcAft>
            </a:pPr>
            <a:r>
              <a:rPr sz="1250" b="1" i="0">
                <a:solidFill>
                  <a:srgbClr val="2277B3"/>
                </a:solidFill>
                <a:latin typeface="Calibri"/>
              </a:rPr>
              <a:t>ONE MODBUS MASTER ONLY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277B3"/>
                </a:solidFill>
                <a:latin typeface="Calibri"/>
              </a:rPr>
              <a:t>• </a:t>
            </a:r>
            <a:r>
              <a:rPr sz="1250" b="1">
                <a:solidFill>
                  <a:srgbClr val="002147"/>
                </a:solidFill>
                <a:latin typeface="Calibri"/>
              </a:rPr>
              <a:t>The PMC is the master.</a:t>
            </a:r>
            <a:r>
              <a:rPr sz="1250" b="0">
                <a:solidFill>
                  <a:srgbClr val="0D2338"/>
                </a:solidFill>
                <a:latin typeface="Calibri"/>
              </a:rPr>
              <a:t> Modbus RTU permits exactly one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277B3"/>
                </a:solidFill>
                <a:latin typeface="Calibri"/>
              </a:rPr>
              <a:t>• </a:t>
            </a:r>
            <a:r>
              <a:rPr sz="1250" b="1">
                <a:solidFill>
                  <a:srgbClr val="002147"/>
                </a:solidFill>
                <a:latin typeface="Calibri"/>
              </a:rPr>
              <a:t/>
            </a:r>
            <a:r>
              <a:rPr sz="1250" b="0">
                <a:solidFill>
                  <a:srgbClr val="0D2338"/>
                </a:solidFill>
                <a:latin typeface="Calibri"/>
              </a:rPr>
              <a:t>A direct host-to-drive cable must never be landed at the same time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277B3"/>
                </a:solidFill>
                <a:latin typeface="Calibri"/>
              </a:rPr>
              <a:t>• </a:t>
            </a:r>
            <a:r>
              <a:rPr sz="1250" b="1">
                <a:solidFill>
                  <a:srgbClr val="002147"/>
                </a:solidFill>
                <a:latin typeface="Calibri"/>
              </a:rPr>
              <a:t/>
            </a:r>
            <a:r>
              <a:rPr sz="1250" b="0">
                <a:solidFill>
                  <a:srgbClr val="0D2338"/>
                </a:solidFill>
                <a:latin typeface="Calibri"/>
              </a:rPr>
              <a:t>Two devices commanding a 15 HP fan, neither aware of the other, is the failure this design exists to prevent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7576" y="2688336"/>
            <a:ext cx="353872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l">
              <a:spcAft>
                <a:spcPts val="1000"/>
              </a:spcAft>
            </a:pPr>
            <a:r>
              <a:rPr sz="1250" b="1" i="0">
                <a:solidFill>
                  <a:srgbClr val="2277B3"/>
                </a:solidFill>
                <a:latin typeface="Calibri"/>
              </a:rPr>
              <a:t>TURBINE INTERLOCK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8A7038"/>
                </a:solidFill>
                <a:latin typeface="Consolas"/>
              </a:rPr>
              <a:t>load ON → wind UP → test → wind DOWN → load OFF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277B3"/>
                </a:solidFill>
                <a:latin typeface="Calibri"/>
              </a:rPr>
              <a:t>• </a:t>
            </a:r>
            <a:r>
              <a:rPr sz="1250" b="1">
                <a:solidFill>
                  <a:srgbClr val="002147"/>
                </a:solidFill>
                <a:latin typeface="Calibri"/>
              </a:rPr>
              <a:t/>
            </a:r>
            <a:r>
              <a:rPr sz="1250" b="0">
                <a:solidFill>
                  <a:srgbClr val="0D2338"/>
                </a:solidFill>
                <a:latin typeface="Calibri"/>
              </a:rPr>
              <a:t>An unloaded rotor in moving air accelerates until something mechanical stops it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277B3"/>
                </a:solidFill>
                <a:latin typeface="Calibri"/>
              </a:rPr>
              <a:t>• </a:t>
            </a:r>
            <a:r>
              <a:rPr sz="1250" b="1">
                <a:solidFill>
                  <a:srgbClr val="002147"/>
                </a:solidFill>
                <a:latin typeface="Calibri"/>
              </a:rPr>
              <a:t>If the fan cannot be confirmed stopped,</a:t>
            </a:r>
            <a:r>
              <a:rPr sz="1250" b="0">
                <a:solidFill>
                  <a:srgbClr val="0D2338"/>
                </a:solidFill>
                <a:latin typeface="Calibri"/>
              </a:rPr>
              <a:t> the load stays 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0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292"/>
          </a:xfrm>
          <a:prstGeom prst="rect">
            <a:avLst/>
          </a:prstGeom>
          <a:solidFill>
            <a:srgbClr val="B59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85855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0DDF2"/>
                </a:solidFill>
                <a:latin typeface="Calibri"/>
              </a:rPr>
              <a:t>SLIDE 1 OF 2  ·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9768"/>
            <a:ext cx="1118585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81328"/>
            <a:ext cx="12191695" cy="5376672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91056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0D2338"/>
                </a:solidFill>
                <a:latin typeface="Calibri"/>
              </a:rPr>
              <a:t>Automated blade characterisation — </a:t>
            </a:r>
            <a:r>
              <a:rPr sz="1700" b="1">
                <a:solidFill>
                  <a:srgbClr val="002147"/>
                </a:solidFill>
                <a:latin typeface="Calibri"/>
              </a:rPr>
              <a:t>~10 minutes per rotor, unattended, 14 wind speeds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6858000" cy="3566160"/>
          </a:xfrm>
          <a:prstGeom prst="rect">
            <a:avLst/>
          </a:prstGeom>
          <a:solidFill>
            <a:srgbClr val="EAF1F8"/>
          </a:solidFill>
          <a:ln w="12700">
            <a:solidFill>
              <a:srgbClr val="C0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2277B3"/>
                </a:solidFill>
                <a:latin typeface="Calibri"/>
              </a:rPr>
              <a:t>FIGURE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B7288"/>
                </a:solidFill>
                <a:latin typeface="Consolas"/>
              </a:rPr>
              <a:t>docs/diagrams/sweep_protocol.png</a:t>
            </a:r>
          </a:p>
          <a:p>
            <a:pPr algn="ctr">
              <a:spcAft>
                <a:spcPts val="600"/>
              </a:spcAft>
            </a:pPr>
            <a:r>
              <a:rPr sz="1100" b="0" i="1">
                <a:solidFill>
                  <a:srgbClr val="5B7288"/>
                </a:solidFill>
                <a:latin typeface="Calibri"/>
              </a:rPr>
              <a:t>Outer loop = wind speed; inner loop = load 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103120"/>
            <a:ext cx="40690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2277B3"/>
                </a:solidFill>
                <a:latin typeface="Calibri"/>
              </a:rPr>
              <a:t>AT EACH WIND SPEED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277B3"/>
                </a:solidFill>
                <a:latin typeface="Calibri"/>
              </a:rPr>
              <a:t>• </a:t>
            </a:r>
            <a:r>
              <a:rPr sz="1300" b="0">
                <a:solidFill>
                  <a:srgbClr val="0D2338"/>
                </a:solidFill>
                <a:latin typeface="Calibri"/>
              </a:rPr>
              <a:t>Ramp the electronic load in constant-current steps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277B3"/>
                </a:solidFill>
                <a:latin typeface="Calibri"/>
              </a:rPr>
              <a:t>• </a:t>
            </a:r>
            <a:r>
              <a:rPr sz="1300" b="0">
                <a:solidFill>
                  <a:srgbClr val="0D2338"/>
                </a:solidFill>
                <a:latin typeface="Calibri"/>
              </a:rPr>
              <a:t>Stop once electrical power falls to 80% of its peak — the rotor is never driven to stall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277B3"/>
                </a:solidFill>
                <a:latin typeface="Calibri"/>
              </a:rPr>
              <a:t>• </a:t>
            </a:r>
            <a:r>
              <a:rPr sz="1300" b="0">
                <a:solidFill>
                  <a:srgbClr val="0D2338"/>
                </a:solidFill>
                <a:latin typeface="Calibri"/>
              </a:rPr>
              <a:t>Record V and I at every step, unload, advance the wind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2277B3"/>
                </a:solidFill>
                <a:latin typeface="Calibri"/>
              </a:rPr>
              <a:t>WHY A PARABOLIC FIT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0D2338"/>
                </a:solidFill>
                <a:latin typeface="Calibri"/>
              </a:rPr>
              <a:t>The top of P(I) is flat. The largest single sample is biased high, and the bias grows with the number of samples — so two blades measured with different point counts would be compared unfairly.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2277B3"/>
                </a:solidFill>
                <a:latin typeface="Calibri"/>
              </a:rPr>
              <a:t>PROTOCOL FINGERPRINT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0D2338"/>
                </a:solidFill>
                <a:latin typeface="Calibri"/>
              </a:rPr>
              <a:t>Every run carries one. </a:t>
            </a:r>
            <a:r>
              <a:rPr sz="1300" b="1">
                <a:solidFill>
                  <a:srgbClr val="002147"/>
                </a:solidFill>
                <a:latin typeface="Calibri"/>
              </a:rPr>
              <a:t>Runs measured under different settings are not comparable</a:t>
            </a:r>
            <a:r>
              <a:rPr sz="1300" b="0">
                <a:solidFill>
                  <a:srgbClr val="0D2338"/>
                </a:solidFill>
                <a:latin typeface="Calibri"/>
              </a:rPr>
              <a:t> — the fingerprint makes that visible instead of silent.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0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292"/>
          </a:xfrm>
          <a:prstGeom prst="rect">
            <a:avLst/>
          </a:prstGeom>
          <a:solidFill>
            <a:srgbClr val="B59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85855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0DDF2"/>
                </a:solidFill>
                <a:latin typeface="Calibri"/>
              </a:rPr>
              <a:t>SLIDE 2 OF 2  ·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9768"/>
            <a:ext cx="1118585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Blade v1, Ra 20 µm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81328"/>
            <a:ext cx="12191695" cy="5376672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18488"/>
          <a:ext cx="55778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097280"/>
                <a:gridCol w="960120"/>
                <a:gridCol w="118872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fan rpm cmd</a:t>
                      </a:r>
                    </a:p>
                  </a:txBody>
                  <a:tcPr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measured</a:t>
                      </a:r>
                    </a:p>
                  </a:txBody>
                  <a:tcPr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m/s</a:t>
                      </a:r>
                    </a:p>
                  </a:txBody>
                  <a:tcPr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P_max</a:t>
                      </a:r>
                    </a:p>
                  </a:txBody>
                  <a:tcPr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at</a:t>
                      </a:r>
                    </a:p>
                  </a:txBody>
                  <a:tcPr>
                    <a:solidFill>
                      <a:srgbClr val="0021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D2338"/>
                          </a:solidFill>
                          <a:latin typeface="Consolas"/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D2338"/>
                          </a:solidFill>
                          <a:latin typeface="Consolas"/>
                        </a:rPr>
                        <a:t>496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D2338"/>
                          </a:solidFill>
                          <a:latin typeface="Consolas"/>
                        </a:rPr>
                        <a:t>10.1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D2338"/>
                          </a:solidFill>
                          <a:latin typeface="Consolas"/>
                        </a:rPr>
                        <a:t>0.030 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D2338"/>
                          </a:solidFill>
                          <a:latin typeface="Consolas"/>
                        </a:rPr>
                        <a:t>0.018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D2338"/>
                          </a:solidFill>
                          <a:latin typeface="Consolas"/>
                        </a:rPr>
                        <a:t>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D2338"/>
                          </a:solidFill>
                          <a:latin typeface="Consolas"/>
                        </a:rPr>
                        <a:t>894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D2338"/>
                          </a:solidFill>
                          <a:latin typeface="Consolas"/>
                        </a:rPr>
                        <a:t>18.6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D2338"/>
                          </a:solidFill>
                          <a:latin typeface="Consolas"/>
                        </a:rPr>
                        <a:t>0.273 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D2338"/>
                          </a:solidFill>
                          <a:latin typeface="Consolas"/>
                        </a:rPr>
                        <a:t>0.068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D2338"/>
                          </a:solidFill>
                          <a:latin typeface="Consolas"/>
                        </a:rPr>
                        <a:t>1400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D2338"/>
                          </a:solidFill>
                          <a:latin typeface="Consolas"/>
                        </a:rPr>
                        <a:t>1384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D2338"/>
                          </a:solidFill>
                          <a:latin typeface="Consolas"/>
                        </a:rPr>
                        <a:t>29.1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D2338"/>
                          </a:solidFill>
                          <a:latin typeface="Consolas"/>
                        </a:rPr>
                        <a:t>1.665 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D2338"/>
                          </a:solidFill>
                          <a:latin typeface="Consolas"/>
                        </a:rPr>
                        <a:t>0.240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2147"/>
                          </a:solidFill>
                          <a:latin typeface="Consolas"/>
                        </a:rPr>
                        <a:t>1800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2147"/>
                          </a:solidFill>
                          <a:latin typeface="Consolas"/>
                        </a:rPr>
                        <a:t>1779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2147"/>
                          </a:solidFill>
                          <a:latin typeface="Consolas"/>
                        </a:rPr>
                        <a:t>37.5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2147"/>
                          </a:solidFill>
                          <a:latin typeface="Consolas"/>
                        </a:rPr>
                        <a:t>3.793 W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2147"/>
                          </a:solidFill>
                          <a:latin typeface="Consolas"/>
                        </a:rPr>
                        <a:t>0.320 A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657600"/>
            <a:ext cx="5577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5B7288"/>
                </a:solidFill>
                <a:latin typeface="Calibri"/>
              </a:rPr>
              <a:t>Wind speed is derived from MEASURED fan rpm, not commanded — the drive settles 4–13 rpm below setpoint.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995928"/>
            <a:ext cx="55778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0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1F7A52"/>
                </a:solidFill>
                <a:latin typeface="Calibri"/>
              </a:rPr>
              <a:t>WHAT IS SOLID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F7A52"/>
                </a:solidFill>
                <a:latin typeface="Calibri"/>
              </a:rPr>
              <a:t>• </a:t>
            </a:r>
            <a:r>
              <a:rPr sz="1250" b="0">
                <a:solidFill>
                  <a:srgbClr val="0D2338"/>
                </a:solidFill>
                <a:latin typeface="Calibri"/>
              </a:rPr>
              <a:t>14 / 14 points clean, single continuous run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F7A52"/>
                </a:solidFill>
                <a:latin typeface="Calibri"/>
              </a:rPr>
              <a:t>• </a:t>
            </a:r>
            <a:r>
              <a:rPr sz="1250" b="0">
                <a:solidFill>
                  <a:srgbClr val="0D2338"/>
                </a:solidFill>
                <a:latin typeface="Calibri"/>
              </a:rPr>
              <a:t>P ∝ v^3.77, R² = 0.998 across 10.1–37.5 m/s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F7A52"/>
                </a:solidFill>
                <a:latin typeface="Calibri"/>
              </a:rPr>
              <a:t>• </a:t>
            </a:r>
            <a:r>
              <a:rPr sz="1250" b="0">
                <a:solidFill>
                  <a:srgbClr val="0D2338"/>
                </a:solidFill>
                <a:latin typeface="Calibri"/>
              </a:rPr>
              <a:t>Independent repeats at 1200 and 1800 rpm match to 0.3% / 0.2%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18488"/>
            <a:ext cx="53949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59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l">
              <a:spcAft>
                <a:spcPts val="1000"/>
              </a:spcAft>
            </a:pPr>
            <a:r>
              <a:rPr sz="1250" b="1" i="0">
                <a:solidFill>
                  <a:srgbClr val="8A7038"/>
                </a:solidFill>
                <a:latin typeface="Calibri"/>
              </a:rPr>
              <a:t>WHAT IT DOES NOT YET SHOW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0D2338"/>
                </a:solidFill>
                <a:latin typeface="Calibri"/>
              </a:rPr>
              <a:t>This is electrical power at the load terminals — </a:t>
            </a:r>
            <a:r>
              <a:rPr sz="1450" b="1">
                <a:solidFill>
                  <a:srgbClr val="B3261E"/>
                </a:solidFill>
                <a:latin typeface="Calibri"/>
              </a:rPr>
              <a:t>not Cp</a:t>
            </a:r>
            <a:r>
              <a:rPr sz="1450" b="0">
                <a:solidFill>
                  <a:srgbClr val="0D2338"/>
                </a:solidFill>
                <a:latin typeface="Calibri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0D2338"/>
                </a:solidFill>
                <a:latin typeface="Calibri"/>
              </a:rPr>
              <a:t>The v^3.77 exponent decomposes almost entirely into the generator, not the rotor:</a:t>
            </a:r>
          </a:p>
          <a:p>
            <a:pPr algn="l" lvl="1">
              <a:spcAft>
                <a:spcPts val="600"/>
              </a:spcAft>
            </a:pPr>
            <a:r>
              <a:rPr sz="1200" b="0" i="0">
                <a:solidFill>
                  <a:srgbClr val="002147"/>
                </a:solidFill>
                <a:latin typeface="Consolas"/>
              </a:rPr>
              <a:t>V_oc ∝ v^1.52  and  R_int ∝ v^−0.64  (73.6 → 40.1 Ω)</a:t>
            </a:r>
          </a:p>
          <a:p>
            <a:pPr algn="l" lvl="1">
              <a:spcAft>
                <a:spcPts val="600"/>
              </a:spcAft>
            </a:pPr>
            <a:r>
              <a:rPr sz="1200" b="0" i="0">
                <a:solidFill>
                  <a:srgbClr val="002147"/>
                </a:solidFill>
                <a:latin typeface="Consolas"/>
              </a:rPr>
              <a:t>every peak sits at the Thévenin match, P = V_oc²/4R_int</a:t>
            </a:r>
          </a:p>
          <a:p>
            <a:pPr algn="l" lvl="1">
              <a:spcAft>
                <a:spcPts val="600"/>
              </a:spcAft>
            </a:pPr>
            <a:r>
              <a:rPr sz="1200" b="0" i="0">
                <a:solidFill>
                  <a:srgbClr val="002147"/>
                </a:solidFill>
                <a:latin typeface="Consolas"/>
              </a:rPr>
              <a:t>n = 2a − b = 3.69, against 3.77 measured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8A7038"/>
                </a:solidFill>
                <a:latin typeface="Calibri"/>
              </a:rPr>
              <a:t>→ </a:t>
            </a:r>
            <a:r>
              <a:rPr sz="1300" b="0">
                <a:solidFill>
                  <a:srgbClr val="0D2338"/>
                </a:solidFill>
                <a:latin typeface="Calibri"/>
              </a:rPr>
              <a:t>Little aerodynamic residual is left for the blade to move. Without rotor speed, blade comparisons partly compare the generator.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0D2338"/>
                </a:solidFill>
                <a:latin typeface="Calibri"/>
              </a:rPr>
              <a:t>Cp_elec = </a:t>
            </a:r>
            <a:r>
              <a:rPr sz="1300" b="1">
                <a:solidFill>
                  <a:srgbClr val="B3261E"/>
                </a:solidFill>
                <a:latin typeface="Calibri"/>
              </a:rPr>
              <a:t>0.10–0.24%</a:t>
            </a:r>
            <a:r>
              <a:rPr sz="1300" b="0">
                <a:solidFill>
                  <a:srgbClr val="0D2338"/>
                </a:solidFill>
                <a:latin typeface="Calibri"/>
              </a:rPr>
              <a:t>, roughly 100× below a working H-rotor, because peak power sits at ω/ω_runaway ≈ 0.70→0.94 — the far limb of Cp(λ) where Cp → 0 by construction.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0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292"/>
          </a:xfrm>
          <a:prstGeom prst="rect">
            <a:avLst/>
          </a:prstGeom>
          <a:solidFill>
            <a:srgbClr val="B59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85855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0DDF2"/>
                </a:solidFill>
                <a:latin typeface="Calibri"/>
              </a:rPr>
              <a:t>OPTIONAL  ·  THE NEXT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9768"/>
            <a:ext cx="1118585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One Channel Unlocks Cp(λ)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81328"/>
            <a:ext cx="12191695" cy="5376672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18488"/>
            <a:ext cx="11155680" cy="1051560"/>
          </a:xfrm>
          <a:prstGeom prst="rect">
            <a:avLst/>
          </a:prstGeom>
          <a:solidFill>
            <a:srgbClr val="EFF6F1"/>
          </a:solidFill>
          <a:ln w="12700">
            <a:solidFill>
              <a:srgbClr val="1F7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>
              <a:spcAft>
                <a:spcPts val="300"/>
              </a:spcAft>
            </a:pPr>
            <a:r>
              <a:rPr sz="1900" b="1" i="0">
                <a:solidFill>
                  <a:srgbClr val="1F7A52"/>
                </a:solidFill>
                <a:latin typeface="Calibri"/>
              </a:rPr>
              <a:t>The rotor-speed measurement already exists in the Jeong lab DAQ.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0D2338"/>
                </a:solidFill>
                <a:latin typeface="Calibri"/>
              </a:rPr>
              <a:t>A proximity sensor on the rig already records it. What is needed is its channel number and pulses-per-revolution — not new hardware.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52928"/>
            <a:ext cx="54864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2277B3"/>
                </a:solidFill>
                <a:latin typeface="Calibri"/>
              </a:rPr>
              <a:t>WHY IT MATTERS MORE THAN ANY BLADE RUN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277B3"/>
                </a:solidFill>
                <a:latin typeface="Calibri"/>
              </a:rPr>
              <a:t>• </a:t>
            </a:r>
            <a:r>
              <a:rPr sz="1300" b="0">
                <a:solidFill>
                  <a:srgbClr val="0D2338"/>
                </a:solidFill>
                <a:latin typeface="Calibri"/>
              </a:rPr>
              <a:t>Without ω there is no λ and no Cp, so the rig cannot separate rotor aerodynamics from generator matching.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277B3"/>
                </a:solidFill>
                <a:latin typeface="Calibri"/>
              </a:rPr>
              <a:t>• </a:t>
            </a:r>
            <a:r>
              <a:rPr sz="1300" b="0">
                <a:solidFill>
                  <a:srgbClr val="0D2338"/>
                </a:solidFill>
                <a:latin typeface="Calibri"/>
              </a:rPr>
              <a:t>A better blade can read as LESS power: anything that raises Cp_max while adding low-α drag lowers λ_runaway, lowers V_oc, and lowers measured P as the SQUARE of the speed change.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277B3"/>
                </a:solidFill>
                <a:latin typeface="Calibri"/>
              </a:rPr>
              <a:t>• </a:t>
            </a:r>
            <a:r>
              <a:rPr sz="1300" b="0">
                <a:solidFill>
                  <a:srgbClr val="0D2338"/>
                </a:solidFill>
                <a:latin typeface="Calibri"/>
              </a:rPr>
              <a:t>Two rotors with Cp_max of 5% and 25% would rank purely by how freely they spin.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2852928"/>
            <a:ext cx="54864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59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8A7038"/>
                </a:solidFill>
                <a:latin typeface="Calibri"/>
              </a:rPr>
              <a:t>THE PAYOFF IS RETROACTIVE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0D2338"/>
                </a:solidFill>
                <a:latin typeface="Calibri"/>
              </a:rPr>
              <a:t>Every </a:t>
            </a:r>
            <a:r>
              <a:rPr sz="1300" b="0">
                <a:solidFill>
                  <a:srgbClr val="002147"/>
                </a:solidFill>
                <a:latin typeface="Consolas"/>
              </a:rPr>
              <a:t>sweep_*_points.csv</a:t>
            </a:r>
            <a:r>
              <a:rPr sz="1300" b="0">
                <a:solidFill>
                  <a:srgbClr val="0D2338"/>
                </a:solidFill>
                <a:latin typeface="Calibri"/>
              </a:rPr>
              <a:t> already holds a full load ramp at all 14 wind speeds. Adding one rotor-speed channel converts the </a:t>
            </a:r>
            <a:r>
              <a:rPr sz="1300" b="1">
                <a:solidFill>
                  <a:srgbClr val="002147"/>
                </a:solidFill>
                <a:latin typeface="Calibri"/>
              </a:rPr>
              <a:t>entire existing archive</a:t>
            </a:r>
            <a:r>
              <a:rPr sz="1300" b="0">
                <a:solidFill>
                  <a:srgbClr val="0D2338"/>
                </a:solidFill>
                <a:latin typeface="Calibri"/>
              </a:rPr>
              <a:t> into a Cq(λ) traverse — without another minute of tunnel time.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2277B3"/>
                </a:solidFill>
                <a:latin typeface="Calibri"/>
              </a:rPr>
              <a:t>ALSO USEFUL, AND ALREADY BUILT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0D2338"/>
                </a:solidFill>
                <a:latin typeface="Calibri"/>
              </a:rPr>
              <a:t>Fan rpm now leaves the PMC as a 0–10 V analog signal for the DAQ (</a:t>
            </a:r>
            <a:r>
              <a:rPr sz="1300" b="0">
                <a:solidFill>
                  <a:srgbClr val="002147"/>
                </a:solidFill>
                <a:latin typeface="Consolas"/>
              </a:rPr>
              <a:t>0.5 V + rpm/300</a:t>
            </a:r>
            <a:r>
              <a:rPr sz="1300" b="0">
                <a:solidFill>
                  <a:srgbClr val="0D2338"/>
                </a:solidFill>
                <a:latin typeface="Calibri"/>
              </a:rPr>
              <a:t>), so fan speed and rotor speed share one time base. 0.000 V is a live zero meaning INVALID, not zero rpm.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0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50292"/>
          </a:xfrm>
          <a:prstGeom prst="rect">
            <a:avLst/>
          </a:prstGeom>
          <a:solidFill>
            <a:srgbClr val="B59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85855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0DDF2"/>
                </a:solidFill>
                <a:latin typeface="Calibri"/>
              </a:rPr>
              <a:t>OPTIONAL  ·  STATED PLAINLY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9768"/>
            <a:ext cx="1118585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Known 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81328"/>
            <a:ext cx="12191695" cy="5376672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184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5B7288"/>
                </a:solidFill>
                <a:latin typeface="Calibri"/>
              </a:rPr>
              <a:t>Every one of these was found by adversarial review of our own results, and each is recorded in the repository.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54864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18872"/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02147"/>
                </a:solidFill>
                <a:latin typeface="Calibri"/>
              </a:rPr>
              <a:t>Not Cp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0D2338"/>
                </a:solidFill>
                <a:latin typeface="Calibri"/>
              </a:rPr>
              <a:t>Electrical power only. Cp(λ) needs the rotor-speed channel; every blade tested before that lands must be re-run to obtain λ.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2103120"/>
            <a:ext cx="54864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18872"/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02147"/>
                </a:solidFill>
                <a:latin typeface="Calibri"/>
              </a:rPr>
              <a:t>The blade is not an airfoil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0D2338"/>
                </a:solidFill>
                <a:latin typeface="Calibri"/>
              </a:rPr>
              <a:t>1.79 mm constant wall, t/c 4%, 42% camber, 183° turning, square-cut edges. Separation is pinned by geometry, so any XFOIL or polar cross-check is answering a question about a different part.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401568"/>
            <a:ext cx="54864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18872"/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02147"/>
                </a:solidFill>
                <a:latin typeface="Calibri"/>
              </a:rPr>
              <a:t>Reynolds range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0D2338"/>
                </a:solidFill>
                <a:latin typeface="Calibri"/>
              </a:rPr>
              <a:t>Re_chord = 32,376 → 119,735. Below Reynolds-independence for a cross-flow turbine (~2×10⁵), so absolute performance is not transferable to full scale.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3401568"/>
            <a:ext cx="54864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18872"/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02147"/>
                </a:solidFill>
                <a:latin typeface="Calibri"/>
              </a:rPr>
              <a:t>Generator not characterised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0D2338"/>
                </a:solidFill>
                <a:latin typeface="Calibri"/>
              </a:rPr>
              <a:t>R_int is inferred from a curve fit and has never been measured directly. It gates every derived quantity.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700016"/>
            <a:ext cx="54864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18872"/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02147"/>
                </a:solidFill>
                <a:latin typeface="Calibri"/>
              </a:rPr>
              <a:t>Wind speed disagreement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0D2338"/>
                </a:solidFill>
                <a:latin typeface="Calibri"/>
              </a:rPr>
              <a:t>Summary and points files differ by 1.1–1.2% at the same fan set point. At v^3.77 that is 4.5% in power. Unresolved — flagged, not averaged away.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4700016"/>
            <a:ext cx="54864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0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18872"/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02147"/>
                </a:solidFill>
                <a:latin typeface="Calibri"/>
              </a:rPr>
              <a:t>Single-mount data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0D2338"/>
                </a:solidFill>
                <a:latin typeface="Calibri"/>
              </a:rPr>
              <a:t>Every result so far comes from one mounting of one rotor. There is no mount-to-mount error bar yet; the ABBA protocol for the next session produces the first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