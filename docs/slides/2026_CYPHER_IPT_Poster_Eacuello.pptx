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59" r:id="rId2"/>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49759"/>
    <a:srgbClr val="005091"/>
    <a:srgbClr val="002D62"/>
    <a:srgbClr val="FFFF1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4734"/>
  </p:normalViewPr>
  <p:slideViewPr>
    <p:cSldViewPr snapToGrid="0">
      <p:cViewPr varScale="1">
        <p:scale>
          <a:sx n="29" d="100"/>
          <a:sy n="29" d="100"/>
        </p:scale>
        <p:origin x="1784" y="3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55EA2-C933-4FBE-A588-F67046978167}" type="datetimeFigureOut">
              <a:rPr lang="en-US" smtClean="0"/>
              <a:t>8/26/26</a:t>
            </a:fld>
            <a:endParaRPr lang="en-US"/>
          </a:p>
        </p:txBody>
      </p:sp>
      <p:sp>
        <p:nvSpPr>
          <p:cNvPr id="4" name="Slide Image Placeholder 3"/>
          <p:cNvSpPr>
            <a:spLocks noGrp="1" noRot="1" noChangeAspect="1"/>
          </p:cNvSpPr>
          <p:nvPr>
            <p:ph type="sldImg" idx="2"/>
          </p:nvPr>
        </p:nvSpPr>
        <p:spPr>
          <a:xfrm>
            <a:off x="1114425" y="1143000"/>
            <a:ext cx="46291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752518-D8F5-455E-8AE5-FEB71CFACE48}" type="slidenum">
              <a:rPr lang="en-US" smtClean="0"/>
              <a:t>‹#›</a:t>
            </a:fld>
            <a:endParaRPr lang="en-US"/>
          </a:p>
        </p:txBody>
      </p:sp>
    </p:spTree>
    <p:extLst>
      <p:ext uri="{BB962C8B-B14F-4D97-AF65-F5344CB8AC3E}">
        <p14:creationId xmlns:p14="http://schemas.microsoft.com/office/powerpoint/2010/main" val="3991860892"/>
      </p:ext>
    </p:extLst>
  </p:cSld>
  <p:clrMap bg1="lt1" tx1="dk1" bg2="lt2" tx2="dk2" accent1="accent1" accent2="accent2" accent3="accent3" accent4="accent4" accent5="accent5" accent6="accent6" hlink="hlink" folHlink="folHlink"/>
  <p:notesStyle>
    <a:lvl1pPr marL="0" algn="l" defTabSz="2633472" rtl="0" eaLnBrk="1" latinLnBrk="0" hangingPunct="1">
      <a:defRPr sz="3456" kern="1200">
        <a:solidFill>
          <a:schemeClr val="tx1"/>
        </a:solidFill>
        <a:latin typeface="+mn-lt"/>
        <a:ea typeface="+mn-ea"/>
        <a:cs typeface="+mn-cs"/>
      </a:defRPr>
    </a:lvl1pPr>
    <a:lvl2pPr marL="1316736" algn="l" defTabSz="2633472" rtl="0" eaLnBrk="1" latinLnBrk="0" hangingPunct="1">
      <a:defRPr sz="3456" kern="1200">
        <a:solidFill>
          <a:schemeClr val="tx1"/>
        </a:solidFill>
        <a:latin typeface="+mn-lt"/>
        <a:ea typeface="+mn-ea"/>
        <a:cs typeface="+mn-cs"/>
      </a:defRPr>
    </a:lvl2pPr>
    <a:lvl3pPr marL="2633472" algn="l" defTabSz="2633472" rtl="0" eaLnBrk="1" latinLnBrk="0" hangingPunct="1">
      <a:defRPr sz="3456" kern="1200">
        <a:solidFill>
          <a:schemeClr val="tx1"/>
        </a:solidFill>
        <a:latin typeface="+mn-lt"/>
        <a:ea typeface="+mn-ea"/>
        <a:cs typeface="+mn-cs"/>
      </a:defRPr>
    </a:lvl3pPr>
    <a:lvl4pPr marL="3950208" algn="l" defTabSz="2633472" rtl="0" eaLnBrk="1" latinLnBrk="0" hangingPunct="1">
      <a:defRPr sz="3456" kern="1200">
        <a:solidFill>
          <a:schemeClr val="tx1"/>
        </a:solidFill>
        <a:latin typeface="+mn-lt"/>
        <a:ea typeface="+mn-ea"/>
        <a:cs typeface="+mn-cs"/>
      </a:defRPr>
    </a:lvl4pPr>
    <a:lvl5pPr marL="5266944" algn="l" defTabSz="2633472" rtl="0" eaLnBrk="1" latinLnBrk="0" hangingPunct="1">
      <a:defRPr sz="3456" kern="1200">
        <a:solidFill>
          <a:schemeClr val="tx1"/>
        </a:solidFill>
        <a:latin typeface="+mn-lt"/>
        <a:ea typeface="+mn-ea"/>
        <a:cs typeface="+mn-cs"/>
      </a:defRPr>
    </a:lvl5pPr>
    <a:lvl6pPr marL="6583680" algn="l" defTabSz="2633472" rtl="0" eaLnBrk="1" latinLnBrk="0" hangingPunct="1">
      <a:defRPr sz="3456" kern="1200">
        <a:solidFill>
          <a:schemeClr val="tx1"/>
        </a:solidFill>
        <a:latin typeface="+mn-lt"/>
        <a:ea typeface="+mn-ea"/>
        <a:cs typeface="+mn-cs"/>
      </a:defRPr>
    </a:lvl6pPr>
    <a:lvl7pPr marL="7900416" algn="l" defTabSz="2633472" rtl="0" eaLnBrk="1" latinLnBrk="0" hangingPunct="1">
      <a:defRPr sz="3456" kern="1200">
        <a:solidFill>
          <a:schemeClr val="tx1"/>
        </a:solidFill>
        <a:latin typeface="+mn-lt"/>
        <a:ea typeface="+mn-ea"/>
        <a:cs typeface="+mn-cs"/>
      </a:defRPr>
    </a:lvl7pPr>
    <a:lvl8pPr marL="9217152" algn="l" defTabSz="2633472" rtl="0" eaLnBrk="1" latinLnBrk="0" hangingPunct="1">
      <a:defRPr sz="3456" kern="1200">
        <a:solidFill>
          <a:schemeClr val="tx1"/>
        </a:solidFill>
        <a:latin typeface="+mn-lt"/>
        <a:ea typeface="+mn-ea"/>
        <a:cs typeface="+mn-cs"/>
      </a:defRPr>
    </a:lvl8pPr>
    <a:lvl9pPr marL="10533888" algn="l" defTabSz="2633472" rtl="0" eaLnBrk="1" latinLnBrk="0" hangingPunct="1">
      <a:defRPr sz="345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9752518-D8F5-455E-8AE5-FEB71CFACE48}" type="slidenum">
              <a:rPr lang="en-US" smtClean="0"/>
              <a:t>1</a:t>
            </a:fld>
            <a:endParaRPr lang="en-US"/>
          </a:p>
        </p:txBody>
      </p:sp>
    </p:spTree>
    <p:extLst>
      <p:ext uri="{BB962C8B-B14F-4D97-AF65-F5344CB8AC3E}">
        <p14:creationId xmlns:p14="http://schemas.microsoft.com/office/powerpoint/2010/main" val="42754572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880" y="3591562"/>
            <a:ext cx="27980640" cy="7640320"/>
          </a:xfrm>
        </p:spPr>
        <p:txBody>
          <a:bodyPr anchor="b"/>
          <a:lstStyle>
            <a:lvl1pPr algn="ctr">
              <a:defRPr sz="19200"/>
            </a:lvl1pPr>
          </a:lstStyle>
          <a:p>
            <a:r>
              <a:rPr lang="en-US"/>
              <a:t>Click to edit Master title style</a:t>
            </a:r>
            <a:endParaRPr lang="en-US" dirty="0"/>
          </a:p>
        </p:txBody>
      </p:sp>
      <p:sp>
        <p:nvSpPr>
          <p:cNvPr id="3" name="Subtitle 2"/>
          <p:cNvSpPr>
            <a:spLocks noGrp="1"/>
          </p:cNvSpPr>
          <p:nvPr>
            <p:ph type="subTitle" idx="1"/>
          </p:nvPr>
        </p:nvSpPr>
        <p:spPr>
          <a:xfrm>
            <a:off x="4114800" y="11526522"/>
            <a:ext cx="24688800" cy="5298438"/>
          </a:xfrm>
        </p:spPr>
        <p:txBody>
          <a:bodyPr/>
          <a:lstStyle>
            <a:lvl1pPr marL="0" indent="0" algn="ctr">
              <a:buNone/>
              <a:defRPr sz="7680"/>
            </a:lvl1pPr>
            <a:lvl2pPr marL="1463040" indent="0" algn="ctr">
              <a:buNone/>
              <a:defRPr sz="6400"/>
            </a:lvl2pPr>
            <a:lvl3pPr marL="2926080" indent="0" algn="ctr">
              <a:buNone/>
              <a:defRPr sz="5760"/>
            </a:lvl3pPr>
            <a:lvl4pPr marL="4389120" indent="0" algn="ctr">
              <a:buNone/>
              <a:defRPr sz="5120"/>
            </a:lvl4pPr>
            <a:lvl5pPr marL="5852160" indent="0" algn="ctr">
              <a:buNone/>
              <a:defRPr sz="5120"/>
            </a:lvl5pPr>
            <a:lvl6pPr marL="7315200" indent="0" algn="ctr">
              <a:buNone/>
              <a:defRPr sz="5120"/>
            </a:lvl6pPr>
            <a:lvl7pPr marL="8778240" indent="0" algn="ctr">
              <a:buNone/>
              <a:defRPr sz="5120"/>
            </a:lvl7pPr>
            <a:lvl8pPr marL="10241280" indent="0" algn="ctr">
              <a:buNone/>
              <a:defRPr sz="5120"/>
            </a:lvl8pPr>
            <a:lvl9pPr marL="11704320" indent="0" algn="ctr">
              <a:buNone/>
              <a:defRPr sz="51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3EA1016-3272-46F4-B534-9137F2D42845}" type="datetimeFigureOut">
              <a:rPr lang="en-US" smtClean="0"/>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D1535F-233F-4358-B223-D0792B57053A}" type="slidenum">
              <a:rPr lang="en-US" smtClean="0"/>
              <a:t>‹#›</a:t>
            </a:fld>
            <a:endParaRPr lang="en-US"/>
          </a:p>
        </p:txBody>
      </p:sp>
    </p:spTree>
    <p:extLst>
      <p:ext uri="{BB962C8B-B14F-4D97-AF65-F5344CB8AC3E}">
        <p14:creationId xmlns:p14="http://schemas.microsoft.com/office/powerpoint/2010/main" val="3548471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EA1016-3272-46F4-B534-9137F2D42845}" type="datetimeFigureOut">
              <a:rPr lang="en-US" smtClean="0"/>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D1535F-233F-4358-B223-D0792B57053A}" type="slidenum">
              <a:rPr lang="en-US" smtClean="0"/>
              <a:t>‹#›</a:t>
            </a:fld>
            <a:endParaRPr lang="en-US"/>
          </a:p>
        </p:txBody>
      </p:sp>
    </p:spTree>
    <p:extLst>
      <p:ext uri="{BB962C8B-B14F-4D97-AF65-F5344CB8AC3E}">
        <p14:creationId xmlns:p14="http://schemas.microsoft.com/office/powerpoint/2010/main" val="842974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45997" y="5471167"/>
            <a:ext cx="28392120" cy="9128758"/>
          </a:xfrm>
        </p:spPr>
        <p:txBody>
          <a:bodyPr anchor="b"/>
          <a:lstStyle>
            <a:lvl1pPr>
              <a:defRPr sz="19200"/>
            </a:lvl1pPr>
          </a:lstStyle>
          <a:p>
            <a:r>
              <a:rPr lang="en-US"/>
              <a:t>Click to edit Master title style</a:t>
            </a:r>
            <a:endParaRPr lang="en-US" dirty="0"/>
          </a:p>
        </p:txBody>
      </p:sp>
      <p:sp>
        <p:nvSpPr>
          <p:cNvPr id="3" name="Text Placeholder 2"/>
          <p:cNvSpPr>
            <a:spLocks noGrp="1"/>
          </p:cNvSpPr>
          <p:nvPr>
            <p:ph type="body" idx="1"/>
          </p:nvPr>
        </p:nvSpPr>
        <p:spPr>
          <a:xfrm>
            <a:off x="2245997" y="14686287"/>
            <a:ext cx="28392120" cy="4800598"/>
          </a:xfrm>
        </p:spPr>
        <p:txBody>
          <a:bodyPr/>
          <a:lstStyle>
            <a:lvl1pPr marL="0" indent="0">
              <a:buNone/>
              <a:defRPr sz="7680">
                <a:solidFill>
                  <a:schemeClr val="tx1">
                    <a:tint val="82000"/>
                  </a:schemeClr>
                </a:solidFill>
              </a:defRPr>
            </a:lvl1pPr>
            <a:lvl2pPr marL="1463040" indent="0">
              <a:buNone/>
              <a:defRPr sz="6400">
                <a:solidFill>
                  <a:schemeClr val="tx1">
                    <a:tint val="82000"/>
                  </a:schemeClr>
                </a:solidFill>
              </a:defRPr>
            </a:lvl2pPr>
            <a:lvl3pPr marL="2926080" indent="0">
              <a:buNone/>
              <a:defRPr sz="5760">
                <a:solidFill>
                  <a:schemeClr val="tx1">
                    <a:tint val="82000"/>
                  </a:schemeClr>
                </a:solidFill>
              </a:defRPr>
            </a:lvl3pPr>
            <a:lvl4pPr marL="4389120" indent="0">
              <a:buNone/>
              <a:defRPr sz="5120">
                <a:solidFill>
                  <a:schemeClr val="tx1">
                    <a:tint val="82000"/>
                  </a:schemeClr>
                </a:solidFill>
              </a:defRPr>
            </a:lvl4pPr>
            <a:lvl5pPr marL="5852160" indent="0">
              <a:buNone/>
              <a:defRPr sz="5120">
                <a:solidFill>
                  <a:schemeClr val="tx1">
                    <a:tint val="82000"/>
                  </a:schemeClr>
                </a:solidFill>
              </a:defRPr>
            </a:lvl5pPr>
            <a:lvl6pPr marL="7315200" indent="0">
              <a:buNone/>
              <a:defRPr sz="5120">
                <a:solidFill>
                  <a:schemeClr val="tx1">
                    <a:tint val="82000"/>
                  </a:schemeClr>
                </a:solidFill>
              </a:defRPr>
            </a:lvl6pPr>
            <a:lvl7pPr marL="8778240" indent="0">
              <a:buNone/>
              <a:defRPr sz="5120">
                <a:solidFill>
                  <a:schemeClr val="tx1">
                    <a:tint val="82000"/>
                  </a:schemeClr>
                </a:solidFill>
              </a:defRPr>
            </a:lvl7pPr>
            <a:lvl8pPr marL="10241280" indent="0">
              <a:buNone/>
              <a:defRPr sz="5120">
                <a:solidFill>
                  <a:schemeClr val="tx1">
                    <a:tint val="82000"/>
                  </a:schemeClr>
                </a:solidFill>
              </a:defRPr>
            </a:lvl8pPr>
            <a:lvl9pPr marL="11704320" indent="0">
              <a:buNone/>
              <a:defRPr sz="512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EA1016-3272-46F4-B534-9137F2D42845}" type="datetimeFigureOut">
              <a:rPr lang="en-US" smtClean="0"/>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D1535F-233F-4358-B223-D0792B57053A}" type="slidenum">
              <a:rPr lang="en-US" smtClean="0"/>
              <a:t>‹#›</a:t>
            </a:fld>
            <a:endParaRPr lang="en-US"/>
          </a:p>
        </p:txBody>
      </p:sp>
    </p:spTree>
    <p:extLst>
      <p:ext uri="{BB962C8B-B14F-4D97-AF65-F5344CB8AC3E}">
        <p14:creationId xmlns:p14="http://schemas.microsoft.com/office/powerpoint/2010/main" val="31527283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263140" y="5842000"/>
            <a:ext cx="1399032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6664940" y="5842000"/>
            <a:ext cx="1399032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3EA1016-3272-46F4-B534-9137F2D42845}" type="datetimeFigureOut">
              <a:rPr lang="en-US" smtClean="0"/>
              <a:t>8/26/26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D1535F-233F-4358-B223-D0792B57053A}" type="slidenum">
              <a:rPr lang="en-US" smtClean="0"/>
              <a:t>‹#›</a:t>
            </a:fld>
            <a:endParaRPr lang="en-US"/>
          </a:p>
        </p:txBody>
      </p:sp>
    </p:spTree>
    <p:extLst>
      <p:ext uri="{BB962C8B-B14F-4D97-AF65-F5344CB8AC3E}">
        <p14:creationId xmlns:p14="http://schemas.microsoft.com/office/powerpoint/2010/main" val="2174247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168405"/>
            <a:ext cx="28392120" cy="42418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2267431" y="5379722"/>
            <a:ext cx="13926024"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4" name="Content Placeholder 3"/>
          <p:cNvSpPr>
            <a:spLocks noGrp="1"/>
          </p:cNvSpPr>
          <p:nvPr>
            <p:ph sz="half" idx="2"/>
          </p:nvPr>
        </p:nvSpPr>
        <p:spPr>
          <a:xfrm>
            <a:off x="2267431" y="8016240"/>
            <a:ext cx="13926024"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6664942" y="5379722"/>
            <a:ext cx="13994608"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6" name="Content Placeholder 5"/>
          <p:cNvSpPr>
            <a:spLocks noGrp="1"/>
          </p:cNvSpPr>
          <p:nvPr>
            <p:ph sz="quarter" idx="4"/>
          </p:nvPr>
        </p:nvSpPr>
        <p:spPr>
          <a:xfrm>
            <a:off x="16664942" y="8016240"/>
            <a:ext cx="13994608"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3EA1016-3272-46F4-B534-9137F2D42845}" type="datetimeFigureOut">
              <a:rPr lang="en-US" smtClean="0"/>
              <a:t>8/26/26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1D1535F-233F-4358-B223-D0792B57053A}" type="slidenum">
              <a:rPr lang="en-US" smtClean="0"/>
              <a:t>‹#›</a:t>
            </a:fld>
            <a:endParaRPr lang="en-US"/>
          </a:p>
        </p:txBody>
      </p:sp>
    </p:spTree>
    <p:extLst>
      <p:ext uri="{BB962C8B-B14F-4D97-AF65-F5344CB8AC3E}">
        <p14:creationId xmlns:p14="http://schemas.microsoft.com/office/powerpoint/2010/main" val="812261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EA1016-3272-46F4-B534-9137F2D42845}" type="datetimeFigureOut">
              <a:rPr lang="en-US" smtClean="0"/>
              <a:t>8/26/26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1D1535F-233F-4358-B223-D0792B57053A}" type="slidenum">
              <a:rPr lang="en-US" smtClean="0"/>
              <a:t>‹#›</a:t>
            </a:fld>
            <a:endParaRPr lang="en-US"/>
          </a:p>
        </p:txBody>
      </p:sp>
    </p:spTree>
    <p:extLst>
      <p:ext uri="{BB962C8B-B14F-4D97-AF65-F5344CB8AC3E}">
        <p14:creationId xmlns:p14="http://schemas.microsoft.com/office/powerpoint/2010/main" val="3040637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EA1016-3272-46F4-B534-9137F2D42845}" type="datetimeFigureOut">
              <a:rPr lang="en-US" smtClean="0"/>
              <a:t>8/26/26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1D1535F-233F-4358-B223-D0792B57053A}" type="slidenum">
              <a:rPr lang="en-US" smtClean="0"/>
              <a:t>‹#›</a:t>
            </a:fld>
            <a:endParaRPr lang="en-US"/>
          </a:p>
        </p:txBody>
      </p:sp>
    </p:spTree>
    <p:extLst>
      <p:ext uri="{BB962C8B-B14F-4D97-AF65-F5344CB8AC3E}">
        <p14:creationId xmlns:p14="http://schemas.microsoft.com/office/powerpoint/2010/main" val="32971360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463040"/>
            <a:ext cx="10617041" cy="5120640"/>
          </a:xfrm>
        </p:spPr>
        <p:txBody>
          <a:bodyPr anchor="b"/>
          <a:lstStyle>
            <a:lvl1pPr>
              <a:defRPr sz="10240"/>
            </a:lvl1pPr>
          </a:lstStyle>
          <a:p>
            <a:r>
              <a:rPr lang="en-US"/>
              <a:t>Click to edit Master title style</a:t>
            </a:r>
            <a:endParaRPr lang="en-US" dirty="0"/>
          </a:p>
        </p:txBody>
      </p:sp>
      <p:sp>
        <p:nvSpPr>
          <p:cNvPr id="3" name="Content Placeholder 2"/>
          <p:cNvSpPr>
            <a:spLocks noGrp="1"/>
          </p:cNvSpPr>
          <p:nvPr>
            <p:ph idx="1"/>
          </p:nvPr>
        </p:nvSpPr>
        <p:spPr>
          <a:xfrm>
            <a:off x="13994608" y="3159765"/>
            <a:ext cx="16664940" cy="15595600"/>
          </a:xfrm>
        </p:spPr>
        <p:txBody>
          <a:bodyPr/>
          <a:lstStyle>
            <a:lvl1pPr>
              <a:defRPr sz="10240"/>
            </a:lvl1pPr>
            <a:lvl2pPr>
              <a:defRPr sz="8960"/>
            </a:lvl2pPr>
            <a:lvl3pPr>
              <a:defRPr sz="7680"/>
            </a:lvl3pPr>
            <a:lvl4pPr>
              <a:defRPr sz="6400"/>
            </a:lvl4pPr>
            <a:lvl5pPr>
              <a:defRPr sz="6400"/>
            </a:lvl5pPr>
            <a:lvl6pPr>
              <a:defRPr sz="6400"/>
            </a:lvl6pPr>
            <a:lvl7pPr>
              <a:defRPr sz="6400"/>
            </a:lvl7pPr>
            <a:lvl8pPr>
              <a:defRPr sz="6400"/>
            </a:lvl8pPr>
            <a:lvl9pPr>
              <a:defRPr sz="6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267428" y="6583680"/>
            <a:ext cx="10617041"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fld id="{D3EA1016-3272-46F4-B534-9137F2D42845}" type="datetimeFigureOut">
              <a:rPr lang="en-US" smtClean="0"/>
              <a:t>8/26/26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D1535F-233F-4358-B223-D0792B57053A}" type="slidenum">
              <a:rPr lang="en-US" smtClean="0"/>
              <a:t>‹#›</a:t>
            </a:fld>
            <a:endParaRPr lang="en-US"/>
          </a:p>
        </p:txBody>
      </p:sp>
    </p:spTree>
    <p:extLst>
      <p:ext uri="{BB962C8B-B14F-4D97-AF65-F5344CB8AC3E}">
        <p14:creationId xmlns:p14="http://schemas.microsoft.com/office/powerpoint/2010/main" val="17520000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463040"/>
            <a:ext cx="10617041" cy="5120640"/>
          </a:xfrm>
        </p:spPr>
        <p:txBody>
          <a:bodyPr anchor="b"/>
          <a:lstStyle>
            <a:lvl1pPr>
              <a:defRPr sz="1024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994608" y="3159765"/>
            <a:ext cx="16664940" cy="15595600"/>
          </a:xfrm>
        </p:spPr>
        <p:txBody>
          <a:bodyPr anchor="t"/>
          <a:lstStyle>
            <a:lvl1pPr marL="0" indent="0">
              <a:buNone/>
              <a:defRPr sz="10240"/>
            </a:lvl1pPr>
            <a:lvl2pPr marL="1463040" indent="0">
              <a:buNone/>
              <a:defRPr sz="8960"/>
            </a:lvl2pPr>
            <a:lvl3pPr marL="2926080" indent="0">
              <a:buNone/>
              <a:defRPr sz="7680"/>
            </a:lvl3pPr>
            <a:lvl4pPr marL="4389120" indent="0">
              <a:buNone/>
              <a:defRPr sz="6400"/>
            </a:lvl4pPr>
            <a:lvl5pPr marL="5852160" indent="0">
              <a:buNone/>
              <a:defRPr sz="6400"/>
            </a:lvl5pPr>
            <a:lvl6pPr marL="7315200" indent="0">
              <a:buNone/>
              <a:defRPr sz="6400"/>
            </a:lvl6pPr>
            <a:lvl7pPr marL="8778240" indent="0">
              <a:buNone/>
              <a:defRPr sz="6400"/>
            </a:lvl7pPr>
            <a:lvl8pPr marL="10241280" indent="0">
              <a:buNone/>
              <a:defRPr sz="6400"/>
            </a:lvl8pPr>
            <a:lvl9pPr marL="11704320" indent="0">
              <a:buNone/>
              <a:defRPr sz="6400"/>
            </a:lvl9pPr>
          </a:lstStyle>
          <a:p>
            <a:r>
              <a:rPr lang="en-US"/>
              <a:t>Click icon to add picture</a:t>
            </a:r>
            <a:endParaRPr lang="en-US" dirty="0"/>
          </a:p>
        </p:txBody>
      </p:sp>
      <p:sp>
        <p:nvSpPr>
          <p:cNvPr id="4" name="Text Placeholder 3"/>
          <p:cNvSpPr>
            <a:spLocks noGrp="1"/>
          </p:cNvSpPr>
          <p:nvPr>
            <p:ph type="body" sz="half" idx="2"/>
          </p:nvPr>
        </p:nvSpPr>
        <p:spPr>
          <a:xfrm>
            <a:off x="2267428" y="6583680"/>
            <a:ext cx="10617041"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fld id="{D3EA1016-3272-46F4-B534-9137F2D42845}" type="datetimeFigureOut">
              <a:rPr lang="en-US" smtClean="0"/>
              <a:t>8/26/26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D1535F-233F-4358-B223-D0792B57053A}" type="slidenum">
              <a:rPr lang="en-US" smtClean="0"/>
              <a:t>‹#›</a:t>
            </a:fld>
            <a:endParaRPr lang="en-US"/>
          </a:p>
        </p:txBody>
      </p:sp>
    </p:spTree>
    <p:extLst>
      <p:ext uri="{BB962C8B-B14F-4D97-AF65-F5344CB8AC3E}">
        <p14:creationId xmlns:p14="http://schemas.microsoft.com/office/powerpoint/2010/main" val="13489353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EA1016-3272-46F4-B534-9137F2D42845}" type="datetimeFigureOut">
              <a:rPr lang="en-US" smtClean="0"/>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D1535F-233F-4358-B223-D0792B57053A}" type="slidenum">
              <a:rPr lang="en-US" smtClean="0"/>
              <a:t>‹#›</a:t>
            </a:fld>
            <a:endParaRPr lang="en-US"/>
          </a:p>
        </p:txBody>
      </p:sp>
    </p:spTree>
    <p:extLst>
      <p:ext uri="{BB962C8B-B14F-4D97-AF65-F5344CB8AC3E}">
        <p14:creationId xmlns:p14="http://schemas.microsoft.com/office/powerpoint/2010/main" val="1458636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557232" y="1168400"/>
            <a:ext cx="7098030" cy="1859788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63142" y="1168400"/>
            <a:ext cx="20882610" cy="1859788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EA1016-3272-46F4-B534-9137F2D42845}" type="datetimeFigureOut">
              <a:rPr lang="en-US" smtClean="0"/>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D1535F-233F-4358-B223-D0792B57053A}" type="slidenum">
              <a:rPr lang="en-US" smtClean="0"/>
              <a:t>‹#›</a:t>
            </a:fld>
            <a:endParaRPr lang="en-US"/>
          </a:p>
        </p:txBody>
      </p:sp>
    </p:spTree>
    <p:extLst>
      <p:ext uri="{BB962C8B-B14F-4D97-AF65-F5344CB8AC3E}">
        <p14:creationId xmlns:p14="http://schemas.microsoft.com/office/powerpoint/2010/main" val="287615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63140" y="1168405"/>
            <a:ext cx="28392120" cy="42418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63140" y="5842000"/>
            <a:ext cx="28392120" cy="139242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263140" y="20340325"/>
            <a:ext cx="7406640" cy="1168400"/>
          </a:xfrm>
          <a:prstGeom prst="rect">
            <a:avLst/>
          </a:prstGeom>
        </p:spPr>
        <p:txBody>
          <a:bodyPr vert="horz" lIns="91440" tIns="45720" rIns="91440" bIns="45720" rtlCol="0" anchor="ctr"/>
          <a:lstStyle>
            <a:lvl1pPr algn="l">
              <a:defRPr sz="3840">
                <a:solidFill>
                  <a:schemeClr val="tx1">
                    <a:tint val="82000"/>
                  </a:schemeClr>
                </a:solidFill>
              </a:defRPr>
            </a:lvl1pPr>
          </a:lstStyle>
          <a:p>
            <a:fld id="{D3EA1016-3272-46F4-B534-9137F2D42845}" type="datetimeFigureOut">
              <a:rPr lang="en-US" smtClean="0"/>
              <a:t>8/26/26</a:t>
            </a:fld>
            <a:endParaRPr lang="en-US"/>
          </a:p>
        </p:txBody>
      </p:sp>
      <p:sp>
        <p:nvSpPr>
          <p:cNvPr id="5" name="Footer Placeholder 4"/>
          <p:cNvSpPr>
            <a:spLocks noGrp="1"/>
          </p:cNvSpPr>
          <p:nvPr>
            <p:ph type="ftr" sz="quarter" idx="3"/>
          </p:nvPr>
        </p:nvSpPr>
        <p:spPr>
          <a:xfrm>
            <a:off x="10904220" y="20340325"/>
            <a:ext cx="11109960" cy="1168400"/>
          </a:xfrm>
          <a:prstGeom prst="rect">
            <a:avLst/>
          </a:prstGeom>
        </p:spPr>
        <p:txBody>
          <a:bodyPr vert="horz" lIns="91440" tIns="45720" rIns="91440" bIns="45720" rtlCol="0" anchor="ctr"/>
          <a:lstStyle>
            <a:lvl1pPr algn="ctr">
              <a:defRPr sz="384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3248620" y="20340325"/>
            <a:ext cx="7406640" cy="1168400"/>
          </a:xfrm>
          <a:prstGeom prst="rect">
            <a:avLst/>
          </a:prstGeom>
        </p:spPr>
        <p:txBody>
          <a:bodyPr vert="horz" lIns="91440" tIns="45720" rIns="91440" bIns="45720" rtlCol="0" anchor="ctr"/>
          <a:lstStyle>
            <a:lvl1pPr algn="r">
              <a:defRPr sz="3840">
                <a:solidFill>
                  <a:schemeClr val="tx1">
                    <a:tint val="82000"/>
                  </a:schemeClr>
                </a:solidFill>
              </a:defRPr>
            </a:lvl1pPr>
          </a:lstStyle>
          <a:p>
            <a:fld id="{01D1535F-233F-4358-B223-D0792B57053A}" type="slidenum">
              <a:rPr lang="en-US" smtClean="0"/>
              <a:t>‹#›</a:t>
            </a:fld>
            <a:endParaRPr lang="en-US"/>
          </a:p>
        </p:txBody>
      </p:sp>
    </p:spTree>
    <p:extLst>
      <p:ext uri="{BB962C8B-B14F-4D97-AF65-F5344CB8AC3E}">
        <p14:creationId xmlns:p14="http://schemas.microsoft.com/office/powerpoint/2010/main" val="13425780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926080" rtl="0" eaLnBrk="1" latinLnBrk="0" hangingPunct="1">
        <a:lnSpc>
          <a:spcPct val="90000"/>
        </a:lnSpc>
        <a:spcBef>
          <a:spcPct val="0"/>
        </a:spcBef>
        <a:buNone/>
        <a:defRPr sz="14080" kern="1200">
          <a:solidFill>
            <a:schemeClr val="tx1"/>
          </a:solidFill>
          <a:latin typeface="+mj-lt"/>
          <a:ea typeface="+mj-ea"/>
          <a:cs typeface="+mj-cs"/>
        </a:defRPr>
      </a:lvl1pPr>
    </p:titleStyle>
    <p:bodyStyle>
      <a:lvl1pPr marL="731520" indent="-731520" algn="l" defTabSz="2926080" rtl="0" eaLnBrk="1" latinLnBrk="0" hangingPunct="1">
        <a:lnSpc>
          <a:spcPct val="90000"/>
        </a:lnSpc>
        <a:spcBef>
          <a:spcPts val="3200"/>
        </a:spcBef>
        <a:buFont typeface="Arial" panose="020B0604020202020204" pitchFamily="34" charset="0"/>
        <a:buChar char="•"/>
        <a:defRPr sz="8960" kern="1200">
          <a:solidFill>
            <a:schemeClr val="tx1"/>
          </a:solidFill>
          <a:latin typeface="+mn-lt"/>
          <a:ea typeface="+mn-ea"/>
          <a:cs typeface="+mn-cs"/>
        </a:defRPr>
      </a:lvl1pPr>
      <a:lvl2pPr marL="2194560" indent="-731520" algn="l" defTabSz="2926080" rtl="0" eaLnBrk="1" latinLnBrk="0" hangingPunct="1">
        <a:lnSpc>
          <a:spcPct val="90000"/>
        </a:lnSpc>
        <a:spcBef>
          <a:spcPts val="1600"/>
        </a:spcBef>
        <a:buFont typeface="Arial" panose="020B0604020202020204" pitchFamily="34" charset="0"/>
        <a:buChar char="•"/>
        <a:defRPr sz="7680" kern="1200">
          <a:solidFill>
            <a:schemeClr val="tx1"/>
          </a:solidFill>
          <a:latin typeface="+mn-lt"/>
          <a:ea typeface="+mn-ea"/>
          <a:cs typeface="+mn-cs"/>
        </a:defRPr>
      </a:lvl2pPr>
      <a:lvl3pPr marL="3657600" indent="-731520" algn="l" defTabSz="2926080" rtl="0" eaLnBrk="1" latinLnBrk="0" hangingPunct="1">
        <a:lnSpc>
          <a:spcPct val="90000"/>
        </a:lnSpc>
        <a:spcBef>
          <a:spcPts val="1600"/>
        </a:spcBef>
        <a:buFont typeface="Arial" panose="020B0604020202020204" pitchFamily="34" charset="0"/>
        <a:buChar char="•"/>
        <a:defRPr sz="6400" kern="1200">
          <a:solidFill>
            <a:schemeClr val="tx1"/>
          </a:solidFill>
          <a:latin typeface="+mn-lt"/>
          <a:ea typeface="+mn-ea"/>
          <a:cs typeface="+mn-cs"/>
        </a:defRPr>
      </a:lvl3pPr>
      <a:lvl4pPr marL="51206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4pPr>
      <a:lvl5pPr marL="658368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5pPr>
      <a:lvl6pPr marL="804672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6pPr>
      <a:lvl7pPr marL="950976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7pPr>
      <a:lvl8pPr marL="1097280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8pPr>
      <a:lvl9pPr marL="124358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9pPr>
    </p:bodyStyle>
    <p:otherStyle>
      <a:defPPr>
        <a:defRPr lang="en-US"/>
      </a:defPPr>
      <a:lvl1pPr marL="0" algn="l" defTabSz="2926080" rtl="0" eaLnBrk="1" latinLnBrk="0" hangingPunct="1">
        <a:defRPr sz="5760" kern="1200">
          <a:solidFill>
            <a:schemeClr val="tx1"/>
          </a:solidFill>
          <a:latin typeface="+mn-lt"/>
          <a:ea typeface="+mn-ea"/>
          <a:cs typeface="+mn-cs"/>
        </a:defRPr>
      </a:lvl1pPr>
      <a:lvl2pPr marL="1463040" algn="l" defTabSz="2926080" rtl="0" eaLnBrk="1" latinLnBrk="0" hangingPunct="1">
        <a:defRPr sz="5760" kern="1200">
          <a:solidFill>
            <a:schemeClr val="tx1"/>
          </a:solidFill>
          <a:latin typeface="+mn-lt"/>
          <a:ea typeface="+mn-ea"/>
          <a:cs typeface="+mn-cs"/>
        </a:defRPr>
      </a:lvl2pPr>
      <a:lvl3pPr marL="2926080" algn="l" defTabSz="2926080" rtl="0" eaLnBrk="1" latinLnBrk="0" hangingPunct="1">
        <a:defRPr sz="5760" kern="1200">
          <a:solidFill>
            <a:schemeClr val="tx1"/>
          </a:solidFill>
          <a:latin typeface="+mn-lt"/>
          <a:ea typeface="+mn-ea"/>
          <a:cs typeface="+mn-cs"/>
        </a:defRPr>
      </a:lvl3pPr>
      <a:lvl4pPr marL="4389120" algn="l" defTabSz="2926080" rtl="0" eaLnBrk="1" latinLnBrk="0" hangingPunct="1">
        <a:defRPr sz="5760" kern="1200">
          <a:solidFill>
            <a:schemeClr val="tx1"/>
          </a:solidFill>
          <a:latin typeface="+mn-lt"/>
          <a:ea typeface="+mn-ea"/>
          <a:cs typeface="+mn-cs"/>
        </a:defRPr>
      </a:lvl4pPr>
      <a:lvl5pPr marL="5852160" algn="l" defTabSz="2926080" rtl="0" eaLnBrk="1" latinLnBrk="0" hangingPunct="1">
        <a:defRPr sz="5760" kern="1200">
          <a:solidFill>
            <a:schemeClr val="tx1"/>
          </a:solidFill>
          <a:latin typeface="+mn-lt"/>
          <a:ea typeface="+mn-ea"/>
          <a:cs typeface="+mn-cs"/>
        </a:defRPr>
      </a:lvl5pPr>
      <a:lvl6pPr marL="7315200" algn="l" defTabSz="2926080" rtl="0" eaLnBrk="1" latinLnBrk="0" hangingPunct="1">
        <a:defRPr sz="5760" kern="1200">
          <a:solidFill>
            <a:schemeClr val="tx1"/>
          </a:solidFill>
          <a:latin typeface="+mn-lt"/>
          <a:ea typeface="+mn-ea"/>
          <a:cs typeface="+mn-cs"/>
        </a:defRPr>
      </a:lvl6pPr>
      <a:lvl7pPr marL="8778240" algn="l" defTabSz="2926080" rtl="0" eaLnBrk="1" latinLnBrk="0" hangingPunct="1">
        <a:defRPr sz="5760" kern="1200">
          <a:solidFill>
            <a:schemeClr val="tx1"/>
          </a:solidFill>
          <a:latin typeface="+mn-lt"/>
          <a:ea typeface="+mn-ea"/>
          <a:cs typeface="+mn-cs"/>
        </a:defRPr>
      </a:lvl7pPr>
      <a:lvl8pPr marL="10241280" algn="l" defTabSz="2926080" rtl="0" eaLnBrk="1" latinLnBrk="0" hangingPunct="1">
        <a:defRPr sz="5760" kern="1200">
          <a:solidFill>
            <a:schemeClr val="tx1"/>
          </a:solidFill>
          <a:latin typeface="+mn-lt"/>
          <a:ea typeface="+mn-ea"/>
          <a:cs typeface="+mn-cs"/>
        </a:defRPr>
      </a:lvl8pPr>
      <a:lvl9pPr marL="11704320" algn="l" defTabSz="2926080" rtl="0" eaLnBrk="1" latinLnBrk="0" hangingPunct="1">
        <a:defRPr sz="57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jpe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147"/>
        </a:solidFill>
        <a:effectLst/>
      </p:bgPr>
    </p:bg>
    <p:spTree>
      <p:nvGrpSpPr>
        <p:cNvPr id="1" name="">
          <a:extLst>
            <a:ext uri="{FF2B5EF4-FFF2-40B4-BE49-F238E27FC236}">
              <a16:creationId xmlns:a16="http://schemas.microsoft.com/office/drawing/2014/main" id="{3384E1DB-0D5F-7097-1411-99E6532EC5A0}"/>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3C34EC2A-F26C-E3E8-19CE-2F868AD14B71}"/>
              </a:ext>
            </a:extLst>
          </p:cNvPr>
          <p:cNvSpPr/>
          <p:nvPr/>
        </p:nvSpPr>
        <p:spPr>
          <a:xfrm>
            <a:off x="846665" y="576945"/>
            <a:ext cx="42333336" cy="5780312"/>
          </a:xfrm>
          <a:prstGeom prst="roundRect">
            <a:avLst/>
          </a:prstGeom>
          <a:solidFill>
            <a:schemeClr val="bg1"/>
          </a:solidFill>
          <a:ln w="194733">
            <a:solidFill>
              <a:srgbClr val="C793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0" b="1" dirty="0">
                <a:solidFill>
                  <a:schemeClr val="tx1"/>
                </a:solidFill>
              </a:rPr>
              <a:t>G-Code Fingerprinting: Multimodal Sensor-Fusion Deep-Learning for </a:t>
            </a:r>
          </a:p>
          <a:p>
            <a:pPr algn="ctr"/>
            <a:r>
              <a:rPr lang="en-US" sz="7000" b="1" dirty="0">
                <a:solidFill>
                  <a:schemeClr val="tx1"/>
                </a:solidFill>
              </a:rPr>
              <a:t>CNC Toolpath Encoder &amp; Machine Instructions Decoder</a:t>
            </a:r>
          </a:p>
          <a:p>
            <a:pPr algn="ctr"/>
            <a:endParaRPr lang="en-US" sz="800" b="1" dirty="0">
              <a:solidFill>
                <a:schemeClr val="tx1"/>
              </a:solidFill>
            </a:endParaRPr>
          </a:p>
          <a:p>
            <a:pPr algn="ctr"/>
            <a:r>
              <a:rPr lang="en-US" sz="6600" b="1" dirty="0">
                <a:solidFill>
                  <a:schemeClr val="tx1"/>
                </a:solidFill>
              </a:rPr>
              <a:t>Stephen S. Eacuello, ISE Ph.D. Candidate</a:t>
            </a:r>
          </a:p>
          <a:p>
            <a:pPr algn="ctr"/>
            <a:endParaRPr lang="en-US" sz="600" b="1" dirty="0">
              <a:solidFill>
                <a:schemeClr val="tx1"/>
              </a:solidFill>
            </a:endParaRPr>
          </a:p>
          <a:p>
            <a:pPr algn="ctr"/>
            <a:r>
              <a:rPr lang="en-US" sz="5400" b="1" dirty="0">
                <a:solidFill>
                  <a:schemeClr val="tx1"/>
                </a:solidFill>
              </a:rPr>
              <a:t>Department of Mechanical, Industrial and Systems Engineering</a:t>
            </a:r>
          </a:p>
          <a:p>
            <a:pPr algn="ctr"/>
            <a:r>
              <a:rPr lang="en-US" sz="5400" b="1" dirty="0">
                <a:solidFill>
                  <a:schemeClr val="tx1"/>
                </a:solidFill>
              </a:rPr>
              <a:t>CYPHER Center | </a:t>
            </a:r>
            <a:r>
              <a:rPr lang="en-US" sz="5400" b="1" dirty="0" err="1">
                <a:solidFill>
                  <a:schemeClr val="tx1"/>
                </a:solidFill>
              </a:rPr>
              <a:t>seacuello@uri.edu</a:t>
            </a:r>
            <a:endParaRPr lang="en-US" sz="6000" b="1" dirty="0">
              <a:solidFill>
                <a:schemeClr val="tx1"/>
              </a:solidFill>
            </a:endParaRPr>
          </a:p>
        </p:txBody>
      </p:sp>
      <p:pic>
        <p:nvPicPr>
          <p:cNvPr id="4098" name="Picture 2">
            <a:extLst>
              <a:ext uri="{FF2B5EF4-FFF2-40B4-BE49-F238E27FC236}">
                <a16:creationId xmlns:a16="http://schemas.microsoft.com/office/drawing/2014/main" id="{66D1631D-2D7E-F312-D77D-18C2CA12D8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56899" y="1945251"/>
            <a:ext cx="7917565" cy="402884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6624063-66A2-842C-F0CC-03FDFFE87696}"/>
              </a:ext>
            </a:extLst>
          </p:cNvPr>
          <p:cNvSpPr/>
          <p:nvPr/>
        </p:nvSpPr>
        <p:spPr>
          <a:xfrm>
            <a:off x="665236" y="7002128"/>
            <a:ext cx="12690324" cy="8458536"/>
          </a:xfrm>
          <a:prstGeom prst="rect">
            <a:avLst/>
          </a:prstGeom>
          <a:solidFill>
            <a:schemeClr val="bg1"/>
          </a:solidFill>
          <a:ln w="169333">
            <a:solidFill>
              <a:srgbClr val="C793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670F70F5-E3EB-57E1-4ED0-FD9FEB15DCDF}"/>
              </a:ext>
            </a:extLst>
          </p:cNvPr>
          <p:cNvSpPr/>
          <p:nvPr/>
        </p:nvSpPr>
        <p:spPr>
          <a:xfrm>
            <a:off x="846665" y="15938529"/>
            <a:ext cx="12690325" cy="13666142"/>
          </a:xfrm>
          <a:prstGeom prst="rect">
            <a:avLst/>
          </a:prstGeom>
          <a:solidFill>
            <a:schemeClr val="bg1"/>
          </a:solidFill>
          <a:ln w="169333">
            <a:solidFill>
              <a:srgbClr val="C793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System Model</a:t>
            </a:r>
          </a:p>
        </p:txBody>
      </p:sp>
      <p:sp>
        <p:nvSpPr>
          <p:cNvPr id="8" name="Rectangle 7">
            <a:extLst>
              <a:ext uri="{FF2B5EF4-FFF2-40B4-BE49-F238E27FC236}">
                <a16:creationId xmlns:a16="http://schemas.microsoft.com/office/drawing/2014/main" id="{B0DD042F-796C-D8E2-9FBA-7A856ECD7488}"/>
              </a:ext>
            </a:extLst>
          </p:cNvPr>
          <p:cNvSpPr/>
          <p:nvPr/>
        </p:nvSpPr>
        <p:spPr>
          <a:xfrm>
            <a:off x="14033500" y="6983187"/>
            <a:ext cx="15292008" cy="22704610"/>
          </a:xfrm>
          <a:prstGeom prst="rect">
            <a:avLst/>
          </a:prstGeom>
          <a:solidFill>
            <a:schemeClr val="bg1"/>
          </a:solidFill>
          <a:ln w="169333">
            <a:solidFill>
              <a:srgbClr val="C793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System Model</a:t>
            </a:r>
          </a:p>
        </p:txBody>
      </p:sp>
      <p:sp>
        <p:nvSpPr>
          <p:cNvPr id="11" name="Rectangle 10">
            <a:extLst>
              <a:ext uri="{FF2B5EF4-FFF2-40B4-BE49-F238E27FC236}">
                <a16:creationId xmlns:a16="http://schemas.microsoft.com/office/drawing/2014/main" id="{F3485A28-899C-18C6-D4BE-962D7F705B10}"/>
              </a:ext>
            </a:extLst>
          </p:cNvPr>
          <p:cNvSpPr/>
          <p:nvPr/>
        </p:nvSpPr>
        <p:spPr>
          <a:xfrm>
            <a:off x="846665" y="30267729"/>
            <a:ext cx="42197869" cy="1948011"/>
          </a:xfrm>
          <a:prstGeom prst="rect">
            <a:avLst/>
          </a:prstGeom>
          <a:solidFill>
            <a:schemeClr val="bg1"/>
          </a:solidFill>
          <a:ln w="152400">
            <a:solidFill>
              <a:srgbClr val="C793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buNone/>
            </a:pPr>
            <a:endParaRPr lang="en-US" sz="3200" b="1" i="0" u="none" strike="noStrike" dirty="0">
              <a:solidFill>
                <a:srgbClr val="000000"/>
              </a:solidFill>
              <a:effectLst/>
              <a:latin typeface="Arial" panose="020B0604020202020204" pitchFamily="34" charset="0"/>
            </a:endParaRPr>
          </a:p>
          <a:p>
            <a:pPr algn="ctr" rtl="0">
              <a:buNone/>
            </a:pPr>
            <a:r>
              <a:rPr lang="en-US" sz="2933" b="1" i="0" u="none" strike="noStrike" dirty="0">
                <a:solidFill>
                  <a:srgbClr val="000000"/>
                </a:solidFill>
                <a:effectLst/>
                <a:latin typeface="Arial" panose="020B0604020202020204" pitchFamily="34" charset="0"/>
              </a:rPr>
              <a:t>The University of Rhode Island CYPHER Research Center IPT Meeting for Power Systems and Manufacturing</a:t>
            </a:r>
            <a:endParaRPr lang="en-US" sz="2933" b="0" dirty="0">
              <a:effectLst/>
            </a:endParaRPr>
          </a:p>
          <a:p>
            <a:pPr algn="ctr" rtl="0">
              <a:buNone/>
            </a:pPr>
            <a:r>
              <a:rPr lang="en-US" sz="2933" b="1" i="0" dirty="0">
                <a:solidFill>
                  <a:srgbClr val="222222"/>
                </a:solidFill>
                <a:effectLst/>
                <a:latin typeface="Arial" panose="020B0604020202020204" pitchFamily="34" charset="0"/>
              </a:rPr>
              <a:t>This research was supported by the Office of Naval Research under Grant No. N00014-24-1-2129. </a:t>
            </a:r>
          </a:p>
          <a:p>
            <a:pPr algn="ctr" rtl="0">
              <a:buNone/>
            </a:pPr>
            <a:r>
              <a:rPr lang="en-US" b="0" i="0" dirty="0">
                <a:solidFill>
                  <a:srgbClr val="222222"/>
                </a:solidFill>
                <a:effectLst/>
                <a:latin typeface="Arial" panose="020B0604020202020204" pitchFamily="34" charset="0"/>
              </a:rPr>
              <a:t>The views and conclusions contained in this poster are those of the authors and should not be interpreted as representing the official policies, either expressed or implied, of the Office of Naval Research or the U.S. Government</a:t>
            </a:r>
            <a:endParaRPr lang="en-US" b="0" dirty="0">
              <a:effectLst/>
            </a:endParaRPr>
          </a:p>
          <a:p>
            <a:pPr>
              <a:buNone/>
            </a:pPr>
            <a:br>
              <a:rPr lang="en-US" dirty="0"/>
            </a:br>
            <a:endParaRPr lang="en-US" dirty="0"/>
          </a:p>
        </p:txBody>
      </p:sp>
      <p:sp>
        <p:nvSpPr>
          <p:cNvPr id="19" name="Rectangle 18">
            <a:extLst>
              <a:ext uri="{FF2B5EF4-FFF2-40B4-BE49-F238E27FC236}">
                <a16:creationId xmlns:a16="http://schemas.microsoft.com/office/drawing/2014/main" id="{1B080662-FC87-7EB5-EF68-9C897B5C407E}"/>
              </a:ext>
            </a:extLst>
          </p:cNvPr>
          <p:cNvSpPr/>
          <p:nvPr/>
        </p:nvSpPr>
        <p:spPr>
          <a:xfrm>
            <a:off x="29822020" y="21426015"/>
            <a:ext cx="13222515" cy="8261782"/>
          </a:xfrm>
          <a:prstGeom prst="rect">
            <a:avLst/>
          </a:prstGeom>
          <a:solidFill>
            <a:schemeClr val="bg1"/>
          </a:solidFill>
          <a:ln w="169333">
            <a:solidFill>
              <a:srgbClr val="C793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Rectangle 19">
            <a:extLst>
              <a:ext uri="{FF2B5EF4-FFF2-40B4-BE49-F238E27FC236}">
                <a16:creationId xmlns:a16="http://schemas.microsoft.com/office/drawing/2014/main" id="{9A393E8A-3706-1808-9741-229DA8BC2A69}"/>
              </a:ext>
            </a:extLst>
          </p:cNvPr>
          <p:cNvSpPr/>
          <p:nvPr/>
        </p:nvSpPr>
        <p:spPr>
          <a:xfrm>
            <a:off x="29822020" y="6983188"/>
            <a:ext cx="13222515" cy="13862895"/>
          </a:xfrm>
          <a:prstGeom prst="rect">
            <a:avLst/>
          </a:prstGeom>
          <a:solidFill>
            <a:schemeClr val="bg1"/>
          </a:solidFill>
          <a:ln w="169333">
            <a:solidFill>
              <a:srgbClr val="C793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System Model</a:t>
            </a:r>
          </a:p>
        </p:txBody>
      </p:sp>
      <p:sp>
        <p:nvSpPr>
          <p:cNvPr id="2" name="TextBox 1">
            <a:extLst>
              <a:ext uri="{FF2B5EF4-FFF2-40B4-BE49-F238E27FC236}">
                <a16:creationId xmlns:a16="http://schemas.microsoft.com/office/drawing/2014/main" id="{C03F6DD6-9575-36BB-6C72-C720DEFF64B0}"/>
              </a:ext>
            </a:extLst>
          </p:cNvPr>
          <p:cNvSpPr txBox="1"/>
          <p:nvPr/>
        </p:nvSpPr>
        <p:spPr>
          <a:xfrm>
            <a:off x="778085" y="8179286"/>
            <a:ext cx="12473198" cy="6986528"/>
          </a:xfrm>
          <a:prstGeom prst="rect">
            <a:avLst/>
          </a:prstGeom>
          <a:noFill/>
        </p:spPr>
        <p:txBody>
          <a:bodyPr wrap="square" rtlCol="0">
            <a:spAutoFit/>
          </a:bodyPr>
          <a:lstStyle/>
          <a:p>
            <a:pPr marL="457200" indent="-457200">
              <a:buFont typeface="Wingdings" panose="05000000000000000000" pitchFamily="2" charset="2"/>
              <a:buChar char="q"/>
            </a:pPr>
            <a:r>
              <a:rPr lang="en-US" sz="3200" dirty="0"/>
              <a:t>CNC machines emit side channels — vibration, acoustic emission, motor current — correlated with the proprietary part program data.</a:t>
            </a:r>
          </a:p>
          <a:p>
            <a:pPr marL="914400" lvl="1" indent="-457200">
              <a:buFont typeface="Wingdings" panose="05000000000000000000" pitchFamily="2" charset="2"/>
              <a:buChar char="q"/>
            </a:pPr>
            <a:r>
              <a:rPr lang="en-US" sz="3200" b="1" i="1" dirty="0"/>
              <a:t>Exposure</a:t>
            </a:r>
            <a:r>
              <a:rPr lang="en-US" sz="3200" b="1" dirty="0"/>
              <a:t> —</a:t>
            </a:r>
            <a:r>
              <a:rPr lang="en-US" sz="3200" dirty="0"/>
              <a:t> These emissions can be observed passively using external sensors, without controller or network connectivity.</a:t>
            </a:r>
          </a:p>
          <a:p>
            <a:pPr marL="914400" lvl="1" indent="-457200">
              <a:buFont typeface="Wingdings" panose="05000000000000000000" pitchFamily="2" charset="2"/>
              <a:buChar char="q"/>
            </a:pPr>
            <a:r>
              <a:rPr lang="en-US" sz="3200" b="1" i="1" dirty="0"/>
              <a:t>Open Question </a:t>
            </a:r>
            <a:r>
              <a:rPr lang="en-US" sz="3200" b="1" dirty="0"/>
              <a:t>—</a:t>
            </a:r>
            <a:r>
              <a:rPr lang="en-US" sz="3200" dirty="0"/>
              <a:t> How much of the executing program — the machining toolpath, operating condition, and the underlying G-code instructions — is recoverable from the emissions alone?</a:t>
            </a:r>
          </a:p>
          <a:p>
            <a:pPr marL="914400" lvl="1" indent="-457200">
              <a:buFont typeface="Wingdings" panose="05000000000000000000" pitchFamily="2" charset="2"/>
              <a:buChar char="q"/>
            </a:pPr>
            <a:r>
              <a:rPr lang="en-US" sz="3200" b="1" i="1" dirty="0"/>
              <a:t>Offensive Risk </a:t>
            </a:r>
            <a:r>
              <a:rPr lang="en-US" sz="3200" b="1" dirty="0"/>
              <a:t>—</a:t>
            </a:r>
            <a:r>
              <a:rPr lang="en-US" sz="3200" dirty="0"/>
              <a:t> unmonitored side channels may expose toolpaths, process parameters, and mfg. IP to nearby observers.</a:t>
            </a:r>
          </a:p>
          <a:p>
            <a:pPr marL="914400" lvl="1" indent="-457200">
              <a:buFont typeface="Wingdings" panose="05000000000000000000" pitchFamily="2" charset="2"/>
              <a:buChar char="q"/>
            </a:pPr>
            <a:r>
              <a:rPr lang="en-US" sz="3200" b="1" i="1" dirty="0"/>
              <a:t>Defensive Opportunity </a:t>
            </a:r>
            <a:r>
              <a:rPr lang="en-US" sz="3200" b="1" dirty="0"/>
              <a:t>—</a:t>
            </a:r>
            <a:r>
              <a:rPr lang="en-US" sz="3200" dirty="0"/>
              <a:t> The same signals enable a post-hoc integrity audit of executed instructions that file-hash signing cannot provide.</a:t>
            </a:r>
          </a:p>
          <a:p>
            <a:pPr marL="914400" lvl="1" indent="-457200">
              <a:buFont typeface="Wingdings" panose="05000000000000000000" pitchFamily="2" charset="2"/>
              <a:buChar char="q"/>
            </a:pPr>
            <a:r>
              <a:rPr lang="en-US" sz="3200" b="1" i="1" dirty="0"/>
              <a:t>Significance</a:t>
            </a:r>
            <a:r>
              <a:rPr lang="en-US" sz="3200" b="1" dirty="0"/>
              <a:t> —</a:t>
            </a:r>
            <a:r>
              <a:rPr lang="en-US" sz="3200" dirty="0"/>
              <a:t> Categorical program structure is recoverable, exact coordinate recovery remains limited by source entropy.</a:t>
            </a:r>
          </a:p>
        </p:txBody>
      </p:sp>
      <p:sp>
        <p:nvSpPr>
          <p:cNvPr id="4" name="TextBox 3">
            <a:extLst>
              <a:ext uri="{FF2B5EF4-FFF2-40B4-BE49-F238E27FC236}">
                <a16:creationId xmlns:a16="http://schemas.microsoft.com/office/drawing/2014/main" id="{BA49C129-E80A-1A32-608A-E79FDB9EDC73}"/>
              </a:ext>
            </a:extLst>
          </p:cNvPr>
          <p:cNvSpPr txBox="1"/>
          <p:nvPr/>
        </p:nvSpPr>
        <p:spPr>
          <a:xfrm>
            <a:off x="38646161" y="30467390"/>
            <a:ext cx="4204101" cy="1600438"/>
          </a:xfrm>
          <a:prstGeom prst="rect">
            <a:avLst/>
          </a:prstGeom>
          <a:noFill/>
        </p:spPr>
        <p:txBody>
          <a:bodyPr wrap="square" rtlCol="0">
            <a:spAutoFit/>
          </a:bodyPr>
          <a:lstStyle/>
          <a:p>
            <a:r>
              <a:rPr lang="en-US" sz="2600" b="1" i="1" dirty="0"/>
              <a:t>Special Thanks to: </a:t>
            </a:r>
          </a:p>
          <a:p>
            <a:pPr marL="742950" lvl="1" indent="-285750">
              <a:buFont typeface="Wingdings" panose="05000000000000000000" pitchFamily="2" charset="2"/>
              <a:buChar char="q"/>
            </a:pPr>
            <a:r>
              <a:rPr lang="en-US" sz="2400" dirty="0"/>
              <a:t>Dr. Manbir Sodhi</a:t>
            </a:r>
          </a:p>
          <a:p>
            <a:pPr marL="742950" lvl="1" indent="-285750">
              <a:buFont typeface="Wingdings" panose="05000000000000000000" pitchFamily="2" charset="2"/>
              <a:buChar char="q"/>
            </a:pPr>
            <a:r>
              <a:rPr lang="en-US" sz="2400" dirty="0"/>
              <a:t>Dr. Romesh Prasad</a:t>
            </a:r>
          </a:p>
          <a:p>
            <a:pPr marL="742950" lvl="1" indent="-285750">
              <a:buFont typeface="Wingdings" panose="05000000000000000000" pitchFamily="2" charset="2"/>
              <a:buChar char="q"/>
            </a:pPr>
            <a:r>
              <a:rPr lang="en-US" sz="2400" dirty="0"/>
              <a:t>Andrew Oxley</a:t>
            </a:r>
          </a:p>
        </p:txBody>
      </p:sp>
      <p:sp>
        <p:nvSpPr>
          <p:cNvPr id="12" name="TextBox 11">
            <a:extLst>
              <a:ext uri="{FF2B5EF4-FFF2-40B4-BE49-F238E27FC236}">
                <a16:creationId xmlns:a16="http://schemas.microsoft.com/office/drawing/2014/main" id="{595D36A8-9C66-4C4C-042D-2331FFCE47A5}"/>
              </a:ext>
            </a:extLst>
          </p:cNvPr>
          <p:cNvSpPr txBox="1"/>
          <p:nvPr/>
        </p:nvSpPr>
        <p:spPr>
          <a:xfrm>
            <a:off x="14194928" y="15555911"/>
            <a:ext cx="14979948" cy="4031873"/>
          </a:xfrm>
          <a:prstGeom prst="rect">
            <a:avLst/>
          </a:prstGeom>
          <a:noFill/>
        </p:spPr>
        <p:txBody>
          <a:bodyPr wrap="square" rtlCol="0">
            <a:spAutoFit/>
          </a:bodyPr>
          <a:lstStyle/>
          <a:p>
            <a:pPr marL="457200" indent="-457200">
              <a:buFont typeface="Wingdings" panose="05000000000000000000" pitchFamily="2" charset="2"/>
              <a:buChar char="q"/>
            </a:pPr>
            <a:r>
              <a:rPr lang="en-US" sz="3200" dirty="0"/>
              <a:t>A Bantam Tools desktop mill was externally instrumented with six Arduino Nano 33 BLE Sense and motor current monitoring; the controller was untouched.</a:t>
            </a:r>
          </a:p>
          <a:p>
            <a:pPr marL="914400" lvl="1" indent="-457200">
              <a:buFont typeface="Wingdings" panose="05000000000000000000" pitchFamily="2" charset="2"/>
              <a:buChar char="q"/>
            </a:pPr>
            <a:r>
              <a:rPr lang="en-US" sz="3200" b="1" i="1" dirty="0"/>
              <a:t>Sensors —</a:t>
            </a:r>
            <a:r>
              <a:rPr lang="en-US" sz="3200" i="1" dirty="0"/>
              <a:t> </a:t>
            </a:r>
            <a:r>
              <a:rPr lang="en-US" sz="3200" dirty="0"/>
              <a:t> 9-axis IMU, acoustic RMS, temperature, pressure, and RGBA color across the frame, spindle, and bed. Current measured for each motor.</a:t>
            </a:r>
          </a:p>
          <a:p>
            <a:pPr marL="914400" lvl="1" indent="-457200">
              <a:buFont typeface="Wingdings" panose="05000000000000000000" pitchFamily="2" charset="2"/>
              <a:buChar char="q"/>
            </a:pPr>
            <a:r>
              <a:rPr lang="en-US" sz="3200" b="1" i="1" dirty="0"/>
              <a:t>Task —</a:t>
            </a:r>
            <a:r>
              <a:rPr lang="en-US" sz="3200" dirty="0"/>
              <a:t> 3 toolpaths — face, pocket, adaptive — across 3 conditions: air-cut, active-cut, and damaged. Each toolpath contains 100’s of G-code instructions.</a:t>
            </a:r>
          </a:p>
          <a:p>
            <a:pPr marL="914400" lvl="1" indent="-457200">
              <a:buFont typeface="Wingdings" panose="05000000000000000000" pitchFamily="2" charset="2"/>
              <a:buChar char="q"/>
            </a:pPr>
            <a:r>
              <a:rPr lang="en-US" sz="3200" b="1" dirty="0"/>
              <a:t>Evaluation —</a:t>
            </a:r>
            <a:r>
              <a:rPr lang="en-US" sz="3200" dirty="0"/>
              <a:t> 120 program files with per-line labels, leakage-resistant file-level CV, and deployment-true autoregressive decoding compared to teacher forcing.</a:t>
            </a:r>
          </a:p>
        </p:txBody>
      </p:sp>
      <p:sp>
        <p:nvSpPr>
          <p:cNvPr id="15" name="TextBox 14">
            <a:extLst>
              <a:ext uri="{FF2B5EF4-FFF2-40B4-BE49-F238E27FC236}">
                <a16:creationId xmlns:a16="http://schemas.microsoft.com/office/drawing/2014/main" id="{E7167385-C471-7C0A-A865-CEDC2F573710}"/>
              </a:ext>
            </a:extLst>
          </p:cNvPr>
          <p:cNvSpPr txBox="1"/>
          <p:nvPr/>
        </p:nvSpPr>
        <p:spPr>
          <a:xfrm>
            <a:off x="30003449" y="22695140"/>
            <a:ext cx="12732284" cy="5509200"/>
          </a:xfrm>
          <a:prstGeom prst="rect">
            <a:avLst/>
          </a:prstGeom>
          <a:noFill/>
        </p:spPr>
        <p:txBody>
          <a:bodyPr wrap="square" rtlCol="0">
            <a:spAutoFit/>
          </a:bodyPr>
          <a:lstStyle/>
          <a:p>
            <a:pPr marL="457200" indent="-457200">
              <a:buFont typeface="Wingdings" panose="05000000000000000000" pitchFamily="2" charset="2"/>
              <a:buChar char="q"/>
            </a:pPr>
            <a:r>
              <a:rPr lang="en-US" sz="3200" dirty="0"/>
              <a:t>External sensors recover the shape of execution, but low-frequency emissions lose the numeric precision needed for exact coordinates, feed rates and full toolpath reconstruction.</a:t>
            </a:r>
          </a:p>
          <a:p>
            <a:pPr marL="914400" lvl="1" indent="-457200">
              <a:buFont typeface="Wingdings" panose="05000000000000000000" pitchFamily="2" charset="2"/>
              <a:buChar char="q"/>
            </a:pPr>
            <a:r>
              <a:rPr lang="en-US" sz="3200" b="1" i="1" dirty="0"/>
              <a:t>Deployment Posture</a:t>
            </a:r>
            <a:r>
              <a:rPr lang="en-US" sz="3200" b="1" dirty="0"/>
              <a:t> —</a:t>
            </a:r>
            <a:r>
              <a:rPr lang="en-US" sz="3200" dirty="0"/>
              <a:t> Post-hoc forensic audit, not real-time IDS: numeric/feed-rate substitutions undetectable; per-line false alarms exceed analyst triage capacity.</a:t>
            </a:r>
          </a:p>
          <a:p>
            <a:pPr marL="914400" lvl="1" indent="-457200">
              <a:buFont typeface="Wingdings" panose="05000000000000000000" pitchFamily="2" charset="2"/>
              <a:buChar char="q"/>
            </a:pPr>
            <a:r>
              <a:rPr lang="en-US" sz="3200" b="1" i="1" dirty="0"/>
              <a:t>Defense</a:t>
            </a:r>
            <a:r>
              <a:rPr lang="en-US" sz="3200" b="1" dirty="0"/>
              <a:t>—</a:t>
            </a:r>
            <a:r>
              <a:rPr lang="en-US" sz="3200" dirty="0"/>
              <a:t> Sensor-side audit is informative where operations are low-entropy; cryptographic file-hash signing covers the high-entropy regime where sensor audit is blind.</a:t>
            </a:r>
          </a:p>
          <a:p>
            <a:pPr marL="914400" lvl="1" indent="-457200">
              <a:buFont typeface="Wingdings" panose="05000000000000000000" pitchFamily="2" charset="2"/>
              <a:buChar char="q"/>
            </a:pPr>
            <a:r>
              <a:rPr lang="en-US" sz="3200" b="1" i="1" dirty="0"/>
              <a:t>Scope &amp; Next Steps </a:t>
            </a:r>
            <a:r>
              <a:rPr lang="en-US" sz="3200" b="1" dirty="0"/>
              <a:t>—</a:t>
            </a:r>
            <a:r>
              <a:rPr lang="en-US" sz="3200" dirty="0"/>
              <a:t> Single-platform results; high-frequency production-machine replication remains future work.</a:t>
            </a:r>
          </a:p>
        </p:txBody>
      </p:sp>
      <p:sp>
        <p:nvSpPr>
          <p:cNvPr id="16" name="TextBox 15">
            <a:extLst>
              <a:ext uri="{FF2B5EF4-FFF2-40B4-BE49-F238E27FC236}">
                <a16:creationId xmlns:a16="http://schemas.microsoft.com/office/drawing/2014/main" id="{5DE775AF-3486-7069-618D-856D9540E9F1}"/>
              </a:ext>
            </a:extLst>
          </p:cNvPr>
          <p:cNvSpPr txBox="1"/>
          <p:nvPr/>
        </p:nvSpPr>
        <p:spPr>
          <a:xfrm>
            <a:off x="29935198" y="8084927"/>
            <a:ext cx="13023130" cy="6617196"/>
          </a:xfrm>
          <a:prstGeom prst="rect">
            <a:avLst/>
          </a:prstGeom>
          <a:noFill/>
        </p:spPr>
        <p:txBody>
          <a:bodyPr wrap="square" rtlCol="0">
            <a:spAutoFit/>
          </a:bodyPr>
          <a:lstStyle/>
          <a:p>
            <a:pPr marL="285750" indent="-285750">
              <a:buFont typeface="Wingdings" panose="05000000000000000000" pitchFamily="2" charset="2"/>
              <a:buChar char="q"/>
            </a:pPr>
            <a:r>
              <a:rPr lang="en-US" sz="3200" dirty="0"/>
              <a:t>Encoder identifies which of nine states are running using sensors alone, and holds as sensors are removed:</a:t>
            </a:r>
          </a:p>
          <a:p>
            <a:pPr marL="742950" lvl="1" indent="-285750">
              <a:buFont typeface="Wingdings" panose="05000000000000000000" pitchFamily="2" charset="2"/>
              <a:buChar char="q"/>
            </a:pPr>
            <a:r>
              <a:rPr lang="en-US" sz="3200" b="1" dirty="0"/>
              <a:t> Accuracy —</a:t>
            </a:r>
            <a:r>
              <a:rPr lang="en-US" sz="3200" dirty="0"/>
              <a:t> 96.3% across 9 operation classes (file-level 5-fold CV).</a:t>
            </a:r>
          </a:p>
          <a:p>
            <a:pPr marL="742950" lvl="1" indent="-285750">
              <a:buFont typeface="Wingdings" panose="05000000000000000000" pitchFamily="2" charset="2"/>
              <a:buChar char="q"/>
            </a:pPr>
            <a:r>
              <a:rPr lang="en-US" sz="3200" b="1" dirty="0"/>
              <a:t> Resilient Degradation —</a:t>
            </a:r>
            <a:r>
              <a:rPr lang="en-US" sz="3200" dirty="0"/>
              <a:t> 92.5% with the sensor set halved, where simple baselines drop up to 10%.</a:t>
            </a:r>
          </a:p>
          <a:p>
            <a:pPr marL="742950" lvl="1" indent="-285750">
              <a:buFont typeface="Wingdings" panose="05000000000000000000" pitchFamily="2" charset="2"/>
              <a:buChar char="q"/>
            </a:pPr>
            <a:r>
              <a:rPr lang="en-US" sz="3200" b="1" dirty="0"/>
              <a:t> Errors —</a:t>
            </a:r>
            <a:r>
              <a:rPr lang="en-US" sz="3200" dirty="0"/>
              <a:t> confined to physically similar classes; the damaged-tool variants drive most of the confusion (see matrix).</a:t>
            </a:r>
          </a:p>
          <a:p>
            <a:pPr marL="742950" lvl="1" indent="-285750">
              <a:buFont typeface="Wingdings" panose="05000000000000000000" pitchFamily="2" charset="2"/>
              <a:buChar char="q"/>
            </a:pPr>
            <a:endParaRPr lang="en-US" sz="800" dirty="0"/>
          </a:p>
          <a:p>
            <a:pPr marL="285750" indent="-285750">
              <a:buFont typeface="Wingdings" panose="05000000000000000000" pitchFamily="2" charset="2"/>
              <a:buChar char="q"/>
            </a:pPr>
            <a:r>
              <a:rPr lang="en-US" sz="3200" dirty="0"/>
              <a:t>Decoder reconstructs G-code structure almost perfectly yet cannot fix its coordinates — each field is recovered up to its source entropy.</a:t>
            </a:r>
          </a:p>
          <a:p>
            <a:pPr marL="742950" lvl="1" indent="-285750">
              <a:buFont typeface="Wingdings" panose="05000000000000000000" pitchFamily="2" charset="2"/>
              <a:buChar char="q"/>
            </a:pPr>
            <a:r>
              <a:rPr lang="en-US" sz="3200" b="1" dirty="0"/>
              <a:t> Categorical fields recoverable —</a:t>
            </a:r>
            <a:r>
              <a:rPr lang="en-US" sz="3200" dirty="0"/>
              <a:t> Token Type 98.4%, Command 88.8%, Axis 99.3%, &amp; Motion Sign 98.9%.</a:t>
            </a:r>
          </a:p>
          <a:p>
            <a:pPr marL="742950" lvl="1" indent="-285750">
              <a:buFont typeface="Wingdings" panose="05000000000000000000" pitchFamily="2" charset="2"/>
              <a:buChar char="q"/>
            </a:pPr>
            <a:r>
              <a:rPr lang="en-US" sz="3200" b="1" dirty="0"/>
              <a:t> Numeric fields do not —</a:t>
            </a:r>
            <a:r>
              <a:rPr lang="en-US" sz="3200" dirty="0"/>
              <a:t> Token 78% → 21% and Numeric Digits 59% → 10% under autoregressive decoding.</a:t>
            </a:r>
          </a:p>
        </p:txBody>
      </p:sp>
      <p:sp>
        <p:nvSpPr>
          <p:cNvPr id="17" name="TextBox 16">
            <a:extLst>
              <a:ext uri="{FF2B5EF4-FFF2-40B4-BE49-F238E27FC236}">
                <a16:creationId xmlns:a16="http://schemas.microsoft.com/office/drawing/2014/main" id="{821CAFDD-DB6B-EB84-F440-BBD61363DA65}"/>
              </a:ext>
            </a:extLst>
          </p:cNvPr>
          <p:cNvSpPr txBox="1"/>
          <p:nvPr/>
        </p:nvSpPr>
        <p:spPr>
          <a:xfrm>
            <a:off x="4341091" y="7102909"/>
            <a:ext cx="5581843" cy="1384995"/>
          </a:xfrm>
          <a:prstGeom prst="rect">
            <a:avLst/>
          </a:prstGeom>
          <a:noFill/>
        </p:spPr>
        <p:txBody>
          <a:bodyPr wrap="square" rtlCol="0">
            <a:spAutoFit/>
          </a:bodyPr>
          <a:lstStyle/>
          <a:p>
            <a:r>
              <a:rPr lang="en-US" sz="7200" b="1" dirty="0">
                <a:solidFill>
                  <a:srgbClr val="002147"/>
                </a:solidFill>
              </a:rPr>
              <a:t>Introduction</a:t>
            </a:r>
            <a:endParaRPr lang="en-US" sz="4267" b="1" dirty="0">
              <a:solidFill>
                <a:srgbClr val="002147"/>
              </a:solidFill>
            </a:endParaRPr>
          </a:p>
        </p:txBody>
      </p:sp>
      <p:sp>
        <p:nvSpPr>
          <p:cNvPr id="18" name="TextBox 17">
            <a:extLst>
              <a:ext uri="{FF2B5EF4-FFF2-40B4-BE49-F238E27FC236}">
                <a16:creationId xmlns:a16="http://schemas.microsoft.com/office/drawing/2014/main" id="{C70EFD35-767D-5F09-A106-A56B3F3D038E}"/>
              </a:ext>
            </a:extLst>
          </p:cNvPr>
          <p:cNvSpPr txBox="1"/>
          <p:nvPr/>
        </p:nvSpPr>
        <p:spPr>
          <a:xfrm>
            <a:off x="2384603" y="16040596"/>
            <a:ext cx="9251593" cy="1384995"/>
          </a:xfrm>
          <a:prstGeom prst="rect">
            <a:avLst/>
          </a:prstGeom>
          <a:noFill/>
        </p:spPr>
        <p:txBody>
          <a:bodyPr wrap="square" rtlCol="0">
            <a:spAutoFit/>
          </a:bodyPr>
          <a:lstStyle/>
          <a:p>
            <a:r>
              <a:rPr lang="en-US" sz="7200" b="1" dirty="0">
                <a:solidFill>
                  <a:srgbClr val="002147"/>
                </a:solidFill>
              </a:rPr>
              <a:t>System Architecture</a:t>
            </a:r>
            <a:endParaRPr lang="en-US" sz="4267" b="1" dirty="0">
              <a:solidFill>
                <a:srgbClr val="002147"/>
              </a:solidFill>
            </a:endParaRPr>
          </a:p>
        </p:txBody>
      </p:sp>
      <p:sp>
        <p:nvSpPr>
          <p:cNvPr id="21" name="TextBox 20">
            <a:extLst>
              <a:ext uri="{FF2B5EF4-FFF2-40B4-BE49-F238E27FC236}">
                <a16:creationId xmlns:a16="http://schemas.microsoft.com/office/drawing/2014/main" id="{AAA0EA5C-2820-9A34-2AC0-1A294D42405B}"/>
              </a:ext>
            </a:extLst>
          </p:cNvPr>
          <p:cNvSpPr txBox="1"/>
          <p:nvPr/>
        </p:nvSpPr>
        <p:spPr>
          <a:xfrm>
            <a:off x="19019211" y="7115567"/>
            <a:ext cx="6719455" cy="1384995"/>
          </a:xfrm>
          <a:prstGeom prst="rect">
            <a:avLst/>
          </a:prstGeom>
          <a:noFill/>
        </p:spPr>
        <p:txBody>
          <a:bodyPr wrap="square" rtlCol="0">
            <a:spAutoFit/>
          </a:bodyPr>
          <a:lstStyle/>
          <a:p>
            <a:r>
              <a:rPr lang="en-US" sz="7200" b="1" dirty="0">
                <a:solidFill>
                  <a:srgbClr val="002147"/>
                </a:solidFill>
              </a:rPr>
              <a:t>Project Details</a:t>
            </a:r>
            <a:endParaRPr lang="en-US" sz="4267" b="1" dirty="0">
              <a:solidFill>
                <a:srgbClr val="002147"/>
              </a:solidFill>
            </a:endParaRPr>
          </a:p>
        </p:txBody>
      </p:sp>
      <p:sp>
        <p:nvSpPr>
          <p:cNvPr id="27" name="TextBox 26">
            <a:extLst>
              <a:ext uri="{FF2B5EF4-FFF2-40B4-BE49-F238E27FC236}">
                <a16:creationId xmlns:a16="http://schemas.microsoft.com/office/drawing/2014/main" id="{7718AB57-A181-50C4-B46F-158314CFAC1D}"/>
              </a:ext>
            </a:extLst>
          </p:cNvPr>
          <p:cNvSpPr txBox="1"/>
          <p:nvPr/>
        </p:nvSpPr>
        <p:spPr>
          <a:xfrm>
            <a:off x="34651423" y="7039967"/>
            <a:ext cx="3404043" cy="1384995"/>
          </a:xfrm>
          <a:prstGeom prst="rect">
            <a:avLst/>
          </a:prstGeom>
          <a:noFill/>
        </p:spPr>
        <p:txBody>
          <a:bodyPr wrap="square" rtlCol="0">
            <a:spAutoFit/>
          </a:bodyPr>
          <a:lstStyle/>
          <a:p>
            <a:r>
              <a:rPr lang="en-US" sz="7200" b="1" dirty="0">
                <a:solidFill>
                  <a:srgbClr val="002147"/>
                </a:solidFill>
              </a:rPr>
              <a:t>Results</a:t>
            </a:r>
            <a:endParaRPr lang="en-US" sz="4267" b="1" dirty="0">
              <a:solidFill>
                <a:srgbClr val="002147"/>
              </a:solidFill>
            </a:endParaRPr>
          </a:p>
        </p:txBody>
      </p:sp>
      <p:sp>
        <p:nvSpPr>
          <p:cNvPr id="28" name="TextBox 27">
            <a:extLst>
              <a:ext uri="{FF2B5EF4-FFF2-40B4-BE49-F238E27FC236}">
                <a16:creationId xmlns:a16="http://schemas.microsoft.com/office/drawing/2014/main" id="{A25ACE2B-D9F3-DB72-98A1-6AB1EDAFE647}"/>
              </a:ext>
            </a:extLst>
          </p:cNvPr>
          <p:cNvSpPr txBox="1"/>
          <p:nvPr/>
        </p:nvSpPr>
        <p:spPr>
          <a:xfrm>
            <a:off x="33562523" y="21507491"/>
            <a:ext cx="5581843" cy="1384995"/>
          </a:xfrm>
          <a:prstGeom prst="rect">
            <a:avLst/>
          </a:prstGeom>
          <a:noFill/>
        </p:spPr>
        <p:txBody>
          <a:bodyPr wrap="square" rtlCol="0">
            <a:spAutoFit/>
          </a:bodyPr>
          <a:lstStyle/>
          <a:p>
            <a:r>
              <a:rPr lang="en-US" sz="7200" b="1" dirty="0">
                <a:solidFill>
                  <a:srgbClr val="002147"/>
                </a:solidFill>
              </a:rPr>
              <a:t>Conclusion</a:t>
            </a:r>
            <a:endParaRPr lang="en-US" sz="4267" b="1" dirty="0">
              <a:solidFill>
                <a:srgbClr val="002147"/>
              </a:solidFill>
            </a:endParaRPr>
          </a:p>
        </p:txBody>
      </p:sp>
      <p:pic>
        <p:nvPicPr>
          <p:cNvPr id="38" name="Picture 2">
            <a:extLst>
              <a:ext uri="{FF2B5EF4-FFF2-40B4-BE49-F238E27FC236}">
                <a16:creationId xmlns:a16="http://schemas.microsoft.com/office/drawing/2014/main" id="{E9285611-75A5-600E-5256-6F1A1AA1FE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8093" y="30530452"/>
            <a:ext cx="5716360" cy="1444442"/>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3">
            <a:extLst>
              <a:ext uri="{FF2B5EF4-FFF2-40B4-BE49-F238E27FC236}">
                <a16:creationId xmlns:a16="http://schemas.microsoft.com/office/drawing/2014/main" id="{96EDC0FB-5C61-24A6-90C3-B3784E3A8D4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3264" y="1721539"/>
            <a:ext cx="9189174" cy="3589521"/>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40">
            <a:extLst>
              <a:ext uri="{FF2B5EF4-FFF2-40B4-BE49-F238E27FC236}">
                <a16:creationId xmlns:a16="http://schemas.microsoft.com/office/drawing/2014/main" id="{841FE015-383A-F4B4-0087-9503C48FEBA2}"/>
              </a:ext>
            </a:extLst>
          </p:cNvPr>
          <p:cNvPicPr>
            <a:picLocks noChangeAspect="1"/>
          </p:cNvPicPr>
          <p:nvPr/>
        </p:nvPicPr>
        <p:blipFill>
          <a:blip r:embed="rId6">
            <a:extLst>
              <a:ext uri="{28A0092B-C50C-407E-A947-70E740481C1C}">
                <a14:useLocalDpi xmlns:a14="http://schemas.microsoft.com/office/drawing/2010/main" val="0"/>
              </a:ext>
            </a:extLst>
          </a:blip>
          <a:srcRect l="2661"/>
          <a:stretch>
            <a:fillRect/>
          </a:stretch>
        </p:blipFill>
        <p:spPr>
          <a:xfrm>
            <a:off x="14137777" y="8880769"/>
            <a:ext cx="6446856" cy="5136832"/>
          </a:xfrm>
          <a:prstGeom prst="rect">
            <a:avLst/>
          </a:prstGeom>
        </p:spPr>
      </p:pic>
      <p:pic>
        <p:nvPicPr>
          <p:cNvPr id="14" name="Picture 13">
            <a:extLst>
              <a:ext uri="{FF2B5EF4-FFF2-40B4-BE49-F238E27FC236}">
                <a16:creationId xmlns:a16="http://schemas.microsoft.com/office/drawing/2014/main" id="{9A85E8BB-7B7A-B50C-54BD-D32424816EC8}"/>
              </a:ext>
            </a:extLst>
          </p:cNvPr>
          <p:cNvPicPr>
            <a:picLocks noChangeAspect="1"/>
          </p:cNvPicPr>
          <p:nvPr/>
        </p:nvPicPr>
        <p:blipFill>
          <a:blip r:embed="rId7"/>
          <a:stretch>
            <a:fillRect/>
          </a:stretch>
        </p:blipFill>
        <p:spPr>
          <a:xfrm>
            <a:off x="7083437" y="17281320"/>
            <a:ext cx="5450093" cy="6063198"/>
          </a:xfrm>
          <a:prstGeom prst="rect">
            <a:avLst/>
          </a:prstGeom>
        </p:spPr>
      </p:pic>
      <p:pic>
        <p:nvPicPr>
          <p:cNvPr id="23" name="Picture 22">
            <a:extLst>
              <a:ext uri="{FF2B5EF4-FFF2-40B4-BE49-F238E27FC236}">
                <a16:creationId xmlns:a16="http://schemas.microsoft.com/office/drawing/2014/main" id="{327720EA-BFFB-0E7A-BD4A-9F3D8AA7DAF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0009149" y="11789914"/>
            <a:ext cx="4634725" cy="3459725"/>
          </a:xfrm>
          <a:prstGeom prst="rect">
            <a:avLst/>
          </a:prstGeom>
        </p:spPr>
      </p:pic>
      <p:pic>
        <p:nvPicPr>
          <p:cNvPr id="24" name="Picture 23">
            <a:extLst>
              <a:ext uri="{FF2B5EF4-FFF2-40B4-BE49-F238E27FC236}">
                <a16:creationId xmlns:a16="http://schemas.microsoft.com/office/drawing/2014/main" id="{1BF71E3E-7A95-3568-A58B-8A5036E7E2B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4159077" y="25419955"/>
            <a:ext cx="6873240" cy="3596564"/>
          </a:xfrm>
          <a:prstGeom prst="rect">
            <a:avLst/>
          </a:prstGeom>
        </p:spPr>
      </p:pic>
      <p:pic>
        <p:nvPicPr>
          <p:cNvPr id="30" name="Picture 29">
            <a:extLst>
              <a:ext uri="{FF2B5EF4-FFF2-40B4-BE49-F238E27FC236}">
                <a16:creationId xmlns:a16="http://schemas.microsoft.com/office/drawing/2014/main" id="{1E74BBFF-1311-11FD-5E82-2163DF48DF7A}"/>
              </a:ext>
            </a:extLst>
          </p:cNvPr>
          <p:cNvPicPr>
            <a:picLocks noChangeAspect="1"/>
          </p:cNvPicPr>
          <p:nvPr/>
        </p:nvPicPr>
        <p:blipFill>
          <a:blip r:embed="rId10"/>
          <a:stretch>
            <a:fillRect/>
          </a:stretch>
        </p:blipFill>
        <p:spPr>
          <a:xfrm>
            <a:off x="30049448" y="14921737"/>
            <a:ext cx="12816334" cy="5746928"/>
          </a:xfrm>
          <a:prstGeom prst="rect">
            <a:avLst/>
          </a:prstGeom>
        </p:spPr>
      </p:pic>
      <p:pic>
        <p:nvPicPr>
          <p:cNvPr id="9" name="Picture 8">
            <a:extLst>
              <a:ext uri="{FF2B5EF4-FFF2-40B4-BE49-F238E27FC236}">
                <a16:creationId xmlns:a16="http://schemas.microsoft.com/office/drawing/2014/main" id="{9C1489E4-3CC7-8D52-26BA-A968D41080AB}"/>
              </a:ext>
            </a:extLst>
          </p:cNvPr>
          <p:cNvPicPr>
            <a:picLocks noChangeAspect="1"/>
          </p:cNvPicPr>
          <p:nvPr/>
        </p:nvPicPr>
        <p:blipFill>
          <a:blip r:embed="rId11"/>
          <a:stretch>
            <a:fillRect/>
          </a:stretch>
        </p:blipFill>
        <p:spPr>
          <a:xfrm>
            <a:off x="21109553" y="20347321"/>
            <a:ext cx="8111797" cy="8605081"/>
          </a:xfrm>
          <a:prstGeom prst="rect">
            <a:avLst/>
          </a:prstGeom>
        </p:spPr>
      </p:pic>
      <p:pic>
        <p:nvPicPr>
          <p:cNvPr id="33" name="Picture 32">
            <a:extLst>
              <a:ext uri="{FF2B5EF4-FFF2-40B4-BE49-F238E27FC236}">
                <a16:creationId xmlns:a16="http://schemas.microsoft.com/office/drawing/2014/main" id="{1E58CA13-BF37-0992-0046-E5AAA7ECC96D}"/>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998101" y="17152468"/>
            <a:ext cx="4437780" cy="6222320"/>
          </a:xfrm>
          <a:prstGeom prst="rect">
            <a:avLst/>
          </a:prstGeom>
        </p:spPr>
      </p:pic>
      <p:pic>
        <p:nvPicPr>
          <p:cNvPr id="36" name="Picture 35">
            <a:extLst>
              <a:ext uri="{FF2B5EF4-FFF2-40B4-BE49-F238E27FC236}">
                <a16:creationId xmlns:a16="http://schemas.microsoft.com/office/drawing/2014/main" id="{02AB63E8-D1D4-AFA7-2654-6F6ADDACE2D3}"/>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0728827" y="8710647"/>
            <a:ext cx="8202793" cy="2917190"/>
          </a:xfrm>
          <a:prstGeom prst="rect">
            <a:avLst/>
          </a:prstGeom>
        </p:spPr>
      </p:pic>
      <p:pic>
        <p:nvPicPr>
          <p:cNvPr id="39" name="Picture 38">
            <a:extLst>
              <a:ext uri="{FF2B5EF4-FFF2-40B4-BE49-F238E27FC236}">
                <a16:creationId xmlns:a16="http://schemas.microsoft.com/office/drawing/2014/main" id="{BB6A1FBB-98EF-5E46-49E5-FFEFC33B4CB6}"/>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4642620" y="11954045"/>
            <a:ext cx="3969251" cy="3216461"/>
          </a:xfrm>
          <a:prstGeom prst="rect">
            <a:avLst/>
          </a:prstGeom>
        </p:spPr>
      </p:pic>
      <p:sp>
        <p:nvSpPr>
          <p:cNvPr id="44" name="TextBox 43">
            <a:extLst>
              <a:ext uri="{FF2B5EF4-FFF2-40B4-BE49-F238E27FC236}">
                <a16:creationId xmlns:a16="http://schemas.microsoft.com/office/drawing/2014/main" id="{ADE46544-2208-E291-08C6-A8F4A924E0F2}"/>
              </a:ext>
            </a:extLst>
          </p:cNvPr>
          <p:cNvSpPr txBox="1"/>
          <p:nvPr/>
        </p:nvSpPr>
        <p:spPr>
          <a:xfrm>
            <a:off x="1028093" y="24099023"/>
            <a:ext cx="12353419" cy="5509200"/>
          </a:xfrm>
          <a:prstGeom prst="rect">
            <a:avLst/>
          </a:prstGeom>
          <a:noFill/>
        </p:spPr>
        <p:txBody>
          <a:bodyPr wrap="square" rtlCol="0">
            <a:spAutoFit/>
          </a:bodyPr>
          <a:lstStyle/>
          <a:p>
            <a:pPr marL="285750" indent="-285750">
              <a:buFont typeface="Wingdings" panose="05000000000000000000" pitchFamily="2" charset="2"/>
              <a:buChar char="q"/>
            </a:pPr>
            <a:r>
              <a:rPr lang="en-US" sz="3200" dirty="0"/>
              <a:t>Two-stage pipeline:  frozen encoder builds the machine-state representation;  structured decoder recovers G-code.</a:t>
            </a:r>
          </a:p>
          <a:p>
            <a:pPr marL="742950" lvl="1" indent="-285750">
              <a:buFont typeface="Wingdings" panose="05000000000000000000" pitchFamily="2" charset="2"/>
              <a:buChar char="q"/>
            </a:pPr>
            <a:r>
              <a:rPr lang="en-US" sz="3200" b="1" i="1" dirty="0"/>
              <a:t>Stage 1 — Encoder: </a:t>
            </a:r>
            <a:r>
              <a:rPr lang="en-US" sz="3200" dirty="0"/>
              <a:t>Fuses modality-specific sensor features using learned gating, denoising, and temporal modeling. First trained for nine-class operation classification, then frozen and reused as a fixed feature extractor.</a:t>
            </a:r>
          </a:p>
          <a:p>
            <a:pPr marL="742950" lvl="1" indent="-285750">
              <a:buFont typeface="Wingdings" panose="05000000000000000000" pitchFamily="2" charset="2"/>
              <a:buChar char="q"/>
            </a:pPr>
            <a:r>
              <a:rPr lang="en-US" sz="3200" b="1" i="1" dirty="0"/>
              <a:t>Stage 2 — Decoder:</a:t>
            </a:r>
            <a:r>
              <a:rPr lang="en-US" sz="3200" dirty="0"/>
              <a:t> A transformer cross-attends to frozen encoder features and predicts structured G-code using six heads. Grammar constraints block invalid tokens during decoding, eliminating malformed G-code without loss of  accuracy.</a:t>
            </a:r>
          </a:p>
          <a:p>
            <a:pPr marL="742950" lvl="1" indent="-285750">
              <a:buFont typeface="Wingdings" panose="05000000000000000000" pitchFamily="2" charset="2"/>
              <a:buChar char="q"/>
            </a:pPr>
            <a:endParaRPr lang="en-US" sz="3200" dirty="0"/>
          </a:p>
        </p:txBody>
      </p:sp>
      <p:pic>
        <p:nvPicPr>
          <p:cNvPr id="49" name="Picture 48">
            <a:extLst>
              <a:ext uri="{FF2B5EF4-FFF2-40B4-BE49-F238E27FC236}">
                <a16:creationId xmlns:a16="http://schemas.microsoft.com/office/drawing/2014/main" id="{31194D7C-2615-7044-AA76-34D0822052CF}"/>
              </a:ext>
            </a:extLst>
          </p:cNvPr>
          <p:cNvPicPr>
            <a:picLocks noChangeAspect="1"/>
          </p:cNvPicPr>
          <p:nvPr/>
        </p:nvPicPr>
        <p:blipFill rotWithShape="1">
          <a:blip r:embed="rId15">
            <a:extLst>
              <a:ext uri="{28A0092B-C50C-407E-A947-70E740481C1C}">
                <a14:useLocalDpi xmlns:a14="http://schemas.microsoft.com/office/drawing/2010/main" val="0"/>
              </a:ext>
            </a:extLst>
          </a:blip>
          <a:srcRect l="1866" t="2094" r="1480" b="2300"/>
          <a:stretch>
            <a:fillRect/>
          </a:stretch>
        </p:blipFill>
        <p:spPr>
          <a:xfrm>
            <a:off x="14642997" y="20049255"/>
            <a:ext cx="6197608" cy="5228866"/>
          </a:xfrm>
          <a:prstGeom prst="rect">
            <a:avLst/>
          </a:prstGeom>
        </p:spPr>
      </p:pic>
      <p:sp>
        <p:nvSpPr>
          <p:cNvPr id="22" name="TextBox 21">
            <a:extLst>
              <a:ext uri="{FF2B5EF4-FFF2-40B4-BE49-F238E27FC236}">
                <a16:creationId xmlns:a16="http://schemas.microsoft.com/office/drawing/2014/main" id="{09A1B10C-996E-5239-EAC3-EABFA143ACB4}"/>
              </a:ext>
            </a:extLst>
          </p:cNvPr>
          <p:cNvSpPr txBox="1"/>
          <p:nvPr/>
        </p:nvSpPr>
        <p:spPr>
          <a:xfrm>
            <a:off x="1292431" y="23427645"/>
            <a:ext cx="11958852" cy="369332"/>
          </a:xfrm>
          <a:prstGeom prst="rect">
            <a:avLst/>
          </a:prstGeom>
          <a:noFill/>
        </p:spPr>
        <p:txBody>
          <a:bodyPr wrap="square" rtlCol="0">
            <a:spAutoFit/>
          </a:bodyPr>
          <a:lstStyle/>
          <a:p>
            <a:r>
              <a:rPr lang="en-US" i="1" dirty="0"/>
              <a:t>One frozen encoder, six structured decoder heads — grammar constraints preclude malformed G-code.</a:t>
            </a:r>
          </a:p>
        </p:txBody>
      </p:sp>
      <p:sp>
        <p:nvSpPr>
          <p:cNvPr id="25" name="TextBox 24">
            <a:extLst>
              <a:ext uri="{FF2B5EF4-FFF2-40B4-BE49-F238E27FC236}">
                <a16:creationId xmlns:a16="http://schemas.microsoft.com/office/drawing/2014/main" id="{C231A9BC-FC40-9863-0678-9F590EE3535C}"/>
              </a:ext>
            </a:extLst>
          </p:cNvPr>
          <p:cNvSpPr txBox="1"/>
          <p:nvPr/>
        </p:nvSpPr>
        <p:spPr>
          <a:xfrm>
            <a:off x="15569087" y="14078840"/>
            <a:ext cx="4326348" cy="923330"/>
          </a:xfrm>
          <a:prstGeom prst="rect">
            <a:avLst/>
          </a:prstGeom>
          <a:noFill/>
        </p:spPr>
        <p:txBody>
          <a:bodyPr wrap="square" rtlCol="0">
            <a:spAutoFit/>
          </a:bodyPr>
          <a:lstStyle/>
          <a:p>
            <a:r>
              <a:rPr lang="en-US" i="1" dirty="0"/>
              <a:t>Bantam CNC instrumented with Arduino,</a:t>
            </a:r>
          </a:p>
          <a:p>
            <a:r>
              <a:rPr lang="en-US" i="1" dirty="0"/>
              <a:t>Nine classes (3 toolpaths × 3 conditions) with class  t-SNE &amp; Confusion Matrix.</a:t>
            </a:r>
          </a:p>
        </p:txBody>
      </p:sp>
      <p:pic>
        <p:nvPicPr>
          <p:cNvPr id="31" name="Picture 30">
            <a:extLst>
              <a:ext uri="{FF2B5EF4-FFF2-40B4-BE49-F238E27FC236}">
                <a16:creationId xmlns:a16="http://schemas.microsoft.com/office/drawing/2014/main" id="{CADF342B-D417-20E3-5761-B9D793086598}"/>
              </a:ext>
            </a:extLst>
          </p:cNvPr>
          <p:cNvPicPr>
            <a:picLocks/>
          </p:cNvPicPr>
          <p:nvPr/>
        </p:nvPicPr>
        <p:blipFill>
          <a:blip r:embed="rId16">
            <a:extLst>
              <a:ext uri="{28A0092B-C50C-407E-A947-70E740481C1C}">
                <a14:useLocalDpi xmlns:a14="http://schemas.microsoft.com/office/drawing/2010/main" val="0"/>
              </a:ext>
            </a:extLst>
          </a:blip>
          <a:stretch>
            <a:fillRect/>
          </a:stretch>
        </p:blipFill>
        <p:spPr>
          <a:xfrm flipV="1">
            <a:off x="40470517" y="27556943"/>
            <a:ext cx="2265216" cy="1721298"/>
          </a:xfrm>
          <a:prstGeom prst="rect">
            <a:avLst/>
          </a:prstGeom>
        </p:spPr>
      </p:pic>
      <p:sp>
        <p:nvSpPr>
          <p:cNvPr id="26" name="TextBox 25">
            <a:extLst>
              <a:ext uri="{FF2B5EF4-FFF2-40B4-BE49-F238E27FC236}">
                <a16:creationId xmlns:a16="http://schemas.microsoft.com/office/drawing/2014/main" id="{9F97E48A-74B2-7976-0693-45B2407E3EF8}"/>
              </a:ext>
            </a:extLst>
          </p:cNvPr>
          <p:cNvSpPr txBox="1"/>
          <p:nvPr/>
        </p:nvSpPr>
        <p:spPr>
          <a:xfrm>
            <a:off x="14304306" y="29126877"/>
            <a:ext cx="14307565" cy="369332"/>
          </a:xfrm>
          <a:prstGeom prst="rect">
            <a:avLst/>
          </a:prstGeom>
          <a:noFill/>
        </p:spPr>
        <p:txBody>
          <a:bodyPr wrap="square" rtlCol="0">
            <a:spAutoFit/>
          </a:bodyPr>
          <a:lstStyle/>
          <a:p>
            <a:r>
              <a:rPr lang="en-US" i="1" dirty="0"/>
              <a:t>Errors confined to physically similar classes; source entropy bounds per-field recovery.</a:t>
            </a:r>
          </a:p>
        </p:txBody>
      </p:sp>
      <p:sp>
        <p:nvSpPr>
          <p:cNvPr id="32" name="TextBox 31">
            <a:extLst>
              <a:ext uri="{FF2B5EF4-FFF2-40B4-BE49-F238E27FC236}">
                <a16:creationId xmlns:a16="http://schemas.microsoft.com/office/drawing/2014/main" id="{03B1EDC2-28F3-2764-F5DA-E293E68AFC28}"/>
              </a:ext>
            </a:extLst>
          </p:cNvPr>
          <p:cNvSpPr txBox="1"/>
          <p:nvPr/>
        </p:nvSpPr>
        <p:spPr>
          <a:xfrm>
            <a:off x="40322984" y="29126877"/>
            <a:ext cx="2412749" cy="430887"/>
          </a:xfrm>
          <a:prstGeom prst="rect">
            <a:avLst/>
          </a:prstGeom>
          <a:noFill/>
        </p:spPr>
        <p:txBody>
          <a:bodyPr wrap="square" rtlCol="0">
            <a:spAutoFit/>
          </a:bodyPr>
          <a:lstStyle/>
          <a:p>
            <a:pPr algn="r"/>
            <a:r>
              <a:rPr lang="en-US" sz="2200" i="1" dirty="0"/>
              <a:t>Scan for the paper</a:t>
            </a:r>
          </a:p>
        </p:txBody>
      </p:sp>
      <p:sp>
        <p:nvSpPr>
          <p:cNvPr id="47" name="TextBox 46">
            <a:extLst>
              <a:ext uri="{FF2B5EF4-FFF2-40B4-BE49-F238E27FC236}">
                <a16:creationId xmlns:a16="http://schemas.microsoft.com/office/drawing/2014/main" id="{BC577D91-B216-909E-8759-ED494258CB01}"/>
              </a:ext>
            </a:extLst>
          </p:cNvPr>
          <p:cNvSpPr txBox="1"/>
          <p:nvPr/>
        </p:nvSpPr>
        <p:spPr>
          <a:xfrm>
            <a:off x="30576389" y="28484403"/>
            <a:ext cx="8069771" cy="923330"/>
          </a:xfrm>
          <a:prstGeom prst="rect">
            <a:avLst/>
          </a:prstGeom>
          <a:noFill/>
        </p:spPr>
        <p:txBody>
          <a:bodyPr wrap="square" rtlCol="0">
            <a:spAutoFit/>
          </a:bodyPr>
          <a:lstStyle/>
          <a:p>
            <a:pPr algn="r"/>
            <a:r>
              <a:rPr lang="en-US" i="1" dirty="0"/>
              <a:t>Eacuello, et al. "Multimodal Sensor Fusion and Temporal Deep Learning for Computer Numerical Control Toolpath and Condition Classification: A Cross-Validated Ablation Study." Sensors, vol. 26, no. 8, 2026,</a:t>
            </a:r>
            <a:endParaRPr lang="en-US" sz="2200" i="1" dirty="0"/>
          </a:p>
        </p:txBody>
      </p:sp>
      <p:pic>
        <p:nvPicPr>
          <p:cNvPr id="10" name="Picture 9">
            <a:extLst>
              <a:ext uri="{FF2B5EF4-FFF2-40B4-BE49-F238E27FC236}">
                <a16:creationId xmlns:a16="http://schemas.microsoft.com/office/drawing/2014/main" id="{E1247EF8-1379-72FF-D0F4-BF383FEF3F54}"/>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45639858" y="11954045"/>
            <a:ext cx="13761573" cy="2479562"/>
          </a:xfrm>
          <a:prstGeom prst="rect">
            <a:avLst/>
          </a:prstGeom>
        </p:spPr>
      </p:pic>
    </p:spTree>
    <p:extLst>
      <p:ext uri="{BB962C8B-B14F-4D97-AF65-F5344CB8AC3E}">
        <p14:creationId xmlns:p14="http://schemas.microsoft.com/office/powerpoint/2010/main" val="56513258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403C848-73D3-624B-BA4F-A29975D779FE}">
  <we:reference id="WA200010001" version="1.0.0.1" store="Omex" storeType="OMEX"/>
  <we:alternateReferences>
    <we:reference id="WA200010001" version="1.0.0.1" store="WA200010001" storeType="OMEX"/>
  </we:alternateReferences>
  <we:properties>
    <we:property name="claude.fileId" value="&quot;42cdb11d-f58b-4725-bbf1-154744fa921f&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15051</TotalTime>
  <Words>789</Words>
  <Application>Microsoft Macintosh PowerPoint</Application>
  <PresentationFormat>Custom</PresentationFormat>
  <Paragraphs>56</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Wingdings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Anissa Elias</dc:creator>
  <cp:lastModifiedBy>Stephen Eacuello</cp:lastModifiedBy>
  <cp:revision>44</cp:revision>
  <dcterms:created xsi:type="dcterms:W3CDTF">2025-06-27T02:42:48Z</dcterms:created>
  <dcterms:modified xsi:type="dcterms:W3CDTF">2026-08-26T13:36:12Z</dcterms:modified>
</cp:coreProperties>
</file>