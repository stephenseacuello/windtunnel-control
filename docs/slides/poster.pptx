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59"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49759"/>
    <a:srgbClr val="005091"/>
    <a:srgbClr val="002D62"/>
    <a:srgbClr val="FFFF1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4734"/>
  </p:normalViewPr>
  <p:slideViewPr>
    <p:cSldViewPr snapToGrid="0">
      <p:cViewPr varScale="1">
        <p:scale>
          <a:sx n="29" d="100"/>
          <a:sy n="29" d="100"/>
        </p:scale>
        <p:origin x="1784" y="3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55EA2-C933-4FBE-A588-F67046978167}" type="datetimeFigureOut">
              <a:rPr lang="en-US" smtClean="0"/>
              <a:t>8/26/26</a:t>
            </a:fld>
            <a:endParaRPr lang="en-US"/>
          </a:p>
        </p:txBody>
      </p:sp>
      <p:sp>
        <p:nvSpPr>
          <p:cNvPr id="4" name="Slide Image Placeholder 3"/>
          <p:cNvSpPr>
            <a:spLocks noGrp="1" noRot="1" noChangeAspect="1"/>
          </p:cNvSpPr>
          <p:nvPr>
            <p:ph type="sldImg" idx="2"/>
          </p:nvPr>
        </p:nvSpPr>
        <p:spPr>
          <a:xfrm>
            <a:off x="1114425" y="1143000"/>
            <a:ext cx="4629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752518-D8F5-455E-8AE5-FEB71CFACE48}" type="slidenum">
              <a:rPr lang="en-US" smtClean="0"/>
              <a:t>‹#›</a:t>
            </a:fld>
            <a:endParaRPr lang="en-US"/>
          </a:p>
        </p:txBody>
      </p:sp>
    </p:spTree>
    <p:extLst>
      <p:ext uri="{BB962C8B-B14F-4D97-AF65-F5344CB8AC3E}">
        <p14:creationId xmlns:p14="http://schemas.microsoft.com/office/powerpoint/2010/main" val="3991860892"/>
      </p:ext>
    </p:extLst>
  </p:cSld>
  <p:clrMap bg1="lt1" tx1="dk1" bg2="lt2" tx2="dk2" accent1="accent1" accent2="accent2" accent3="accent3" accent4="accent4" accent5="accent5" accent6="accent6" hlink="hlink" folHlink="folHlink"/>
  <p:notesStyle>
    <a:lvl1pPr marL="0" algn="l" defTabSz="2633472" rtl="0" eaLnBrk="1" latinLnBrk="0" hangingPunct="1">
      <a:defRPr sz="3456" kern="1200">
        <a:solidFill>
          <a:schemeClr val="tx1"/>
        </a:solidFill>
        <a:latin typeface="+mn-lt"/>
        <a:ea typeface="+mn-ea"/>
        <a:cs typeface="+mn-cs"/>
      </a:defRPr>
    </a:lvl1pPr>
    <a:lvl2pPr marL="1316736" algn="l" defTabSz="2633472" rtl="0" eaLnBrk="1" latinLnBrk="0" hangingPunct="1">
      <a:defRPr sz="3456" kern="1200">
        <a:solidFill>
          <a:schemeClr val="tx1"/>
        </a:solidFill>
        <a:latin typeface="+mn-lt"/>
        <a:ea typeface="+mn-ea"/>
        <a:cs typeface="+mn-cs"/>
      </a:defRPr>
    </a:lvl2pPr>
    <a:lvl3pPr marL="2633472" algn="l" defTabSz="2633472" rtl="0" eaLnBrk="1" latinLnBrk="0" hangingPunct="1">
      <a:defRPr sz="3456" kern="1200">
        <a:solidFill>
          <a:schemeClr val="tx1"/>
        </a:solidFill>
        <a:latin typeface="+mn-lt"/>
        <a:ea typeface="+mn-ea"/>
        <a:cs typeface="+mn-cs"/>
      </a:defRPr>
    </a:lvl3pPr>
    <a:lvl4pPr marL="3950208" algn="l" defTabSz="2633472" rtl="0" eaLnBrk="1" latinLnBrk="0" hangingPunct="1">
      <a:defRPr sz="3456" kern="1200">
        <a:solidFill>
          <a:schemeClr val="tx1"/>
        </a:solidFill>
        <a:latin typeface="+mn-lt"/>
        <a:ea typeface="+mn-ea"/>
        <a:cs typeface="+mn-cs"/>
      </a:defRPr>
    </a:lvl4pPr>
    <a:lvl5pPr marL="5266944" algn="l" defTabSz="2633472" rtl="0" eaLnBrk="1" latinLnBrk="0" hangingPunct="1">
      <a:defRPr sz="3456" kern="1200">
        <a:solidFill>
          <a:schemeClr val="tx1"/>
        </a:solidFill>
        <a:latin typeface="+mn-lt"/>
        <a:ea typeface="+mn-ea"/>
        <a:cs typeface="+mn-cs"/>
      </a:defRPr>
    </a:lvl5pPr>
    <a:lvl6pPr marL="6583680" algn="l" defTabSz="2633472" rtl="0" eaLnBrk="1" latinLnBrk="0" hangingPunct="1">
      <a:defRPr sz="3456" kern="1200">
        <a:solidFill>
          <a:schemeClr val="tx1"/>
        </a:solidFill>
        <a:latin typeface="+mn-lt"/>
        <a:ea typeface="+mn-ea"/>
        <a:cs typeface="+mn-cs"/>
      </a:defRPr>
    </a:lvl6pPr>
    <a:lvl7pPr marL="7900416" algn="l" defTabSz="2633472" rtl="0" eaLnBrk="1" latinLnBrk="0" hangingPunct="1">
      <a:defRPr sz="3456" kern="1200">
        <a:solidFill>
          <a:schemeClr val="tx1"/>
        </a:solidFill>
        <a:latin typeface="+mn-lt"/>
        <a:ea typeface="+mn-ea"/>
        <a:cs typeface="+mn-cs"/>
      </a:defRPr>
    </a:lvl7pPr>
    <a:lvl8pPr marL="9217152" algn="l" defTabSz="2633472" rtl="0" eaLnBrk="1" latinLnBrk="0" hangingPunct="1">
      <a:defRPr sz="3456" kern="1200">
        <a:solidFill>
          <a:schemeClr val="tx1"/>
        </a:solidFill>
        <a:latin typeface="+mn-lt"/>
        <a:ea typeface="+mn-ea"/>
        <a:cs typeface="+mn-cs"/>
      </a:defRPr>
    </a:lvl8pPr>
    <a:lvl9pPr marL="10533888" algn="l" defTabSz="2633472" rtl="0" eaLnBrk="1" latinLnBrk="0" hangingPunct="1">
      <a:defRPr sz="345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9752518-D8F5-455E-8AE5-FEB71CFACE48}" type="slidenum">
              <a:rPr lang="en-US" smtClean="0"/>
              <a:t>1</a:t>
            </a:fld>
            <a:endParaRPr lang="en-US"/>
          </a:p>
        </p:txBody>
      </p:sp>
    </p:spTree>
    <p:extLst>
      <p:ext uri="{BB962C8B-B14F-4D97-AF65-F5344CB8AC3E}">
        <p14:creationId xmlns:p14="http://schemas.microsoft.com/office/powerpoint/2010/main" val="42754572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3591562"/>
            <a:ext cx="27980640" cy="7640320"/>
          </a:xfrm>
        </p:spPr>
        <p:txBody>
          <a:bodyPr anchor="b"/>
          <a:lstStyle>
            <a:lvl1pPr algn="ctr">
              <a:defRPr sz="19200"/>
            </a:lvl1pPr>
          </a:lstStyle>
          <a:p>
            <a:r>
              <a:rPr lang="en-US"/>
              <a:t>Click to edit Master title style</a:t>
            </a:r>
            <a:endParaRPr lang="en-US" dirty="0"/>
          </a:p>
        </p:txBody>
      </p:sp>
      <p:sp>
        <p:nvSpPr>
          <p:cNvPr id="3" name="Subtitle 2"/>
          <p:cNvSpPr>
            <a:spLocks noGrp="1"/>
          </p:cNvSpPr>
          <p:nvPr>
            <p:ph type="subTitle" idx="1"/>
          </p:nvPr>
        </p:nvSpPr>
        <p:spPr>
          <a:xfrm>
            <a:off x="4114800" y="11526522"/>
            <a:ext cx="24688800" cy="5298438"/>
          </a:xfrm>
        </p:spPr>
        <p:txBody>
          <a:bodyPr/>
          <a:lstStyle>
            <a:lvl1pPr marL="0" indent="0" algn="ctr">
              <a:buNone/>
              <a:defRPr sz="7680"/>
            </a:lvl1pPr>
            <a:lvl2pPr marL="1463040" indent="0" algn="ctr">
              <a:buNone/>
              <a:defRPr sz="6400"/>
            </a:lvl2pPr>
            <a:lvl3pPr marL="2926080" indent="0" algn="ctr">
              <a:buNone/>
              <a:defRPr sz="5760"/>
            </a:lvl3pPr>
            <a:lvl4pPr marL="4389120" indent="0" algn="ctr">
              <a:buNone/>
              <a:defRPr sz="5120"/>
            </a:lvl4pPr>
            <a:lvl5pPr marL="5852160" indent="0" algn="ctr">
              <a:buNone/>
              <a:defRPr sz="5120"/>
            </a:lvl5pPr>
            <a:lvl6pPr marL="7315200" indent="0" algn="ctr">
              <a:buNone/>
              <a:defRPr sz="5120"/>
            </a:lvl6pPr>
            <a:lvl7pPr marL="8778240" indent="0" algn="ctr">
              <a:buNone/>
              <a:defRPr sz="5120"/>
            </a:lvl7pPr>
            <a:lvl8pPr marL="10241280" indent="0" algn="ctr">
              <a:buNone/>
              <a:defRPr sz="5120"/>
            </a:lvl8pPr>
            <a:lvl9pPr marL="11704320" indent="0" algn="ctr">
              <a:buNone/>
              <a:defRPr sz="51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3EA1016-3272-46F4-B534-9137F2D42845}"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D1535F-233F-4358-B223-D0792B57053A}" type="slidenum">
              <a:rPr lang="en-US" smtClean="0"/>
              <a:t>‹#›</a:t>
            </a:fld>
            <a:endParaRPr lang="en-US"/>
          </a:p>
        </p:txBody>
      </p:sp>
    </p:spTree>
    <p:extLst>
      <p:ext uri="{BB962C8B-B14F-4D97-AF65-F5344CB8AC3E}">
        <p14:creationId xmlns:p14="http://schemas.microsoft.com/office/powerpoint/2010/main" val="354847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EA1016-3272-46F4-B534-9137F2D42845}"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D1535F-233F-4358-B223-D0792B57053A}" type="slidenum">
              <a:rPr lang="en-US" smtClean="0"/>
              <a:t>‹#›</a:t>
            </a:fld>
            <a:endParaRPr lang="en-US"/>
          </a:p>
        </p:txBody>
      </p:sp>
    </p:spTree>
    <p:extLst>
      <p:ext uri="{BB962C8B-B14F-4D97-AF65-F5344CB8AC3E}">
        <p14:creationId xmlns:p14="http://schemas.microsoft.com/office/powerpoint/2010/main" val="842974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5471167"/>
            <a:ext cx="28392120" cy="9128758"/>
          </a:xfrm>
        </p:spPr>
        <p:txBody>
          <a:bodyPr anchor="b"/>
          <a:lstStyle>
            <a:lvl1pPr>
              <a:defRPr sz="19200"/>
            </a:lvl1pPr>
          </a:lstStyle>
          <a:p>
            <a:r>
              <a:rPr lang="en-US"/>
              <a:t>Click to edit Master title style</a:t>
            </a:r>
            <a:endParaRPr lang="en-US" dirty="0"/>
          </a:p>
        </p:txBody>
      </p:sp>
      <p:sp>
        <p:nvSpPr>
          <p:cNvPr id="3" name="Text Placeholder 2"/>
          <p:cNvSpPr>
            <a:spLocks noGrp="1"/>
          </p:cNvSpPr>
          <p:nvPr>
            <p:ph type="body" idx="1"/>
          </p:nvPr>
        </p:nvSpPr>
        <p:spPr>
          <a:xfrm>
            <a:off x="2245997" y="14686287"/>
            <a:ext cx="28392120" cy="4800598"/>
          </a:xfrm>
        </p:spPr>
        <p:txBody>
          <a:bodyPr/>
          <a:lstStyle>
            <a:lvl1pPr marL="0" indent="0">
              <a:buNone/>
              <a:defRPr sz="7680">
                <a:solidFill>
                  <a:schemeClr val="tx1">
                    <a:tint val="82000"/>
                  </a:schemeClr>
                </a:solidFill>
              </a:defRPr>
            </a:lvl1pPr>
            <a:lvl2pPr marL="1463040" indent="0">
              <a:buNone/>
              <a:defRPr sz="6400">
                <a:solidFill>
                  <a:schemeClr val="tx1">
                    <a:tint val="82000"/>
                  </a:schemeClr>
                </a:solidFill>
              </a:defRPr>
            </a:lvl2pPr>
            <a:lvl3pPr marL="2926080" indent="0">
              <a:buNone/>
              <a:defRPr sz="5760">
                <a:solidFill>
                  <a:schemeClr val="tx1">
                    <a:tint val="82000"/>
                  </a:schemeClr>
                </a:solidFill>
              </a:defRPr>
            </a:lvl3pPr>
            <a:lvl4pPr marL="4389120" indent="0">
              <a:buNone/>
              <a:defRPr sz="5120">
                <a:solidFill>
                  <a:schemeClr val="tx1">
                    <a:tint val="82000"/>
                  </a:schemeClr>
                </a:solidFill>
              </a:defRPr>
            </a:lvl4pPr>
            <a:lvl5pPr marL="5852160" indent="0">
              <a:buNone/>
              <a:defRPr sz="5120">
                <a:solidFill>
                  <a:schemeClr val="tx1">
                    <a:tint val="82000"/>
                  </a:schemeClr>
                </a:solidFill>
              </a:defRPr>
            </a:lvl5pPr>
            <a:lvl6pPr marL="7315200" indent="0">
              <a:buNone/>
              <a:defRPr sz="5120">
                <a:solidFill>
                  <a:schemeClr val="tx1">
                    <a:tint val="82000"/>
                  </a:schemeClr>
                </a:solidFill>
              </a:defRPr>
            </a:lvl6pPr>
            <a:lvl7pPr marL="8778240" indent="0">
              <a:buNone/>
              <a:defRPr sz="5120">
                <a:solidFill>
                  <a:schemeClr val="tx1">
                    <a:tint val="82000"/>
                  </a:schemeClr>
                </a:solidFill>
              </a:defRPr>
            </a:lvl7pPr>
            <a:lvl8pPr marL="10241280" indent="0">
              <a:buNone/>
              <a:defRPr sz="5120">
                <a:solidFill>
                  <a:schemeClr val="tx1">
                    <a:tint val="82000"/>
                  </a:schemeClr>
                </a:solidFill>
              </a:defRPr>
            </a:lvl8pPr>
            <a:lvl9pPr marL="11704320" indent="0">
              <a:buNone/>
              <a:defRPr sz="512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EA1016-3272-46F4-B534-9137F2D42845}"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D1535F-233F-4358-B223-D0792B57053A}" type="slidenum">
              <a:rPr lang="en-US" smtClean="0"/>
              <a:t>‹#›</a:t>
            </a:fld>
            <a:endParaRPr lang="en-US"/>
          </a:p>
        </p:txBody>
      </p:sp>
    </p:spTree>
    <p:extLst>
      <p:ext uri="{BB962C8B-B14F-4D97-AF65-F5344CB8AC3E}">
        <p14:creationId xmlns:p14="http://schemas.microsoft.com/office/powerpoint/2010/main" val="31527283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63140" y="5842000"/>
            <a:ext cx="1399032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6664940" y="5842000"/>
            <a:ext cx="1399032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3EA1016-3272-46F4-B534-9137F2D42845}" type="datetimeFigureOut">
              <a:rPr lang="en-US" smtClean="0"/>
              <a:t>8/26/26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D1535F-233F-4358-B223-D0792B57053A}" type="slidenum">
              <a:rPr lang="en-US" smtClean="0"/>
              <a:t>‹#›</a:t>
            </a:fld>
            <a:endParaRPr lang="en-US"/>
          </a:p>
        </p:txBody>
      </p:sp>
    </p:spTree>
    <p:extLst>
      <p:ext uri="{BB962C8B-B14F-4D97-AF65-F5344CB8AC3E}">
        <p14:creationId xmlns:p14="http://schemas.microsoft.com/office/powerpoint/2010/main" val="2174247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168405"/>
            <a:ext cx="28392120" cy="42418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67431" y="5379722"/>
            <a:ext cx="13926024"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4" name="Content Placeholder 3"/>
          <p:cNvSpPr>
            <a:spLocks noGrp="1"/>
          </p:cNvSpPr>
          <p:nvPr>
            <p:ph sz="half" idx="2"/>
          </p:nvPr>
        </p:nvSpPr>
        <p:spPr>
          <a:xfrm>
            <a:off x="2267431" y="8016240"/>
            <a:ext cx="13926024"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6664942" y="5379722"/>
            <a:ext cx="13994608"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6" name="Content Placeholder 5"/>
          <p:cNvSpPr>
            <a:spLocks noGrp="1"/>
          </p:cNvSpPr>
          <p:nvPr>
            <p:ph sz="quarter" idx="4"/>
          </p:nvPr>
        </p:nvSpPr>
        <p:spPr>
          <a:xfrm>
            <a:off x="16664942" y="8016240"/>
            <a:ext cx="13994608"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3EA1016-3272-46F4-B534-9137F2D42845}" type="datetimeFigureOut">
              <a:rPr lang="en-US" smtClean="0"/>
              <a:t>8/26/26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1D1535F-233F-4358-B223-D0792B57053A}" type="slidenum">
              <a:rPr lang="en-US" smtClean="0"/>
              <a:t>‹#›</a:t>
            </a:fld>
            <a:endParaRPr lang="en-US"/>
          </a:p>
        </p:txBody>
      </p:sp>
    </p:spTree>
    <p:extLst>
      <p:ext uri="{BB962C8B-B14F-4D97-AF65-F5344CB8AC3E}">
        <p14:creationId xmlns:p14="http://schemas.microsoft.com/office/powerpoint/2010/main" val="812261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EA1016-3272-46F4-B534-9137F2D42845}" type="datetimeFigureOut">
              <a:rPr lang="en-US" smtClean="0"/>
              <a:t>8/26/26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1D1535F-233F-4358-B223-D0792B57053A}" type="slidenum">
              <a:rPr lang="en-US" smtClean="0"/>
              <a:t>‹#›</a:t>
            </a:fld>
            <a:endParaRPr lang="en-US"/>
          </a:p>
        </p:txBody>
      </p:sp>
    </p:spTree>
    <p:extLst>
      <p:ext uri="{BB962C8B-B14F-4D97-AF65-F5344CB8AC3E}">
        <p14:creationId xmlns:p14="http://schemas.microsoft.com/office/powerpoint/2010/main" val="3040637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EA1016-3272-46F4-B534-9137F2D42845}" type="datetimeFigureOut">
              <a:rPr lang="en-US" smtClean="0"/>
              <a:t>8/26/26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1D1535F-233F-4358-B223-D0792B57053A}" type="slidenum">
              <a:rPr lang="en-US" smtClean="0"/>
              <a:t>‹#›</a:t>
            </a:fld>
            <a:endParaRPr lang="en-US"/>
          </a:p>
        </p:txBody>
      </p:sp>
    </p:spTree>
    <p:extLst>
      <p:ext uri="{BB962C8B-B14F-4D97-AF65-F5344CB8AC3E}">
        <p14:creationId xmlns:p14="http://schemas.microsoft.com/office/powerpoint/2010/main" val="32971360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463040"/>
            <a:ext cx="10617041" cy="5120640"/>
          </a:xfrm>
        </p:spPr>
        <p:txBody>
          <a:bodyPr anchor="b"/>
          <a:lstStyle>
            <a:lvl1pPr>
              <a:defRPr sz="10240"/>
            </a:lvl1pPr>
          </a:lstStyle>
          <a:p>
            <a:r>
              <a:rPr lang="en-US"/>
              <a:t>Click to edit Master title style</a:t>
            </a:r>
            <a:endParaRPr lang="en-US" dirty="0"/>
          </a:p>
        </p:txBody>
      </p:sp>
      <p:sp>
        <p:nvSpPr>
          <p:cNvPr id="3" name="Content Placeholder 2"/>
          <p:cNvSpPr>
            <a:spLocks noGrp="1"/>
          </p:cNvSpPr>
          <p:nvPr>
            <p:ph idx="1"/>
          </p:nvPr>
        </p:nvSpPr>
        <p:spPr>
          <a:xfrm>
            <a:off x="13994608" y="3159765"/>
            <a:ext cx="16664940" cy="15595600"/>
          </a:xfrm>
        </p:spPr>
        <p:txBody>
          <a:bodyPr/>
          <a:lstStyle>
            <a:lvl1pPr>
              <a:defRPr sz="10240"/>
            </a:lvl1pPr>
            <a:lvl2pPr>
              <a:defRPr sz="8960"/>
            </a:lvl2pPr>
            <a:lvl3pPr>
              <a:defRPr sz="7680"/>
            </a:lvl3pPr>
            <a:lvl4pPr>
              <a:defRPr sz="6400"/>
            </a:lvl4pPr>
            <a:lvl5pPr>
              <a:defRPr sz="6400"/>
            </a:lvl5pPr>
            <a:lvl6pPr>
              <a:defRPr sz="6400"/>
            </a:lvl6pPr>
            <a:lvl7pPr>
              <a:defRPr sz="6400"/>
            </a:lvl7pPr>
            <a:lvl8pPr>
              <a:defRPr sz="6400"/>
            </a:lvl8pPr>
            <a:lvl9pPr>
              <a:defRPr sz="6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67428" y="6583680"/>
            <a:ext cx="10617041"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fld id="{D3EA1016-3272-46F4-B534-9137F2D42845}" type="datetimeFigureOut">
              <a:rPr lang="en-US" smtClean="0"/>
              <a:t>8/26/26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D1535F-233F-4358-B223-D0792B57053A}" type="slidenum">
              <a:rPr lang="en-US" smtClean="0"/>
              <a:t>‹#›</a:t>
            </a:fld>
            <a:endParaRPr lang="en-US"/>
          </a:p>
        </p:txBody>
      </p:sp>
    </p:spTree>
    <p:extLst>
      <p:ext uri="{BB962C8B-B14F-4D97-AF65-F5344CB8AC3E}">
        <p14:creationId xmlns:p14="http://schemas.microsoft.com/office/powerpoint/2010/main" val="1752000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463040"/>
            <a:ext cx="10617041" cy="5120640"/>
          </a:xfrm>
        </p:spPr>
        <p:txBody>
          <a:bodyPr anchor="b"/>
          <a:lstStyle>
            <a:lvl1pPr>
              <a:defRPr sz="102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994608" y="3159765"/>
            <a:ext cx="16664940" cy="15595600"/>
          </a:xfrm>
        </p:spPr>
        <p:txBody>
          <a:bodyPr anchor="t"/>
          <a:lstStyle>
            <a:lvl1pPr marL="0" indent="0">
              <a:buNone/>
              <a:defRPr sz="10240"/>
            </a:lvl1pPr>
            <a:lvl2pPr marL="1463040" indent="0">
              <a:buNone/>
              <a:defRPr sz="8960"/>
            </a:lvl2pPr>
            <a:lvl3pPr marL="2926080" indent="0">
              <a:buNone/>
              <a:defRPr sz="7680"/>
            </a:lvl3pPr>
            <a:lvl4pPr marL="4389120" indent="0">
              <a:buNone/>
              <a:defRPr sz="6400"/>
            </a:lvl4pPr>
            <a:lvl5pPr marL="5852160" indent="0">
              <a:buNone/>
              <a:defRPr sz="6400"/>
            </a:lvl5pPr>
            <a:lvl6pPr marL="7315200" indent="0">
              <a:buNone/>
              <a:defRPr sz="6400"/>
            </a:lvl6pPr>
            <a:lvl7pPr marL="8778240" indent="0">
              <a:buNone/>
              <a:defRPr sz="6400"/>
            </a:lvl7pPr>
            <a:lvl8pPr marL="10241280" indent="0">
              <a:buNone/>
              <a:defRPr sz="6400"/>
            </a:lvl8pPr>
            <a:lvl9pPr marL="11704320" indent="0">
              <a:buNone/>
              <a:defRPr sz="6400"/>
            </a:lvl9pPr>
          </a:lstStyle>
          <a:p>
            <a:r>
              <a:rPr lang="en-US"/>
              <a:t>Click icon to add picture</a:t>
            </a:r>
            <a:endParaRPr lang="en-US" dirty="0"/>
          </a:p>
        </p:txBody>
      </p:sp>
      <p:sp>
        <p:nvSpPr>
          <p:cNvPr id="4" name="Text Placeholder 3"/>
          <p:cNvSpPr>
            <a:spLocks noGrp="1"/>
          </p:cNvSpPr>
          <p:nvPr>
            <p:ph type="body" sz="half" idx="2"/>
          </p:nvPr>
        </p:nvSpPr>
        <p:spPr>
          <a:xfrm>
            <a:off x="2267428" y="6583680"/>
            <a:ext cx="10617041"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fld id="{D3EA1016-3272-46F4-B534-9137F2D42845}" type="datetimeFigureOut">
              <a:rPr lang="en-US" smtClean="0"/>
              <a:t>8/26/26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D1535F-233F-4358-B223-D0792B57053A}" type="slidenum">
              <a:rPr lang="en-US" smtClean="0"/>
              <a:t>‹#›</a:t>
            </a:fld>
            <a:endParaRPr lang="en-US"/>
          </a:p>
        </p:txBody>
      </p:sp>
    </p:spTree>
    <p:extLst>
      <p:ext uri="{BB962C8B-B14F-4D97-AF65-F5344CB8AC3E}">
        <p14:creationId xmlns:p14="http://schemas.microsoft.com/office/powerpoint/2010/main" val="1348935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EA1016-3272-46F4-B534-9137F2D42845}"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D1535F-233F-4358-B223-D0792B57053A}" type="slidenum">
              <a:rPr lang="en-US" smtClean="0"/>
              <a:t>‹#›</a:t>
            </a:fld>
            <a:endParaRPr lang="en-US"/>
          </a:p>
        </p:txBody>
      </p:sp>
    </p:spTree>
    <p:extLst>
      <p:ext uri="{BB962C8B-B14F-4D97-AF65-F5344CB8AC3E}">
        <p14:creationId xmlns:p14="http://schemas.microsoft.com/office/powerpoint/2010/main" val="145863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1168400"/>
            <a:ext cx="7098030" cy="1859788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63142" y="1168400"/>
            <a:ext cx="20882610" cy="1859788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EA1016-3272-46F4-B534-9137F2D42845}"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D1535F-233F-4358-B223-D0792B57053A}" type="slidenum">
              <a:rPr lang="en-US" smtClean="0"/>
              <a:t>‹#›</a:t>
            </a:fld>
            <a:endParaRPr lang="en-US"/>
          </a:p>
        </p:txBody>
      </p:sp>
    </p:spTree>
    <p:extLst>
      <p:ext uri="{BB962C8B-B14F-4D97-AF65-F5344CB8AC3E}">
        <p14:creationId xmlns:p14="http://schemas.microsoft.com/office/powerpoint/2010/main" val="2876151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1168405"/>
            <a:ext cx="28392120" cy="42418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63140" y="5842000"/>
            <a:ext cx="28392120" cy="139242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263140" y="20340325"/>
            <a:ext cx="7406640" cy="1168400"/>
          </a:xfrm>
          <a:prstGeom prst="rect">
            <a:avLst/>
          </a:prstGeom>
        </p:spPr>
        <p:txBody>
          <a:bodyPr vert="horz" lIns="91440" tIns="45720" rIns="91440" bIns="45720" rtlCol="0" anchor="ctr"/>
          <a:lstStyle>
            <a:lvl1pPr algn="l">
              <a:defRPr sz="3840">
                <a:solidFill>
                  <a:schemeClr val="tx1">
                    <a:tint val="82000"/>
                  </a:schemeClr>
                </a:solidFill>
              </a:defRPr>
            </a:lvl1pPr>
          </a:lstStyle>
          <a:p>
            <a:fld id="{D3EA1016-3272-46F4-B534-9137F2D42845}" type="datetimeFigureOut">
              <a:rPr lang="en-US" smtClean="0"/>
              <a:t>8/26/26</a:t>
            </a:fld>
            <a:endParaRPr lang="en-US"/>
          </a:p>
        </p:txBody>
      </p:sp>
      <p:sp>
        <p:nvSpPr>
          <p:cNvPr id="5" name="Footer Placeholder 4"/>
          <p:cNvSpPr>
            <a:spLocks noGrp="1"/>
          </p:cNvSpPr>
          <p:nvPr>
            <p:ph type="ftr" sz="quarter" idx="3"/>
          </p:nvPr>
        </p:nvSpPr>
        <p:spPr>
          <a:xfrm>
            <a:off x="10904220" y="20340325"/>
            <a:ext cx="11109960" cy="1168400"/>
          </a:xfrm>
          <a:prstGeom prst="rect">
            <a:avLst/>
          </a:prstGeom>
        </p:spPr>
        <p:txBody>
          <a:bodyPr vert="horz" lIns="91440" tIns="45720" rIns="91440" bIns="45720" rtlCol="0" anchor="ctr"/>
          <a:lstStyle>
            <a:lvl1pPr algn="ctr">
              <a:defRPr sz="384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3248620" y="20340325"/>
            <a:ext cx="7406640" cy="1168400"/>
          </a:xfrm>
          <a:prstGeom prst="rect">
            <a:avLst/>
          </a:prstGeom>
        </p:spPr>
        <p:txBody>
          <a:bodyPr vert="horz" lIns="91440" tIns="45720" rIns="91440" bIns="45720" rtlCol="0" anchor="ctr"/>
          <a:lstStyle>
            <a:lvl1pPr algn="r">
              <a:defRPr sz="3840">
                <a:solidFill>
                  <a:schemeClr val="tx1">
                    <a:tint val="82000"/>
                  </a:schemeClr>
                </a:solidFill>
              </a:defRPr>
            </a:lvl1pPr>
          </a:lstStyle>
          <a:p>
            <a:fld id="{01D1535F-233F-4358-B223-D0792B57053A}" type="slidenum">
              <a:rPr lang="en-US" smtClean="0"/>
              <a:t>‹#›</a:t>
            </a:fld>
            <a:endParaRPr lang="en-US"/>
          </a:p>
        </p:txBody>
      </p:sp>
    </p:spTree>
    <p:extLst>
      <p:ext uri="{BB962C8B-B14F-4D97-AF65-F5344CB8AC3E}">
        <p14:creationId xmlns:p14="http://schemas.microsoft.com/office/powerpoint/2010/main" val="13425780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926080" rtl="0" eaLnBrk="1" latinLnBrk="0" hangingPunct="1">
        <a:lnSpc>
          <a:spcPct val="90000"/>
        </a:lnSpc>
        <a:spcBef>
          <a:spcPct val="0"/>
        </a:spcBef>
        <a:buNone/>
        <a:defRPr sz="14080" kern="1200">
          <a:solidFill>
            <a:schemeClr val="tx1"/>
          </a:solidFill>
          <a:latin typeface="+mj-lt"/>
          <a:ea typeface="+mj-ea"/>
          <a:cs typeface="+mj-cs"/>
        </a:defRPr>
      </a:lvl1pPr>
    </p:titleStyle>
    <p:bodyStyle>
      <a:lvl1pPr marL="731520" indent="-731520" algn="l" defTabSz="2926080" rtl="0" eaLnBrk="1" latinLnBrk="0" hangingPunct="1">
        <a:lnSpc>
          <a:spcPct val="90000"/>
        </a:lnSpc>
        <a:spcBef>
          <a:spcPts val="3200"/>
        </a:spcBef>
        <a:buFont typeface="Arial" panose="020B0604020202020204" pitchFamily="34" charset="0"/>
        <a:buChar char="•"/>
        <a:defRPr sz="8960" kern="1200">
          <a:solidFill>
            <a:schemeClr val="tx1"/>
          </a:solidFill>
          <a:latin typeface="+mn-lt"/>
          <a:ea typeface="+mn-ea"/>
          <a:cs typeface="+mn-cs"/>
        </a:defRPr>
      </a:lvl1pPr>
      <a:lvl2pPr marL="2194560" indent="-731520" algn="l" defTabSz="2926080" rtl="0" eaLnBrk="1" latinLnBrk="0" hangingPunct="1">
        <a:lnSpc>
          <a:spcPct val="90000"/>
        </a:lnSpc>
        <a:spcBef>
          <a:spcPts val="1600"/>
        </a:spcBef>
        <a:buFont typeface="Arial" panose="020B0604020202020204" pitchFamily="34" charset="0"/>
        <a:buChar char="•"/>
        <a:defRPr sz="7680" kern="1200">
          <a:solidFill>
            <a:schemeClr val="tx1"/>
          </a:solidFill>
          <a:latin typeface="+mn-lt"/>
          <a:ea typeface="+mn-ea"/>
          <a:cs typeface="+mn-cs"/>
        </a:defRPr>
      </a:lvl2pPr>
      <a:lvl3pPr marL="3657600" indent="-731520" algn="l" defTabSz="2926080" rtl="0" eaLnBrk="1" latinLnBrk="0" hangingPunct="1">
        <a:lnSpc>
          <a:spcPct val="90000"/>
        </a:lnSpc>
        <a:spcBef>
          <a:spcPts val="1600"/>
        </a:spcBef>
        <a:buFont typeface="Arial" panose="020B0604020202020204" pitchFamily="34" charset="0"/>
        <a:buChar char="•"/>
        <a:defRPr sz="6400" kern="1200">
          <a:solidFill>
            <a:schemeClr val="tx1"/>
          </a:solidFill>
          <a:latin typeface="+mn-lt"/>
          <a:ea typeface="+mn-ea"/>
          <a:cs typeface="+mn-cs"/>
        </a:defRPr>
      </a:lvl3pPr>
      <a:lvl4pPr marL="51206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4pPr>
      <a:lvl5pPr marL="658368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5pPr>
      <a:lvl6pPr marL="804672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6pPr>
      <a:lvl7pPr marL="950976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7pPr>
      <a:lvl8pPr marL="1097280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8pPr>
      <a:lvl9pPr marL="124358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9pPr>
    </p:bodyStyle>
    <p:otherStyle>
      <a:defPPr>
        <a:defRPr lang="en-US"/>
      </a:defPPr>
      <a:lvl1pPr marL="0" algn="l" defTabSz="2926080" rtl="0" eaLnBrk="1" latinLnBrk="0" hangingPunct="1">
        <a:defRPr sz="5760" kern="1200">
          <a:solidFill>
            <a:schemeClr val="tx1"/>
          </a:solidFill>
          <a:latin typeface="+mn-lt"/>
          <a:ea typeface="+mn-ea"/>
          <a:cs typeface="+mn-cs"/>
        </a:defRPr>
      </a:lvl1pPr>
      <a:lvl2pPr marL="1463040" algn="l" defTabSz="2926080" rtl="0" eaLnBrk="1" latinLnBrk="0" hangingPunct="1">
        <a:defRPr sz="5760" kern="1200">
          <a:solidFill>
            <a:schemeClr val="tx1"/>
          </a:solidFill>
          <a:latin typeface="+mn-lt"/>
          <a:ea typeface="+mn-ea"/>
          <a:cs typeface="+mn-cs"/>
        </a:defRPr>
      </a:lvl2pPr>
      <a:lvl3pPr marL="2926080" algn="l" defTabSz="2926080" rtl="0" eaLnBrk="1" latinLnBrk="0" hangingPunct="1">
        <a:defRPr sz="5760" kern="1200">
          <a:solidFill>
            <a:schemeClr val="tx1"/>
          </a:solidFill>
          <a:latin typeface="+mn-lt"/>
          <a:ea typeface="+mn-ea"/>
          <a:cs typeface="+mn-cs"/>
        </a:defRPr>
      </a:lvl3pPr>
      <a:lvl4pPr marL="4389120" algn="l" defTabSz="2926080" rtl="0" eaLnBrk="1" latinLnBrk="0" hangingPunct="1">
        <a:defRPr sz="5760" kern="1200">
          <a:solidFill>
            <a:schemeClr val="tx1"/>
          </a:solidFill>
          <a:latin typeface="+mn-lt"/>
          <a:ea typeface="+mn-ea"/>
          <a:cs typeface="+mn-cs"/>
        </a:defRPr>
      </a:lvl4pPr>
      <a:lvl5pPr marL="5852160" algn="l" defTabSz="2926080" rtl="0" eaLnBrk="1" latinLnBrk="0" hangingPunct="1">
        <a:defRPr sz="5760" kern="1200">
          <a:solidFill>
            <a:schemeClr val="tx1"/>
          </a:solidFill>
          <a:latin typeface="+mn-lt"/>
          <a:ea typeface="+mn-ea"/>
          <a:cs typeface="+mn-cs"/>
        </a:defRPr>
      </a:lvl5pPr>
      <a:lvl6pPr marL="7315200" algn="l" defTabSz="2926080" rtl="0" eaLnBrk="1" latinLnBrk="0" hangingPunct="1">
        <a:defRPr sz="5760" kern="1200">
          <a:solidFill>
            <a:schemeClr val="tx1"/>
          </a:solidFill>
          <a:latin typeface="+mn-lt"/>
          <a:ea typeface="+mn-ea"/>
          <a:cs typeface="+mn-cs"/>
        </a:defRPr>
      </a:lvl6pPr>
      <a:lvl7pPr marL="8778240" algn="l" defTabSz="2926080" rtl="0" eaLnBrk="1" latinLnBrk="0" hangingPunct="1">
        <a:defRPr sz="5760" kern="1200">
          <a:solidFill>
            <a:schemeClr val="tx1"/>
          </a:solidFill>
          <a:latin typeface="+mn-lt"/>
          <a:ea typeface="+mn-ea"/>
          <a:cs typeface="+mn-cs"/>
        </a:defRPr>
      </a:lvl7pPr>
      <a:lvl8pPr marL="10241280" algn="l" defTabSz="2926080" rtl="0" eaLnBrk="1" latinLnBrk="0" hangingPunct="1">
        <a:defRPr sz="5760" kern="1200">
          <a:solidFill>
            <a:schemeClr val="tx1"/>
          </a:solidFill>
          <a:latin typeface="+mn-lt"/>
          <a:ea typeface="+mn-ea"/>
          <a:cs typeface="+mn-cs"/>
        </a:defRPr>
      </a:lvl8pPr>
      <a:lvl9pPr marL="11704320" algn="l" defTabSz="2926080" rtl="0" eaLnBrk="1" latinLnBrk="0" hangingPunct="1">
        <a:defRPr sz="5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 Id="rId16" Type="http://schemas.openxmlformats.org/officeDocument/2006/relationships/image" Target="../media/image14.png"/><Relationship Id="rId17"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147"/>
        </a:solidFill>
        <a:effectLst/>
      </p:bgPr>
    </p:bg>
    <p:spTree>
      <p:nvGrpSpPr>
        <p:cNvPr id="1" name="">
          <a:extLst>
            <a:ext uri="{FF2B5EF4-FFF2-40B4-BE49-F238E27FC236}">
              <a16:creationId xmlns:a16="http://schemas.microsoft.com/office/drawing/2014/main" id="{3384E1DB-0D5F-7097-1411-99E6532EC5A0}"/>
            </a:ext>
          </a:extLst>
        </p:cNvPr>
        <p:cNvGrpSpPr/>
        <p:nvPr/>
      </p:nvGrpSpPr>
      <p:grpSpPr>
        <a:xfrm>
          <a:off x="0" y="0"/>
          <a:ext cx="0" cy="0"/>
          <a:chOff x="0" y="0"/>
          <a:chExt cx="0" cy="0"/>
        </a:xfrm>
      </p:grpSpPr>
      <p:sp>
        <p:nvSpPr>
          <p:cNvPr id="2" name="Rounded Rectangle 1"/>
          <p:cNvSpPr/>
          <p:nvPr/>
        </p:nvSpPr>
        <p:spPr>
          <a:xfrm>
            <a:off x="850392" y="576072"/>
            <a:ext cx="42336720" cy="5779008"/>
          </a:xfrm>
          <a:prstGeom prst="roundRect">
            <a:avLst/>
          </a:prstGeom>
          <a:solidFill>
            <a:srgbClr val="FFFFFF"/>
          </a:solidFill>
          <a:ln w="194310">
            <a:solidFill>
              <a:srgbClr val="C79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08792" y="1261872"/>
            <a:ext cx="22402800" cy="4572000"/>
          </a:xfrm>
          <a:prstGeom prst="rect">
            <a:avLst/>
          </a:prstGeom>
          <a:noFill/>
        </p:spPr>
        <p:txBody>
          <a:bodyPr wrap="square" lIns="0" rIns="0" tIns="0" bIns="0">
            <a:spAutoFit/>
          </a:bodyPr>
          <a:lstStyle/>
          <a:p>
            <a:pPr algn="l">
              <a:spcAft>
                <a:spcPts val="600"/>
              </a:spcAft>
            </a:pPr>
            <a:r>
              <a:rPr sz="6600" b="1" i="0">
                <a:solidFill>
                  <a:srgbClr val="002147"/>
                </a:solidFill>
                <a:latin typeface="Calibri"/>
              </a:rPr>
              <a:t>Programmable Characterisation of</a:t>
            </a:r>
          </a:p>
          <a:p>
            <a:pPr algn="l">
              <a:spcAft>
                <a:spcPts val="1600"/>
              </a:spcAft>
            </a:pPr>
            <a:r>
              <a:rPr sz="6600" b="1" i="0">
                <a:solidFill>
                  <a:srgbClr val="002147"/>
                </a:solidFill>
                <a:latin typeface="Calibri"/>
              </a:rPr>
              <a:t>3D-Printed Wind Turbine Blades</a:t>
            </a:r>
          </a:p>
          <a:p>
            <a:pPr algn="l">
              <a:spcAft>
                <a:spcPts val="600"/>
              </a:spcAft>
            </a:pPr>
            <a:r>
              <a:rPr sz="4400" b="1" i="0">
                <a:solidFill>
                  <a:srgbClr val="0D2338"/>
                </a:solidFill>
                <a:latin typeface="Calibri"/>
              </a:rPr>
              <a:t>Stephen S. Eacuello, ISE Ph.D. Candidate</a:t>
            </a:r>
          </a:p>
          <a:p>
            <a:pPr algn="l">
              <a:spcAft>
                <a:spcPts val="0"/>
              </a:spcAft>
            </a:pPr>
            <a:r>
              <a:rPr sz="3200" b="0" i="0">
                <a:solidFill>
                  <a:srgbClr val="5B7288"/>
                </a:solidFill>
                <a:latin typeface="Calibri"/>
              </a:rPr>
              <a:t>Department of Mechanical, Industrial and Systems Engineering</a:t>
            </a:r>
          </a:p>
        </p:txBody>
      </p:sp>
      <p:pic>
        <p:nvPicPr>
          <p:cNvPr id="4" name="Picture 3" descr="image.png"/>
          <p:cNvPicPr>
            <a:picLocks noChangeAspect="1"/>
          </p:cNvPicPr>
          <p:nvPr/>
        </p:nvPicPr>
        <p:blipFill>
          <a:blip r:embed="rId5"/>
          <a:stretch>
            <a:fillRect/>
          </a:stretch>
        </p:blipFill>
        <p:spPr>
          <a:xfrm>
            <a:off x="1271016" y="1719072"/>
            <a:ext cx="9189720" cy="3589734"/>
          </a:xfrm>
          <a:prstGeom prst="rect">
            <a:avLst/>
          </a:prstGeom>
        </p:spPr>
      </p:pic>
      <p:pic>
        <p:nvPicPr>
          <p:cNvPr id="5" name="Picture 4" descr="image.jpeg"/>
          <p:cNvPicPr>
            <a:picLocks noChangeAspect="1"/>
          </p:cNvPicPr>
          <p:nvPr/>
        </p:nvPicPr>
        <p:blipFill>
          <a:blip r:embed="rId3"/>
          <a:stretch>
            <a:fillRect/>
          </a:stretch>
        </p:blipFill>
        <p:spPr>
          <a:xfrm>
            <a:off x="34655760" y="1947672"/>
            <a:ext cx="7918704" cy="3837793"/>
          </a:xfrm>
          <a:prstGeom prst="rect">
            <a:avLst/>
          </a:prstGeom>
        </p:spPr>
      </p:pic>
      <p:sp>
        <p:nvSpPr>
          <p:cNvPr id="6" name="Rectangle 5"/>
          <p:cNvSpPr/>
          <p:nvPr/>
        </p:nvSpPr>
        <p:spPr>
          <a:xfrm>
            <a:off x="850392" y="7004304"/>
            <a:ext cx="12691872" cy="8458200"/>
          </a:xfrm>
          <a:prstGeom prst="rect">
            <a:avLst/>
          </a:prstGeom>
          <a:solidFill>
            <a:srgbClr val="FFFFFF"/>
          </a:solidFill>
          <a:ln w="168910">
            <a:solidFill>
              <a:srgbClr val="C79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70432" y="7104888"/>
            <a:ext cx="12051792" cy="1380744"/>
          </a:xfrm>
          <a:prstGeom prst="rect">
            <a:avLst/>
          </a:prstGeom>
          <a:noFill/>
        </p:spPr>
        <p:txBody>
          <a:bodyPr wrap="square" lIns="0" rIns="0" tIns="0" bIns="0">
            <a:spAutoFit/>
          </a:bodyPr>
          <a:lstStyle/>
          <a:p>
            <a:pPr algn="l">
              <a:spcAft>
                <a:spcPts val="0"/>
              </a:spcAft>
            </a:pPr>
            <a:r>
              <a:rPr sz="7200" b="1" i="0">
                <a:solidFill>
                  <a:srgbClr val="002147"/>
                </a:solidFill>
                <a:latin typeface="Calibri"/>
              </a:rPr>
              <a:t>Introduction</a:t>
            </a:r>
          </a:p>
        </p:txBody>
      </p:sp>
      <p:sp>
        <p:nvSpPr>
          <p:cNvPr id="8" name="TextBox 7"/>
          <p:cNvSpPr txBox="1"/>
          <p:nvPr/>
        </p:nvSpPr>
        <p:spPr>
          <a:xfrm>
            <a:off x="1353312" y="8485632"/>
            <a:ext cx="11686032" cy="6656831"/>
          </a:xfrm>
          <a:prstGeom prst="rect">
            <a:avLst/>
          </a:prstGeom>
          <a:noFill/>
        </p:spPr>
        <p:txBody>
          <a:bodyPr wrap="square" lIns="0" rIns="0" tIns="0" bIns="0">
            <a:spAutoFit/>
          </a:bodyPr>
          <a:lstStyle/>
          <a:p>
            <a:pPr algn="l">
              <a:spcAft>
                <a:spcPts val="1600"/>
              </a:spcAft>
            </a:pPr>
            <a:r>
              <a:rPr sz="3200" b="0" i="0">
                <a:solidFill>
                  <a:srgbClr val="0D2338"/>
                </a:solidFill>
                <a:latin typeface="Calibri"/>
              </a:rPr>
              <a:t>3D printing makes rotor geometry cheap to iterate. Measuring whether a change actually helped does not follow automatically.</a:t>
            </a:r>
          </a:p>
          <a:p>
            <a:pPr algn="l">
              <a:spcAft>
                <a:spcPts val="1600"/>
              </a:spcAft>
            </a:pPr>
            <a:r>
              <a:rPr sz="3200" b="0">
                <a:solidFill>
                  <a:srgbClr val="0D2338"/>
                </a:solidFill>
                <a:latin typeface="Calibri"/>
              </a:rPr>
              <a:t>A campaign comparing a dozen blades has to hold its protocol fixed across weeks, or the comparison silently becomes a comparison of </a:t>
            </a:r>
            <a:r>
              <a:rPr sz="3200" b="1">
                <a:solidFill>
                  <a:srgbClr val="002147"/>
                </a:solidFill>
                <a:latin typeface="Calibri"/>
              </a:rPr>
              <a:t>settings</a:t>
            </a:r>
            <a:r>
              <a:rPr sz="3200" b="0">
                <a:solidFill>
                  <a:srgbClr val="0D2338"/>
                </a:solidFill>
                <a:latin typeface="Calibri"/>
              </a:rPr>
              <a:t>.</a:t>
            </a:r>
          </a:p>
          <a:p>
            <a:pPr algn="l">
              <a:spcAft>
                <a:spcPts val="1800"/>
              </a:spcAft>
            </a:pPr>
            <a:r>
              <a:rPr sz="3200" b="0" i="0">
                <a:solidFill>
                  <a:srgbClr val="0D2338"/>
                </a:solidFill>
                <a:latin typeface="Calibri"/>
              </a:rPr>
              <a:t>This work builds programmable, reproducible control of the Aerolab tunnel and its electronic load, so a rotor is characterised unattended in ~10 minutes with a machine-checkable record of exactly how.</a:t>
            </a:r>
          </a:p>
          <a:p>
            <a:pPr algn="l">
              <a:spcAft>
                <a:spcPts val="900"/>
              </a:spcAft>
            </a:pPr>
            <a:r>
              <a:rPr sz="2800" b="0">
                <a:solidFill>
                  <a:srgbClr val="8A7038"/>
                </a:solidFill>
                <a:latin typeface="Calibri"/>
              </a:rPr>
              <a:t>▪ </a:t>
            </a:r>
            <a:r>
              <a:rPr sz="2800" b="0">
                <a:solidFill>
                  <a:srgbClr val="002147"/>
                </a:solidFill>
                <a:latin typeface="Calibri"/>
              </a:rPr>
              <a:t>Automated 14-point load sweep, drive and load on one clock</a:t>
            </a:r>
          </a:p>
          <a:p>
            <a:pPr algn="l">
              <a:spcAft>
                <a:spcPts val="900"/>
              </a:spcAft>
            </a:pPr>
            <a:r>
              <a:rPr sz="2800" b="0">
                <a:solidFill>
                  <a:srgbClr val="8A7038"/>
                </a:solidFill>
                <a:latin typeface="Calibri"/>
              </a:rPr>
              <a:t>▪ </a:t>
            </a:r>
            <a:r>
              <a:rPr sz="2800" b="0">
                <a:solidFill>
                  <a:srgbClr val="002147"/>
                </a:solidFill>
                <a:latin typeface="Calibri"/>
              </a:rPr>
              <a:t>Two-layer watchdog safety, hardware E-stop untouched</a:t>
            </a:r>
          </a:p>
          <a:p>
            <a:pPr algn="l">
              <a:spcAft>
                <a:spcPts val="900"/>
              </a:spcAft>
            </a:pPr>
            <a:r>
              <a:rPr sz="2800" b="0">
                <a:solidFill>
                  <a:srgbClr val="8A7038"/>
                </a:solidFill>
                <a:latin typeface="Calibri"/>
              </a:rPr>
              <a:t>▪ </a:t>
            </a:r>
            <a:r>
              <a:rPr sz="2800" b="0">
                <a:solidFill>
                  <a:srgbClr val="002147"/>
                </a:solidFill>
                <a:latin typeface="Calibri"/>
              </a:rPr>
              <a:t>Protocol fingerprinting so runs are provably comparable</a:t>
            </a:r>
          </a:p>
          <a:p>
            <a:pPr algn="l">
              <a:spcAft>
                <a:spcPts val="900"/>
              </a:spcAft>
            </a:pPr>
            <a:r>
              <a:rPr sz="2800" b="0">
                <a:solidFill>
                  <a:srgbClr val="8A7038"/>
                </a:solidFill>
                <a:latin typeface="Calibri"/>
              </a:rPr>
              <a:t>▪ </a:t>
            </a:r>
            <a:r>
              <a:rPr sz="2800" b="0">
                <a:solidFill>
                  <a:srgbClr val="002147"/>
                </a:solidFill>
                <a:latin typeface="Calibri"/>
              </a:rPr>
              <a:t>Live dashboard, digital twin, and a full parameter archive</a:t>
            </a:r>
          </a:p>
        </p:txBody>
      </p:sp>
      <p:sp>
        <p:nvSpPr>
          <p:cNvPr id="9" name="Rectangle 8"/>
          <p:cNvSpPr/>
          <p:nvPr/>
        </p:nvSpPr>
        <p:spPr>
          <a:xfrm>
            <a:off x="850392" y="15937992"/>
            <a:ext cx="12691872" cy="13670280"/>
          </a:xfrm>
          <a:prstGeom prst="rect">
            <a:avLst/>
          </a:prstGeom>
          <a:solidFill>
            <a:srgbClr val="FFFFFF"/>
          </a:solidFill>
          <a:ln w="168910">
            <a:solidFill>
              <a:srgbClr val="C79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70432" y="16038576"/>
            <a:ext cx="12051792" cy="1380744"/>
          </a:xfrm>
          <a:prstGeom prst="rect">
            <a:avLst/>
          </a:prstGeom>
          <a:noFill/>
        </p:spPr>
        <p:txBody>
          <a:bodyPr wrap="square" lIns="0" rIns="0" tIns="0" bIns="0">
            <a:spAutoFit/>
          </a:bodyPr>
          <a:lstStyle/>
          <a:p>
            <a:pPr algn="l">
              <a:spcAft>
                <a:spcPts val="0"/>
              </a:spcAft>
            </a:pPr>
            <a:r>
              <a:rPr sz="7200" b="1" i="0">
                <a:solidFill>
                  <a:srgbClr val="002147"/>
                </a:solidFill>
                <a:latin typeface="Calibri"/>
              </a:rPr>
              <a:t>System Architecture</a:t>
            </a:r>
          </a:p>
        </p:txBody>
      </p:sp>
      <p:sp>
        <p:nvSpPr>
          <p:cNvPr id="11" name="TextBox 10"/>
          <p:cNvSpPr txBox="1"/>
          <p:nvPr/>
        </p:nvSpPr>
        <p:spPr>
          <a:xfrm>
            <a:off x="1353312" y="17419320"/>
            <a:ext cx="11686032" cy="11868911"/>
          </a:xfrm>
          <a:prstGeom prst="rect">
            <a:avLst/>
          </a:prstGeom>
          <a:noFill/>
        </p:spPr>
        <p:txBody>
          <a:bodyPr wrap="square" lIns="0" rIns="0" tIns="0" bIns="0">
            <a:spAutoFit/>
          </a:bodyPr>
          <a:lstStyle/>
          <a:p/>
          <a:p>
            <a:pPr algn="l">
              <a:spcAft>
                <a:spcPts val="1100"/>
              </a:spcAft>
            </a:pPr>
            <a:r>
              <a:rPr sz="2800" b="1">
                <a:solidFill>
                  <a:srgbClr val="002147"/>
                </a:solidFill>
                <a:latin typeface="Calibri"/>
              </a:rPr>
              <a:t>Drive   </a:t>
            </a:r>
            <a:r>
              <a:rPr sz="2800" b="0">
                <a:solidFill>
                  <a:srgbClr val="0D2338"/>
                </a:solidFill>
                <a:latin typeface="Calibri"/>
              </a:rPr>
              <a:t>ABB ACS550-U1-046A-2, 15 HP, 208–240 V 3φ. Commands speed in rpm, full scale 2435</a:t>
            </a:r>
          </a:p>
          <a:p>
            <a:pPr algn="l">
              <a:spcAft>
                <a:spcPts val="1100"/>
              </a:spcAft>
            </a:pPr>
            <a:r>
              <a:rPr sz="2800" b="1">
                <a:solidFill>
                  <a:srgbClr val="002147"/>
                </a:solidFill>
                <a:latin typeface="Calibri"/>
              </a:rPr>
              <a:t>Controller   </a:t>
            </a:r>
            <a:r>
              <a:rPr sz="2800" b="0">
                <a:solidFill>
                  <a:srgbClr val="0D2338"/>
                </a:solidFill>
                <a:latin typeface="Calibri"/>
              </a:rPr>
              <a:t>Portenta Machine Control — sole Modbus RTU master, owns both watchdogs</a:t>
            </a:r>
          </a:p>
          <a:p>
            <a:pPr algn="l">
              <a:spcAft>
                <a:spcPts val="1100"/>
              </a:spcAft>
            </a:pPr>
            <a:r>
              <a:rPr sz="2800" b="1">
                <a:solidFill>
                  <a:srgbClr val="002147"/>
                </a:solidFill>
                <a:latin typeface="Calibri"/>
              </a:rPr>
              <a:t>Load   </a:t>
            </a:r>
            <a:r>
              <a:rPr sz="2800" b="0">
                <a:solidFill>
                  <a:srgbClr val="0D2338"/>
                </a:solidFill>
                <a:latin typeface="Calibri"/>
              </a:rPr>
              <a:t>Chroma 63004-150-60 DC electronic load, SCPI over USB-TMC</a:t>
            </a:r>
          </a:p>
          <a:p>
            <a:pPr algn="l">
              <a:spcAft>
                <a:spcPts val="1100"/>
              </a:spcAft>
            </a:pPr>
            <a:r>
              <a:rPr sz="2800" b="1">
                <a:solidFill>
                  <a:srgbClr val="002147"/>
                </a:solidFill>
                <a:latin typeface="Calibri"/>
              </a:rPr>
              <a:t>Wind   </a:t>
            </a:r>
            <a:r>
              <a:rPr sz="2800" b="0">
                <a:solidFill>
                  <a:srgbClr val="0D2338"/>
                </a:solidFill>
                <a:latin typeface="Calibri"/>
              </a:rPr>
              <a:t>10.1 – 37.5 m/s;  v = 0.02132·rpm − 0.424,  R² = 0.9996</a:t>
            </a:r>
          </a:p>
          <a:p>
            <a:pPr algn="l">
              <a:spcAft>
                <a:spcPts val="1100"/>
              </a:spcAft>
            </a:pPr>
            <a:r>
              <a:rPr sz="2800" b="1" i="0">
                <a:solidFill>
                  <a:srgbClr val="B3261E"/>
                </a:solidFill>
                <a:latin typeface="Calibri"/>
              </a:rPr>
              <a:t>The hardwired E-stop is the safety device. No software is in that chain.</a:t>
            </a:r>
          </a:p>
          <a:p>
            <a:pPr algn="l">
              <a:spcAft>
                <a:spcPts val="1100"/>
              </a:spcAft>
            </a:pPr>
            <a:r>
              <a:rPr sz="2800" b="0">
                <a:solidFill>
                  <a:srgbClr val="8A7038"/>
                </a:solidFill>
                <a:latin typeface="Calibri"/>
              </a:rPr>
              <a:t>• </a:t>
            </a:r>
            <a:r>
              <a:rPr sz="2800" b="0">
                <a:solidFill>
                  <a:srgbClr val="0D2338"/>
                </a:solidFill>
                <a:latin typeface="Calibri"/>
              </a:rPr>
              <a:t>Two independent watchdogs — the drive stops the fan if the PMC goes quiet (3.0 s); the PMC stops the fan if the host goes quiet (5.0 s). Neither depends on the layer above it.</a:t>
            </a:r>
          </a:p>
          <a:p>
            <a:pPr algn="l">
              <a:spcAft>
                <a:spcPts val="1100"/>
              </a:spcAft>
            </a:pPr>
            <a:r>
              <a:rPr sz="2800" b="0">
                <a:solidFill>
                  <a:srgbClr val="8A7038"/>
                </a:solidFill>
                <a:latin typeface="Calibri"/>
              </a:rPr>
              <a:t>• </a:t>
            </a:r>
            <a:r>
              <a:rPr sz="2800" b="0">
                <a:solidFill>
                  <a:srgbClr val="0D2338"/>
                </a:solidFill>
                <a:latin typeface="Calibri"/>
              </a:rPr>
              <a:t>One Modbus master only. Two devices commanding a 15 HP fan, neither aware of the other, is the failure this design prevents.</a:t>
            </a:r>
          </a:p>
          <a:p>
            <a:pPr algn="l">
              <a:spcAft>
                <a:spcPts val="1100"/>
              </a:spcAft>
            </a:pPr>
            <a:r>
              <a:rPr sz="2800" b="0">
                <a:solidFill>
                  <a:srgbClr val="8A7038"/>
                </a:solidFill>
                <a:latin typeface="Calibri"/>
              </a:rPr>
              <a:t>• </a:t>
            </a:r>
            <a:r>
              <a:rPr sz="2800" b="0">
                <a:solidFill>
                  <a:srgbClr val="0D2338"/>
                </a:solidFill>
                <a:latin typeface="Calibri"/>
              </a:rPr>
              <a:t>Interlock: load ON → wind UP → test → wind DOWN → load OFF. An unloaded rotor in moving air accelerates.</a:t>
            </a:r>
          </a:p>
        </p:txBody>
      </p:sp>
      <p:sp>
        <p:nvSpPr>
          <p:cNvPr id="12" name="Rectangle 11"/>
          <p:cNvSpPr/>
          <p:nvPr/>
        </p:nvSpPr>
        <p:spPr>
          <a:xfrm>
            <a:off x="1353312" y="25054560"/>
            <a:ext cx="11686032" cy="3931920"/>
          </a:xfrm>
          <a:prstGeom prst="rect">
            <a:avLst/>
          </a:prstGeom>
          <a:solidFill>
            <a:srgbClr val="EAF1F8"/>
          </a:solidFill>
          <a:ln w="12700">
            <a:solidFill>
              <a:srgbClr val="C0DD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1200" b="1" i="0">
                <a:solidFill>
                  <a:srgbClr val="2277B3"/>
                </a:solidFill>
                <a:latin typeface="Calibri"/>
              </a:rPr>
              <a:t>FIGURE</a:t>
            </a:r>
          </a:p>
          <a:p>
            <a:pPr algn="ctr">
              <a:spcAft>
                <a:spcPts val="400"/>
              </a:spcAft>
            </a:pPr>
            <a:r>
              <a:rPr sz="1100" b="0" i="0">
                <a:solidFill>
                  <a:srgbClr val="5B7288"/>
                </a:solidFill>
                <a:latin typeface="Consolas"/>
              </a:rPr>
              <a:t>docs/diagrams/system_overview.png</a:t>
            </a:r>
          </a:p>
          <a:p>
            <a:pPr algn="ctr">
              <a:spcAft>
                <a:spcPts val="600"/>
              </a:spcAft>
            </a:pPr>
            <a:r>
              <a:rPr sz="1100" b="0" i="1">
                <a:solidFill>
                  <a:srgbClr val="5B7288"/>
                </a:solidFill>
                <a:latin typeface="Calibri"/>
              </a:rPr>
              <a:t>Measurement and control chain</a:t>
            </a:r>
          </a:p>
        </p:txBody>
      </p:sp>
      <p:sp>
        <p:nvSpPr>
          <p:cNvPr id="13" name="Rectangle 12"/>
          <p:cNvSpPr/>
          <p:nvPr/>
        </p:nvSpPr>
        <p:spPr>
          <a:xfrm>
            <a:off x="14036040" y="6986016"/>
            <a:ext cx="15288767" cy="22704552"/>
          </a:xfrm>
          <a:prstGeom prst="rect">
            <a:avLst/>
          </a:prstGeom>
          <a:solidFill>
            <a:srgbClr val="FFFFFF"/>
          </a:solidFill>
          <a:ln w="168910">
            <a:solidFill>
              <a:srgbClr val="C79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356080" y="7086600"/>
            <a:ext cx="14648688" cy="1380744"/>
          </a:xfrm>
          <a:prstGeom prst="rect">
            <a:avLst/>
          </a:prstGeom>
          <a:noFill/>
        </p:spPr>
        <p:txBody>
          <a:bodyPr wrap="square" lIns="0" rIns="0" tIns="0" bIns="0">
            <a:spAutoFit/>
          </a:bodyPr>
          <a:lstStyle/>
          <a:p>
            <a:pPr algn="l">
              <a:spcAft>
                <a:spcPts val="0"/>
              </a:spcAft>
            </a:pPr>
            <a:r>
              <a:rPr sz="7200" b="1" i="0">
                <a:solidFill>
                  <a:srgbClr val="002147"/>
                </a:solidFill>
                <a:latin typeface="Calibri"/>
              </a:rPr>
              <a:t>Project Details</a:t>
            </a:r>
          </a:p>
        </p:txBody>
      </p:sp>
      <p:sp>
        <p:nvSpPr>
          <p:cNvPr id="15" name="TextBox 14"/>
          <p:cNvSpPr txBox="1"/>
          <p:nvPr/>
        </p:nvSpPr>
        <p:spPr>
          <a:xfrm>
            <a:off x="14538960" y="8467344"/>
            <a:ext cx="14282928" cy="20903184"/>
          </a:xfrm>
          <a:prstGeom prst="rect">
            <a:avLst/>
          </a:prstGeom>
          <a:noFill/>
        </p:spPr>
        <p:txBody>
          <a:bodyPr wrap="square" lIns="0" rIns="0" tIns="0" bIns="0">
            <a:spAutoFit/>
          </a:bodyPr>
          <a:lstStyle/>
          <a:p>
            <a:pPr algn="l">
              <a:spcAft>
                <a:spcPts val="1300"/>
              </a:spcAft>
            </a:pPr>
            <a:r>
              <a:rPr sz="3200" b="1" i="0">
                <a:solidFill>
                  <a:srgbClr val="002147"/>
                </a:solidFill>
                <a:latin typeface="Calibri"/>
              </a:rPr>
              <a:t>At each of 14 wind speeds (500 → 1800 rpm fan, 100 rpm steps):</a:t>
            </a:r>
          </a:p>
          <a:p>
            <a:pPr algn="l">
              <a:spcAft>
                <a:spcPts val="1100"/>
              </a:spcAft>
            </a:pPr>
            <a:r>
              <a:rPr sz="3200" b="0">
                <a:solidFill>
                  <a:srgbClr val="8A7038"/>
                </a:solidFill>
                <a:latin typeface="Calibri"/>
              </a:rPr>
              <a:t>• </a:t>
            </a:r>
            <a:r>
              <a:rPr sz="3200" b="0">
                <a:solidFill>
                  <a:srgbClr val="0D2338"/>
                </a:solidFill>
                <a:latin typeface="Calibri"/>
              </a:rPr>
              <a:t>Ramp the electronic load in constant-current steps</a:t>
            </a:r>
          </a:p>
          <a:p>
            <a:pPr algn="l">
              <a:spcAft>
                <a:spcPts val="1100"/>
              </a:spcAft>
            </a:pPr>
            <a:r>
              <a:rPr sz="3200" b="0">
                <a:solidFill>
                  <a:srgbClr val="8A7038"/>
                </a:solidFill>
                <a:latin typeface="Calibri"/>
              </a:rPr>
              <a:t>• </a:t>
            </a:r>
            <a:r>
              <a:rPr sz="3200" b="0">
                <a:solidFill>
                  <a:srgbClr val="0D2338"/>
                </a:solidFill>
                <a:latin typeface="Calibri"/>
              </a:rPr>
              <a:t>Stop once electrical power falls to 80% of its peak — the rotor is never driven to stall</a:t>
            </a:r>
          </a:p>
          <a:p>
            <a:pPr algn="l">
              <a:spcAft>
                <a:spcPts val="1100"/>
              </a:spcAft>
            </a:pPr>
            <a:r>
              <a:rPr sz="3200" b="0">
                <a:solidFill>
                  <a:srgbClr val="8A7038"/>
                </a:solidFill>
                <a:latin typeface="Calibri"/>
              </a:rPr>
              <a:t>• </a:t>
            </a:r>
            <a:r>
              <a:rPr sz="3200" b="0">
                <a:solidFill>
                  <a:srgbClr val="0D2338"/>
                </a:solidFill>
                <a:latin typeface="Calibri"/>
              </a:rPr>
              <a:t>Record V and I at every step, unload, advance the wind</a:t>
            </a:r>
          </a:p>
          <a:p>
            <a:pPr algn="l">
              <a:spcAft>
                <a:spcPts val="1300"/>
              </a:spcAft>
            </a:pPr>
            <a:r>
              <a:rPr sz="3200" b="1">
                <a:solidFill>
                  <a:srgbClr val="002147"/>
                </a:solidFill>
                <a:latin typeface="Calibri"/>
              </a:rPr>
              <a:t>Peak located by parabolic fit. </a:t>
            </a:r>
            <a:r>
              <a:rPr sz="3200" b="0">
                <a:solidFill>
                  <a:srgbClr val="0D2338"/>
                </a:solidFill>
                <a:latin typeface="Calibri"/>
              </a:rPr>
              <a:t>Over a flat maximum the largest single sample is biased high, and the bias grows with sample count — so blades measured with different point counts would be compared unfairly.</a:t>
            </a:r>
          </a:p>
          <a:p>
            <a:pPr algn="l">
              <a:spcAft>
                <a:spcPts val="1300"/>
              </a:spcAft>
            </a:pPr>
            <a:r>
              <a:rPr sz="3200" b="1">
                <a:solidFill>
                  <a:srgbClr val="002147"/>
                </a:solidFill>
                <a:latin typeface="Calibri"/>
              </a:rPr>
              <a:t>Protocol fingerprinting. </a:t>
            </a:r>
            <a:r>
              <a:rPr sz="3200" b="0">
                <a:solidFill>
                  <a:srgbClr val="0D2338"/>
                </a:solidFill>
                <a:latin typeface="Calibri"/>
              </a:rPr>
              <a:t>Every run hashes the settings that change what a curve means. Runs with different fingerprints are not comparable, and the hash makes that visible instead of silent.</a:t>
            </a:r>
          </a:p>
          <a:p>
            <a:pPr algn="l">
              <a:spcAft>
                <a:spcPts val="1100"/>
              </a:spcAft>
            </a:pPr>
            <a:r>
              <a:rPr sz="3000" b="1">
                <a:solidFill>
                  <a:srgbClr val="002147"/>
                </a:solidFill>
                <a:latin typeface="Calibri"/>
              </a:rPr>
              <a:t>Rotor   </a:t>
            </a:r>
            <a:r>
              <a:rPr sz="3000" b="0">
                <a:solidFill>
                  <a:srgbClr val="0D2338"/>
                </a:solidFill>
                <a:latin typeface="Calibri"/>
              </a:rPr>
              <a:t>vertical-axis H-rotor, 3 blades, R = 101.6 mm, span 245 mm. Swept area 2RH = 0.0498 m² — a cylinder, not a disc.</a:t>
            </a:r>
          </a:p>
          <a:p>
            <a:pPr algn="l">
              <a:spcAft>
                <a:spcPts val="0"/>
              </a:spcAft>
            </a:pPr>
            <a:r>
              <a:rPr sz="3000" b="1">
                <a:solidFill>
                  <a:srgbClr val="002147"/>
                </a:solidFill>
                <a:latin typeface="Calibri"/>
              </a:rPr>
              <a:t>Blade   </a:t>
            </a:r>
            <a:r>
              <a:rPr sz="3000" b="0">
                <a:solidFill>
                  <a:srgbClr val="0D2338"/>
                </a:solidFill>
                <a:latin typeface="Calibri"/>
              </a:rPr>
              <a:t>PETG thin cambered plate: 1.79 mm wall, t/c 4%, 42% camber, 183° turning, square edges — not an airfoil.</a:t>
            </a:r>
          </a:p>
        </p:txBody>
      </p:sp>
      <p:sp>
        <p:nvSpPr>
          <p:cNvPr id="16" name="Rectangle 15"/>
          <p:cNvSpPr/>
          <p:nvPr/>
        </p:nvSpPr>
        <p:spPr>
          <a:xfrm>
            <a:off x="14538960" y="18196560"/>
            <a:ext cx="14282928" cy="10881360"/>
          </a:xfrm>
          <a:prstGeom prst="rect">
            <a:avLst/>
          </a:prstGeom>
          <a:solidFill>
            <a:srgbClr val="EAF1F8"/>
          </a:solidFill>
          <a:ln w="12700">
            <a:solidFill>
              <a:srgbClr val="C0DD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1200" b="1" i="0">
                <a:solidFill>
                  <a:srgbClr val="2277B3"/>
                </a:solidFill>
                <a:latin typeface="Calibri"/>
              </a:rPr>
              <a:t>FIGURE</a:t>
            </a:r>
          </a:p>
          <a:p>
            <a:pPr algn="ctr">
              <a:spcAft>
                <a:spcPts val="400"/>
              </a:spcAft>
            </a:pPr>
            <a:r>
              <a:rPr sz="1100" b="0" i="0">
                <a:solidFill>
                  <a:srgbClr val="5B7288"/>
                </a:solidFill>
                <a:latin typeface="Consolas"/>
              </a:rPr>
              <a:t>docs/diagrams/sweep_protocol.png</a:t>
            </a:r>
          </a:p>
          <a:p>
            <a:pPr algn="ctr">
              <a:spcAft>
                <a:spcPts val="600"/>
              </a:spcAft>
            </a:pPr>
            <a:r>
              <a:rPr sz="1100" b="0" i="1">
                <a:solidFill>
                  <a:srgbClr val="5B7288"/>
                </a:solidFill>
                <a:latin typeface="Calibri"/>
              </a:rPr>
              <a:t>Outer loop = wind speed; inner loop = load current</a:t>
            </a:r>
          </a:p>
        </p:txBody>
      </p:sp>
      <p:sp>
        <p:nvSpPr>
          <p:cNvPr id="17" name="Rectangle 16"/>
          <p:cNvSpPr/>
          <p:nvPr/>
        </p:nvSpPr>
        <p:spPr>
          <a:xfrm>
            <a:off x="29818584" y="6986016"/>
            <a:ext cx="13222224" cy="13862304"/>
          </a:xfrm>
          <a:prstGeom prst="rect">
            <a:avLst/>
          </a:prstGeom>
          <a:solidFill>
            <a:srgbClr val="FFFFFF"/>
          </a:solidFill>
          <a:ln w="168910">
            <a:solidFill>
              <a:srgbClr val="C79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138624" y="7086600"/>
            <a:ext cx="12582144" cy="1380744"/>
          </a:xfrm>
          <a:prstGeom prst="rect">
            <a:avLst/>
          </a:prstGeom>
          <a:noFill/>
        </p:spPr>
        <p:txBody>
          <a:bodyPr wrap="square" lIns="0" rIns="0" tIns="0" bIns="0">
            <a:spAutoFit/>
          </a:bodyPr>
          <a:lstStyle/>
          <a:p>
            <a:pPr algn="l">
              <a:spcAft>
                <a:spcPts val="0"/>
              </a:spcAft>
            </a:pPr>
            <a:r>
              <a:rPr sz="7200" b="1" i="0">
                <a:solidFill>
                  <a:srgbClr val="002147"/>
                </a:solidFill>
                <a:latin typeface="Calibri"/>
              </a:rPr>
              <a:t>Results</a:t>
            </a:r>
          </a:p>
        </p:txBody>
      </p:sp>
      <p:sp>
        <p:nvSpPr>
          <p:cNvPr id="19" name="TextBox 18"/>
          <p:cNvSpPr txBox="1"/>
          <p:nvPr/>
        </p:nvSpPr>
        <p:spPr>
          <a:xfrm>
            <a:off x="30321503" y="8467344"/>
            <a:ext cx="12216384" cy="12060936"/>
          </a:xfrm>
          <a:prstGeom prst="rect">
            <a:avLst/>
          </a:prstGeom>
          <a:noFill/>
        </p:spPr>
        <p:txBody>
          <a:bodyPr wrap="square" lIns="0" rIns="0" tIns="0" bIns="0">
            <a:spAutoFit/>
          </a:bodyPr>
          <a:lstStyle/>
          <a:p>
            <a:pPr algn="l">
              <a:spcAft>
                <a:spcPts val="1300"/>
              </a:spcAft>
            </a:pPr>
            <a:r>
              <a:rPr sz="3000" b="0" i="0">
                <a:solidFill>
                  <a:srgbClr val="0D2338"/>
                </a:solidFill>
                <a:latin typeface="Calibri"/>
              </a:rPr>
              <a:t>14 / 14 points clean, single continuous run</a:t>
            </a:r>
          </a:p>
          <a:p>
            <a:pPr algn="l">
              <a:spcAft>
                <a:spcPts val="800"/>
              </a:spcAft>
            </a:pPr>
            <a:r>
              <a:rPr sz="4000" b="1" i="0">
                <a:solidFill>
                  <a:srgbClr val="002147"/>
                </a:solidFill>
                <a:latin typeface="Calibri"/>
              </a:rPr>
              <a:t>P ∝ v^3.77    R² = 0.998</a:t>
            </a:r>
          </a:p>
          <a:p>
            <a:pPr algn="l">
              <a:spcAft>
                <a:spcPts val="1300"/>
              </a:spcAft>
            </a:pPr>
            <a:r>
              <a:rPr sz="4000" b="1" i="0">
                <a:solidFill>
                  <a:srgbClr val="002147"/>
                </a:solidFill>
                <a:latin typeface="Calibri"/>
              </a:rPr>
              <a:t>peak 3.793 W at 37.5 m/s</a:t>
            </a:r>
          </a:p>
          <a:p>
            <a:pPr algn="l">
              <a:spcAft>
                <a:spcPts val="1600"/>
              </a:spcAft>
            </a:pPr>
            <a:r>
              <a:rPr sz="2800" b="0" i="0">
                <a:solidFill>
                  <a:srgbClr val="5B7288"/>
                </a:solidFill>
                <a:latin typeface="Calibri"/>
              </a:rPr>
              <a:t>Independent repeats at 1200 and 1800 rpm match the sweep to 0.3% and 0.2%.</a:t>
            </a:r>
          </a:p>
          <a:p>
            <a:pPr algn="l">
              <a:spcAft>
                <a:spcPts val="1100"/>
              </a:spcAft>
            </a:pPr>
            <a:r>
              <a:rPr sz="2800" b="1" i="0">
                <a:solidFill>
                  <a:srgbClr val="8A7038"/>
                </a:solidFill>
                <a:latin typeface="Calibri"/>
              </a:rPr>
              <a:t>THE EXPONENT IS A GENERATOR CHARACTERISTIC, NOT AN AERODYNAMIC ONE</a:t>
            </a:r>
          </a:p>
          <a:p>
            <a:pPr algn="l">
              <a:spcAft>
                <a:spcPts val="800"/>
              </a:spcAft>
            </a:pPr>
            <a:r>
              <a:rPr sz="2600" b="0" i="0">
                <a:solidFill>
                  <a:srgbClr val="002147"/>
                </a:solidFill>
                <a:latin typeface="Calibri"/>
              </a:rPr>
              <a:t>V_oc ∝ v^1.52   and   R_int ∝ v^−0.64   (73.6 → 40.1 Ω)</a:t>
            </a:r>
          </a:p>
          <a:p>
            <a:pPr algn="l">
              <a:spcAft>
                <a:spcPts val="800"/>
              </a:spcAft>
            </a:pPr>
            <a:r>
              <a:rPr sz="2600" b="0" i="0">
                <a:solidFill>
                  <a:srgbClr val="002147"/>
                </a:solidFill>
                <a:latin typeface="Calibri"/>
              </a:rPr>
              <a:t>every peak sits at the Thévenin match,  P = V_oc² / 4R_int</a:t>
            </a:r>
          </a:p>
          <a:p>
            <a:pPr algn="l">
              <a:spcAft>
                <a:spcPts val="800"/>
              </a:spcAft>
            </a:pPr>
            <a:r>
              <a:rPr sz="2600" b="0" i="0">
                <a:solidFill>
                  <a:srgbClr val="002147"/>
                </a:solidFill>
                <a:latin typeface="Calibri"/>
              </a:rPr>
              <a:t>n = 2a − b = 3.69,  against 3.77 measured</a:t>
            </a:r>
          </a:p>
          <a:p>
            <a:pPr algn="l">
              <a:spcAft>
                <a:spcPts val="0"/>
              </a:spcAft>
            </a:pPr>
            <a:r>
              <a:rPr sz="2800" b="0">
                <a:solidFill>
                  <a:srgbClr val="0D2338"/>
                </a:solidFill>
                <a:latin typeface="Calibri"/>
              </a:rPr>
              <a:t>Cp_elec = </a:t>
            </a:r>
            <a:r>
              <a:rPr sz="2800" b="1">
                <a:solidFill>
                  <a:srgbClr val="B3261E"/>
                </a:solidFill>
                <a:latin typeface="Calibri"/>
              </a:rPr>
              <a:t>0.10 – 0.24%</a:t>
            </a:r>
            <a:r>
              <a:rPr sz="2800" b="0">
                <a:solidFill>
                  <a:srgbClr val="0D2338"/>
                </a:solidFill>
                <a:latin typeface="Calibri"/>
              </a:rPr>
              <a:t>, ~100× below a working H-rotor: peak power sits at ω/ω_runaway ≈ 0.70 → 0.94, the far limb of Cp(λ) where Cp → 0 by construction.</a:t>
            </a:r>
          </a:p>
        </p:txBody>
      </p:sp>
      <p:graphicFrame>
        <p:nvGraphicFramePr>
          <p:cNvPr id="20" name="Table 19"/>
          <p:cNvGraphicFramePr>
            <a:graphicFrameLocks noGrp="1"/>
          </p:cNvGraphicFramePr>
          <p:nvPr/>
        </p:nvGraphicFramePr>
        <p:xfrm>
          <a:off x="30321503" y="16002000"/>
          <a:ext cx="11887200" cy="3749039"/>
        </p:xfrm>
        <a:graphic>
          <a:graphicData uri="http://schemas.openxmlformats.org/drawingml/2006/table">
            <a:tbl>
              <a:tblPr firstRow="1" bandRow="1">
                <a:tableStyleId>{5C22544A-7EE6-4342-B048-85BDC9FD1C3A}</a:tableStyleId>
              </a:tblPr>
              <a:tblGrid>
                <a:gridCol w="3017520"/>
                <a:gridCol w="2743200"/>
                <a:gridCol w="3108960"/>
                <a:gridCol w="3017520"/>
              </a:tblGrid>
              <a:tr h="749807">
                <a:tc>
                  <a:txBody>
                    <a:bodyPr/>
                    <a:lstStyle/>
                    <a:p>
                      <a:pPr algn="l"/>
                      <a:r>
                        <a:rPr sz="2400" b="1">
                          <a:solidFill>
                            <a:srgbClr val="FFFFFF"/>
                          </a:solidFill>
                        </a:rPr>
                        <a:t>fan rpm</a:t>
                      </a:r>
                    </a:p>
                  </a:txBody>
                  <a:tcPr>
                    <a:solidFill>
                      <a:srgbClr val="002147"/>
                    </a:solidFill>
                  </a:tcPr>
                </a:tc>
                <a:tc>
                  <a:txBody>
                    <a:bodyPr/>
                    <a:lstStyle/>
                    <a:p>
                      <a:pPr algn="r"/>
                      <a:r>
                        <a:rPr sz="2400" b="1">
                          <a:solidFill>
                            <a:srgbClr val="FFFFFF"/>
                          </a:solidFill>
                        </a:rPr>
                        <a:t>m/s</a:t>
                      </a:r>
                    </a:p>
                  </a:txBody>
                  <a:tcPr>
                    <a:solidFill>
                      <a:srgbClr val="002147"/>
                    </a:solidFill>
                  </a:tcPr>
                </a:tc>
                <a:tc>
                  <a:txBody>
                    <a:bodyPr/>
                    <a:lstStyle/>
                    <a:p>
                      <a:pPr algn="r"/>
                      <a:r>
                        <a:rPr sz="2400" b="1">
                          <a:solidFill>
                            <a:srgbClr val="FFFFFF"/>
                          </a:solidFill>
                        </a:rPr>
                        <a:t>P_max</a:t>
                      </a:r>
                    </a:p>
                  </a:txBody>
                  <a:tcPr>
                    <a:solidFill>
                      <a:srgbClr val="002147"/>
                    </a:solidFill>
                  </a:tcPr>
                </a:tc>
                <a:tc>
                  <a:txBody>
                    <a:bodyPr/>
                    <a:lstStyle/>
                    <a:p>
                      <a:pPr algn="r"/>
                      <a:r>
                        <a:rPr sz="2400" b="1">
                          <a:solidFill>
                            <a:srgbClr val="FFFFFF"/>
                          </a:solidFill>
                        </a:rPr>
                        <a:t>at</a:t>
                      </a:r>
                    </a:p>
                  </a:txBody>
                  <a:tcPr>
                    <a:solidFill>
                      <a:srgbClr val="002147"/>
                    </a:solidFill>
                  </a:tcPr>
                </a:tc>
              </a:tr>
              <a:tr h="749807">
                <a:tc>
                  <a:txBody>
                    <a:bodyPr/>
                    <a:lstStyle/>
                    <a:p>
                      <a:pPr algn="l"/>
                      <a:r>
                        <a:rPr sz="2400" b="0">
                          <a:solidFill>
                            <a:srgbClr val="0D2338"/>
                          </a:solidFill>
                        </a:rPr>
                        <a:t>496</a:t>
                      </a:r>
                    </a:p>
                  </a:txBody>
                  <a:tcPr>
                    <a:solidFill>
                      <a:srgbClr val="FFFFFF"/>
                    </a:solidFill>
                  </a:tcPr>
                </a:tc>
                <a:tc>
                  <a:txBody>
                    <a:bodyPr/>
                    <a:lstStyle/>
                    <a:p>
                      <a:pPr algn="r"/>
                      <a:r>
                        <a:rPr sz="2400" b="0">
                          <a:solidFill>
                            <a:srgbClr val="0D2338"/>
                          </a:solidFill>
                        </a:rPr>
                        <a:t>10.1</a:t>
                      </a:r>
                    </a:p>
                  </a:txBody>
                  <a:tcPr>
                    <a:solidFill>
                      <a:srgbClr val="FFFFFF"/>
                    </a:solidFill>
                  </a:tcPr>
                </a:tc>
                <a:tc>
                  <a:txBody>
                    <a:bodyPr/>
                    <a:lstStyle/>
                    <a:p>
                      <a:pPr algn="r"/>
                      <a:r>
                        <a:rPr sz="2400" b="0">
                          <a:solidFill>
                            <a:srgbClr val="0D2338"/>
                          </a:solidFill>
                        </a:rPr>
                        <a:t>0.030 W</a:t>
                      </a:r>
                    </a:p>
                  </a:txBody>
                  <a:tcPr>
                    <a:solidFill>
                      <a:srgbClr val="FFFFFF"/>
                    </a:solidFill>
                  </a:tcPr>
                </a:tc>
                <a:tc>
                  <a:txBody>
                    <a:bodyPr/>
                    <a:lstStyle/>
                    <a:p>
                      <a:pPr algn="r"/>
                      <a:r>
                        <a:rPr sz="2400" b="0">
                          <a:solidFill>
                            <a:srgbClr val="0D2338"/>
                          </a:solidFill>
                        </a:rPr>
                        <a:t>0.018 A</a:t>
                      </a:r>
                    </a:p>
                  </a:txBody>
                  <a:tcPr>
                    <a:solidFill>
                      <a:srgbClr val="FFFFFF"/>
                    </a:solidFill>
                  </a:tcPr>
                </a:tc>
              </a:tr>
              <a:tr h="749807">
                <a:tc>
                  <a:txBody>
                    <a:bodyPr/>
                    <a:lstStyle/>
                    <a:p>
                      <a:pPr algn="l"/>
                      <a:r>
                        <a:rPr sz="2400" b="0">
                          <a:solidFill>
                            <a:srgbClr val="0D2338"/>
                          </a:solidFill>
                        </a:rPr>
                        <a:t>894</a:t>
                      </a:r>
                    </a:p>
                  </a:txBody>
                  <a:tcPr>
                    <a:solidFill>
                      <a:srgbClr val="FFFFFF"/>
                    </a:solidFill>
                  </a:tcPr>
                </a:tc>
                <a:tc>
                  <a:txBody>
                    <a:bodyPr/>
                    <a:lstStyle/>
                    <a:p>
                      <a:pPr algn="r"/>
                      <a:r>
                        <a:rPr sz="2400" b="0">
                          <a:solidFill>
                            <a:srgbClr val="0D2338"/>
                          </a:solidFill>
                        </a:rPr>
                        <a:t>18.6</a:t>
                      </a:r>
                    </a:p>
                  </a:txBody>
                  <a:tcPr>
                    <a:solidFill>
                      <a:srgbClr val="FFFFFF"/>
                    </a:solidFill>
                  </a:tcPr>
                </a:tc>
                <a:tc>
                  <a:txBody>
                    <a:bodyPr/>
                    <a:lstStyle/>
                    <a:p>
                      <a:pPr algn="r"/>
                      <a:r>
                        <a:rPr sz="2400" b="0">
                          <a:solidFill>
                            <a:srgbClr val="0D2338"/>
                          </a:solidFill>
                        </a:rPr>
                        <a:t>0.273 W</a:t>
                      </a:r>
                    </a:p>
                  </a:txBody>
                  <a:tcPr>
                    <a:solidFill>
                      <a:srgbClr val="FFFFFF"/>
                    </a:solidFill>
                  </a:tcPr>
                </a:tc>
                <a:tc>
                  <a:txBody>
                    <a:bodyPr/>
                    <a:lstStyle/>
                    <a:p>
                      <a:pPr algn="r"/>
                      <a:r>
                        <a:rPr sz="2400" b="0">
                          <a:solidFill>
                            <a:srgbClr val="0D2338"/>
                          </a:solidFill>
                        </a:rPr>
                        <a:t>0.068 A</a:t>
                      </a:r>
                    </a:p>
                  </a:txBody>
                  <a:tcPr>
                    <a:solidFill>
                      <a:srgbClr val="FFFFFF"/>
                    </a:solidFill>
                  </a:tcPr>
                </a:tc>
              </a:tr>
              <a:tr h="749807">
                <a:tc>
                  <a:txBody>
                    <a:bodyPr/>
                    <a:lstStyle/>
                    <a:p>
                      <a:pPr algn="l"/>
                      <a:r>
                        <a:rPr sz="2400" b="0">
                          <a:solidFill>
                            <a:srgbClr val="0D2338"/>
                          </a:solidFill>
                        </a:rPr>
                        <a:t>1384</a:t>
                      </a:r>
                    </a:p>
                  </a:txBody>
                  <a:tcPr>
                    <a:solidFill>
                      <a:srgbClr val="FFFFFF"/>
                    </a:solidFill>
                  </a:tcPr>
                </a:tc>
                <a:tc>
                  <a:txBody>
                    <a:bodyPr/>
                    <a:lstStyle/>
                    <a:p>
                      <a:pPr algn="r"/>
                      <a:r>
                        <a:rPr sz="2400" b="0">
                          <a:solidFill>
                            <a:srgbClr val="0D2338"/>
                          </a:solidFill>
                        </a:rPr>
                        <a:t>29.1</a:t>
                      </a:r>
                    </a:p>
                  </a:txBody>
                  <a:tcPr>
                    <a:solidFill>
                      <a:srgbClr val="FFFFFF"/>
                    </a:solidFill>
                  </a:tcPr>
                </a:tc>
                <a:tc>
                  <a:txBody>
                    <a:bodyPr/>
                    <a:lstStyle/>
                    <a:p>
                      <a:pPr algn="r"/>
                      <a:r>
                        <a:rPr sz="2400" b="0">
                          <a:solidFill>
                            <a:srgbClr val="0D2338"/>
                          </a:solidFill>
                        </a:rPr>
                        <a:t>1.665 W</a:t>
                      </a:r>
                    </a:p>
                  </a:txBody>
                  <a:tcPr>
                    <a:solidFill>
                      <a:srgbClr val="FFFFFF"/>
                    </a:solidFill>
                  </a:tcPr>
                </a:tc>
                <a:tc>
                  <a:txBody>
                    <a:bodyPr/>
                    <a:lstStyle/>
                    <a:p>
                      <a:pPr algn="r"/>
                      <a:r>
                        <a:rPr sz="2400" b="0">
                          <a:solidFill>
                            <a:srgbClr val="0D2338"/>
                          </a:solidFill>
                        </a:rPr>
                        <a:t>0.240 A</a:t>
                      </a:r>
                    </a:p>
                  </a:txBody>
                  <a:tcPr>
                    <a:solidFill>
                      <a:srgbClr val="FFFFFF"/>
                    </a:solidFill>
                  </a:tcPr>
                </a:tc>
              </a:tr>
              <a:tr h="749811">
                <a:tc>
                  <a:txBody>
                    <a:bodyPr/>
                    <a:lstStyle/>
                    <a:p>
                      <a:pPr algn="l"/>
                      <a:r>
                        <a:rPr sz="2400" b="1">
                          <a:solidFill>
                            <a:srgbClr val="002147"/>
                          </a:solidFill>
                        </a:rPr>
                        <a:t>1779</a:t>
                      </a:r>
                    </a:p>
                  </a:txBody>
                  <a:tcPr>
                    <a:solidFill>
                      <a:srgbClr val="EAF1F8"/>
                    </a:solidFill>
                  </a:tcPr>
                </a:tc>
                <a:tc>
                  <a:txBody>
                    <a:bodyPr/>
                    <a:lstStyle/>
                    <a:p>
                      <a:pPr algn="r"/>
                      <a:r>
                        <a:rPr sz="2400" b="1">
                          <a:solidFill>
                            <a:srgbClr val="002147"/>
                          </a:solidFill>
                        </a:rPr>
                        <a:t>37.5</a:t>
                      </a:r>
                    </a:p>
                  </a:txBody>
                  <a:tcPr>
                    <a:solidFill>
                      <a:srgbClr val="EAF1F8"/>
                    </a:solidFill>
                  </a:tcPr>
                </a:tc>
                <a:tc>
                  <a:txBody>
                    <a:bodyPr/>
                    <a:lstStyle/>
                    <a:p>
                      <a:pPr algn="r"/>
                      <a:r>
                        <a:rPr sz="2400" b="1">
                          <a:solidFill>
                            <a:srgbClr val="002147"/>
                          </a:solidFill>
                        </a:rPr>
                        <a:t>3.793 W</a:t>
                      </a:r>
                    </a:p>
                  </a:txBody>
                  <a:tcPr>
                    <a:solidFill>
                      <a:srgbClr val="EAF1F8"/>
                    </a:solidFill>
                  </a:tcPr>
                </a:tc>
                <a:tc>
                  <a:txBody>
                    <a:bodyPr/>
                    <a:lstStyle/>
                    <a:p>
                      <a:pPr algn="r"/>
                      <a:r>
                        <a:rPr sz="2400" b="1">
                          <a:solidFill>
                            <a:srgbClr val="002147"/>
                          </a:solidFill>
                        </a:rPr>
                        <a:t>0.320 A</a:t>
                      </a:r>
                    </a:p>
                  </a:txBody>
                  <a:tcPr>
                    <a:solidFill>
                      <a:srgbClr val="EAF1F8"/>
                    </a:solidFill>
                  </a:tcPr>
                </a:tc>
              </a:tr>
            </a:tbl>
          </a:graphicData>
        </a:graphic>
      </p:graphicFrame>
      <p:sp>
        <p:nvSpPr>
          <p:cNvPr id="21" name="TextBox 20"/>
          <p:cNvSpPr txBox="1"/>
          <p:nvPr/>
        </p:nvSpPr>
        <p:spPr>
          <a:xfrm>
            <a:off x="30321503" y="19860768"/>
            <a:ext cx="11887200" cy="731520"/>
          </a:xfrm>
          <a:prstGeom prst="rect">
            <a:avLst/>
          </a:prstGeom>
          <a:noFill/>
        </p:spPr>
        <p:txBody>
          <a:bodyPr wrap="square" lIns="0" rIns="0" tIns="0" bIns="0">
            <a:spAutoFit/>
          </a:bodyPr>
          <a:lstStyle/>
          <a:p>
            <a:pPr algn="l">
              <a:spcAft>
                <a:spcPts val="0"/>
              </a:spcAft>
            </a:pPr>
            <a:r>
              <a:rPr sz="1900" b="0" i="1">
                <a:solidFill>
                  <a:srgbClr val="5B7288"/>
                </a:solidFill>
                <a:latin typeface="Calibri"/>
              </a:rPr>
              <a:t>Wind speed from MEASURED fan rpm — the drive settles 4–13 rpm below setpoint.</a:t>
            </a:r>
          </a:p>
        </p:txBody>
      </p:sp>
      <p:sp>
        <p:nvSpPr>
          <p:cNvPr id="22" name="Rectangle 21"/>
          <p:cNvSpPr/>
          <p:nvPr/>
        </p:nvSpPr>
        <p:spPr>
          <a:xfrm>
            <a:off x="29818584" y="21424392"/>
            <a:ext cx="13222224" cy="8266175"/>
          </a:xfrm>
          <a:prstGeom prst="rect">
            <a:avLst/>
          </a:prstGeom>
          <a:solidFill>
            <a:srgbClr val="FFFFFF"/>
          </a:solidFill>
          <a:ln w="168910">
            <a:solidFill>
              <a:srgbClr val="C79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138624" y="21524976"/>
            <a:ext cx="12582144" cy="1380744"/>
          </a:xfrm>
          <a:prstGeom prst="rect">
            <a:avLst/>
          </a:prstGeom>
          <a:noFill/>
        </p:spPr>
        <p:txBody>
          <a:bodyPr wrap="square" lIns="0" rIns="0" tIns="0" bIns="0">
            <a:spAutoFit/>
          </a:bodyPr>
          <a:lstStyle/>
          <a:p>
            <a:pPr algn="l">
              <a:spcAft>
                <a:spcPts val="0"/>
              </a:spcAft>
            </a:pPr>
            <a:r>
              <a:rPr sz="7200" b="1" i="0">
                <a:solidFill>
                  <a:srgbClr val="002147"/>
                </a:solidFill>
                <a:latin typeface="Calibri"/>
              </a:rPr>
              <a:t>Conclusion</a:t>
            </a:r>
          </a:p>
        </p:txBody>
      </p:sp>
      <p:sp>
        <p:nvSpPr>
          <p:cNvPr id="24" name="TextBox 23"/>
          <p:cNvSpPr txBox="1"/>
          <p:nvPr/>
        </p:nvSpPr>
        <p:spPr>
          <a:xfrm>
            <a:off x="30321503" y="22905720"/>
            <a:ext cx="12216384" cy="6464807"/>
          </a:xfrm>
          <a:prstGeom prst="rect">
            <a:avLst/>
          </a:prstGeom>
          <a:noFill/>
        </p:spPr>
        <p:txBody>
          <a:bodyPr wrap="square" lIns="0" rIns="0" tIns="0" bIns="0">
            <a:spAutoFit/>
          </a:bodyPr>
          <a:lstStyle/>
          <a:p>
            <a:pPr algn="l">
              <a:spcAft>
                <a:spcPts val="1300"/>
              </a:spcAft>
            </a:pPr>
            <a:r>
              <a:rPr sz="2800" b="1">
                <a:solidFill>
                  <a:srgbClr val="B3261E"/>
                </a:solidFill>
                <a:latin typeface="Calibri"/>
              </a:rPr>
              <a:t>A better blade can read as LESS electrical power. </a:t>
            </a:r>
            <a:r>
              <a:rPr sz="2800" b="0">
                <a:solidFill>
                  <a:srgbClr val="0D2338"/>
                </a:solidFill>
                <a:latin typeface="Calibri"/>
              </a:rPr>
              <a:t>Anything raising Cp_max while adding low-α drag lowers λ_runaway, lowers V_oc, and lowers measured P as the square.</a:t>
            </a:r>
          </a:p>
          <a:p>
            <a:pPr algn="l">
              <a:spcAft>
                <a:spcPts val="1300"/>
              </a:spcAft>
            </a:pPr>
            <a:r>
              <a:rPr sz="2800" b="1">
                <a:solidFill>
                  <a:srgbClr val="1F7A52"/>
                </a:solidFill>
                <a:latin typeface="Calibri"/>
              </a:rPr>
              <a:t>One rotor-speed channel converts the entire existing archive into Cq(λ) retroactively</a:t>
            </a:r>
            <a:r>
              <a:rPr sz="2800" b="0">
                <a:solidFill>
                  <a:srgbClr val="0D2338"/>
                </a:solidFill>
                <a:latin typeface="Calibri"/>
              </a:rPr>
              <a:t> — every sweep already records a full load ramp at all 14 wind speeds, and a proximity sensor on the rig already feeds the DAQ. What is needed is its channel and pulses-per-revolution, not new hardware.</a:t>
            </a:r>
          </a:p>
          <a:p>
            <a:pPr algn="l">
              <a:spcAft>
                <a:spcPts val="0"/>
              </a:spcAft>
            </a:pPr>
            <a:r>
              <a:rPr sz="2400" b="0" i="0">
                <a:solidFill>
                  <a:srgbClr val="5B7288"/>
                </a:solidFill>
                <a:latin typeface="Calibri"/>
              </a:rPr>
              <a:t>Limits: electrical power only, not Cp · Re_chord 32,376–119,735, below Reynolds-independence (~2×10⁵) · generator R_int inferred, never measured · single-mount data, no mount-to-mount error bar yet.</a:t>
            </a:r>
          </a:p>
        </p:txBody>
      </p:sp>
      <p:sp>
        <p:nvSpPr>
          <p:cNvPr id="25" name="Rectangle 24"/>
          <p:cNvSpPr/>
          <p:nvPr/>
        </p:nvSpPr>
        <p:spPr>
          <a:xfrm>
            <a:off x="850392" y="30266640"/>
            <a:ext cx="42199560" cy="1947672"/>
          </a:xfrm>
          <a:prstGeom prst="rect">
            <a:avLst/>
          </a:prstGeom>
          <a:solidFill>
            <a:srgbClr val="FFFFFF"/>
          </a:solidFill>
          <a:ln w="168910">
            <a:solidFill>
              <a:srgbClr val="C79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34072" y="30412944"/>
            <a:ext cx="30175200" cy="1645920"/>
          </a:xfrm>
          <a:prstGeom prst="rect">
            <a:avLst/>
          </a:prstGeom>
          <a:noFill/>
        </p:spPr>
        <p:txBody>
          <a:bodyPr wrap="square" lIns="0" rIns="0" tIns="0" bIns="0">
            <a:spAutoFit/>
          </a:bodyPr>
          <a:lstStyle/>
          <a:p>
            <a:pPr algn="l">
              <a:spcAft>
                <a:spcPts val="200"/>
              </a:spcAft>
            </a:pPr>
            <a:r>
              <a:rPr sz="2933" b="1" i="0">
                <a:solidFill>
                  <a:srgbClr val="000000"/>
                </a:solidFill>
                <a:latin typeface="Arial"/>
              </a:rPr>
              <a:t>The University of Rhode Island CYPHER Research Center IPT Meeting for Power Systems and Manufacturing</a:t>
            </a:r>
          </a:p>
          <a:p>
            <a:pPr algn="l">
              <a:spcAft>
                <a:spcPts val="200"/>
              </a:spcAft>
            </a:pPr>
            <a:r>
              <a:rPr sz="2400" b="1" i="0">
                <a:solidFill>
                  <a:srgbClr val="222222"/>
                </a:solidFill>
                <a:latin typeface="Arial"/>
              </a:rPr>
              <a:t>This research was supported by the Office of Naval Research under Grant No. N00014-24-1-2129.</a:t>
            </a:r>
          </a:p>
          <a:p>
            <a:pPr algn="l">
              <a:spcAft>
                <a:spcPts val="0"/>
              </a:spcAft>
            </a:pPr>
            <a:r>
              <a:rPr sz="1500" b="0" i="0">
                <a:solidFill>
                  <a:srgbClr val="222222"/>
                </a:solidFill>
                <a:latin typeface="Arial"/>
              </a:rPr>
              <a:t>The views and conclusions contained in this poster are those of the authors and should not be interpreted as representing the official policies, either expressed or implied, of the Office of Naval Research or the U.S. Government</a:t>
            </a:r>
          </a:p>
        </p:txBody>
      </p:sp>
      <p:pic>
        <p:nvPicPr>
          <p:cNvPr id="27" name="Picture 26" descr="image.png"/>
          <p:cNvPicPr>
            <a:picLocks noChangeAspect="1"/>
          </p:cNvPicPr>
          <p:nvPr/>
        </p:nvPicPr>
        <p:blipFill>
          <a:blip r:embed="rId4"/>
          <a:stretch>
            <a:fillRect/>
          </a:stretch>
        </p:blipFill>
        <p:spPr>
          <a:xfrm>
            <a:off x="1024128" y="30531816"/>
            <a:ext cx="5715000" cy="1283643"/>
          </a:xfrm>
          <a:prstGeom prst="rect">
            <a:avLst/>
          </a:prstGeom>
        </p:spPr>
      </p:pic>
    </p:spTree>
    <p:extLst>
      <p:ext uri="{BB962C8B-B14F-4D97-AF65-F5344CB8AC3E}">
        <p14:creationId xmlns:p14="http://schemas.microsoft.com/office/powerpoint/2010/main" val="56513258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403C848-73D3-624B-BA4F-A29975D779FE}">
  <we:reference id="WA200010001" version="1.0.0.1" store="Omex" storeType="OMEX"/>
  <we:alternateReferences>
    <we:reference id="WA200010001" version="1.0.0.1" store="WA200010001" storeType="OMEX"/>
  </we:alternateReferences>
  <we:properties>
    <we:property name="claude.fileId" value="&quot;42cdb11d-f58b-4725-bbf1-154744fa921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15051</TotalTime>
  <Words>789</Words>
  <Application>Microsoft Macintosh PowerPoint</Application>
  <PresentationFormat>Custom</PresentationFormat>
  <Paragraphs>56</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Anissa Elias</dc:creator>
  <cp:lastModifiedBy>Stephen Eacuello</cp:lastModifiedBy>
  <cp:revision>44</cp:revision>
  <dcterms:created xsi:type="dcterms:W3CDTF">2025-06-27T02:42:48Z</dcterms:created>
  <dcterms:modified xsi:type="dcterms:W3CDTF">2026-08-26T13:36:12Z</dcterms:modified>
</cp:coreProperties>
</file>