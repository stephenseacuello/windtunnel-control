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"/>
  </p:notesMasterIdLst>
  <p:sldIdLst>
    <p:sldId id="259" r:id="rId2"/>
  </p:sldIdLst>
  <p:sldSz cx="43891200" cy="32918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49759"/>
    <a:srgbClr val="005091"/>
    <a:srgbClr val="002D62"/>
    <a:srgbClr val="FFFF1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266" autoAdjust="0"/>
    <p:restoredTop sz="94734"/>
  </p:normalViewPr>
  <p:slideViewPr>
    <p:cSldViewPr snapToGrid="0">
      <p:cViewPr varScale="1">
        <p:scale>
          <a:sx n="29" d="100"/>
          <a:sy n="29" d="100"/>
        </p:scale>
        <p:origin x="1784" y="3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9055EA2-C933-4FBE-A588-F67046978167}" type="datetimeFigureOut">
              <a:rPr lang="en-US" smtClean="0"/>
              <a:t>8/26/26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14425" y="1143000"/>
            <a:ext cx="46291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9752518-D8F5-455E-8AE5-FEB71CFACE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18608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2633472" rtl="0" eaLnBrk="1" latinLnBrk="0" hangingPunct="1">
      <a:defRPr sz="3456" kern="1200">
        <a:solidFill>
          <a:schemeClr val="tx1"/>
        </a:solidFill>
        <a:latin typeface="+mn-lt"/>
        <a:ea typeface="+mn-ea"/>
        <a:cs typeface="+mn-cs"/>
      </a:defRPr>
    </a:lvl1pPr>
    <a:lvl2pPr marL="1316736" algn="l" defTabSz="2633472" rtl="0" eaLnBrk="1" latinLnBrk="0" hangingPunct="1">
      <a:defRPr sz="3456" kern="1200">
        <a:solidFill>
          <a:schemeClr val="tx1"/>
        </a:solidFill>
        <a:latin typeface="+mn-lt"/>
        <a:ea typeface="+mn-ea"/>
        <a:cs typeface="+mn-cs"/>
      </a:defRPr>
    </a:lvl2pPr>
    <a:lvl3pPr marL="2633472" algn="l" defTabSz="2633472" rtl="0" eaLnBrk="1" latinLnBrk="0" hangingPunct="1">
      <a:defRPr sz="3456" kern="1200">
        <a:solidFill>
          <a:schemeClr val="tx1"/>
        </a:solidFill>
        <a:latin typeface="+mn-lt"/>
        <a:ea typeface="+mn-ea"/>
        <a:cs typeface="+mn-cs"/>
      </a:defRPr>
    </a:lvl3pPr>
    <a:lvl4pPr marL="3950208" algn="l" defTabSz="2633472" rtl="0" eaLnBrk="1" latinLnBrk="0" hangingPunct="1">
      <a:defRPr sz="3456" kern="1200">
        <a:solidFill>
          <a:schemeClr val="tx1"/>
        </a:solidFill>
        <a:latin typeface="+mn-lt"/>
        <a:ea typeface="+mn-ea"/>
        <a:cs typeface="+mn-cs"/>
      </a:defRPr>
    </a:lvl4pPr>
    <a:lvl5pPr marL="5266944" algn="l" defTabSz="2633472" rtl="0" eaLnBrk="1" latinLnBrk="0" hangingPunct="1">
      <a:defRPr sz="3456" kern="1200">
        <a:solidFill>
          <a:schemeClr val="tx1"/>
        </a:solidFill>
        <a:latin typeface="+mn-lt"/>
        <a:ea typeface="+mn-ea"/>
        <a:cs typeface="+mn-cs"/>
      </a:defRPr>
    </a:lvl5pPr>
    <a:lvl6pPr marL="6583680" algn="l" defTabSz="2633472" rtl="0" eaLnBrk="1" latinLnBrk="0" hangingPunct="1">
      <a:defRPr sz="3456" kern="1200">
        <a:solidFill>
          <a:schemeClr val="tx1"/>
        </a:solidFill>
        <a:latin typeface="+mn-lt"/>
        <a:ea typeface="+mn-ea"/>
        <a:cs typeface="+mn-cs"/>
      </a:defRPr>
    </a:lvl6pPr>
    <a:lvl7pPr marL="7900416" algn="l" defTabSz="2633472" rtl="0" eaLnBrk="1" latinLnBrk="0" hangingPunct="1">
      <a:defRPr sz="3456" kern="1200">
        <a:solidFill>
          <a:schemeClr val="tx1"/>
        </a:solidFill>
        <a:latin typeface="+mn-lt"/>
        <a:ea typeface="+mn-ea"/>
        <a:cs typeface="+mn-cs"/>
      </a:defRPr>
    </a:lvl7pPr>
    <a:lvl8pPr marL="9217152" algn="l" defTabSz="2633472" rtl="0" eaLnBrk="1" latinLnBrk="0" hangingPunct="1">
      <a:defRPr sz="3456" kern="1200">
        <a:solidFill>
          <a:schemeClr val="tx1"/>
        </a:solidFill>
        <a:latin typeface="+mn-lt"/>
        <a:ea typeface="+mn-ea"/>
        <a:cs typeface="+mn-cs"/>
      </a:defRPr>
    </a:lvl8pPr>
    <a:lvl9pPr marL="10533888" algn="l" defTabSz="2633472" rtl="0" eaLnBrk="1" latinLnBrk="0" hangingPunct="1">
      <a:defRPr sz="3456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752518-D8F5-455E-8AE5-FEB71CFACE4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45720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68880" y="3591562"/>
            <a:ext cx="27980640" cy="7640320"/>
          </a:xfrm>
        </p:spPr>
        <p:txBody>
          <a:bodyPr anchor="b"/>
          <a:lstStyle>
            <a:lvl1pPr algn="ctr">
              <a:defRPr sz="19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114800" y="11526522"/>
            <a:ext cx="24688800" cy="5298438"/>
          </a:xfrm>
        </p:spPr>
        <p:txBody>
          <a:bodyPr/>
          <a:lstStyle>
            <a:lvl1pPr marL="0" indent="0" algn="ctr">
              <a:buNone/>
              <a:defRPr sz="7680"/>
            </a:lvl1pPr>
            <a:lvl2pPr marL="1463040" indent="0" algn="ctr">
              <a:buNone/>
              <a:defRPr sz="6400"/>
            </a:lvl2pPr>
            <a:lvl3pPr marL="2926080" indent="0" algn="ctr">
              <a:buNone/>
              <a:defRPr sz="5760"/>
            </a:lvl3pPr>
            <a:lvl4pPr marL="4389120" indent="0" algn="ctr">
              <a:buNone/>
              <a:defRPr sz="5120"/>
            </a:lvl4pPr>
            <a:lvl5pPr marL="5852160" indent="0" algn="ctr">
              <a:buNone/>
              <a:defRPr sz="5120"/>
            </a:lvl5pPr>
            <a:lvl6pPr marL="7315200" indent="0" algn="ctr">
              <a:buNone/>
              <a:defRPr sz="5120"/>
            </a:lvl6pPr>
            <a:lvl7pPr marL="8778240" indent="0" algn="ctr">
              <a:buNone/>
              <a:defRPr sz="5120"/>
            </a:lvl7pPr>
            <a:lvl8pPr marL="10241280" indent="0" algn="ctr">
              <a:buNone/>
              <a:defRPr sz="5120"/>
            </a:lvl8pPr>
            <a:lvl9pPr marL="11704320" indent="0" algn="ctr">
              <a:buNone/>
              <a:defRPr sz="512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A1016-3272-46F4-B534-9137F2D42845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1535F-233F-4358-B223-D0792B5705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8471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A1016-3272-46F4-B534-9137F2D42845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1535F-233F-4358-B223-D0792B5705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29743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45997" y="5471167"/>
            <a:ext cx="28392120" cy="9128758"/>
          </a:xfrm>
        </p:spPr>
        <p:txBody>
          <a:bodyPr anchor="b"/>
          <a:lstStyle>
            <a:lvl1pPr>
              <a:defRPr sz="19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45997" y="14686287"/>
            <a:ext cx="28392120" cy="4800598"/>
          </a:xfrm>
        </p:spPr>
        <p:txBody>
          <a:bodyPr/>
          <a:lstStyle>
            <a:lvl1pPr marL="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1pPr>
            <a:lvl2pPr marL="1463040" indent="0">
              <a:buNone/>
              <a:defRPr sz="6400">
                <a:solidFill>
                  <a:schemeClr val="tx1">
                    <a:tint val="82000"/>
                  </a:schemeClr>
                </a:solidFill>
              </a:defRPr>
            </a:lvl2pPr>
            <a:lvl3pPr marL="2926080" indent="0">
              <a:buNone/>
              <a:defRPr sz="5760">
                <a:solidFill>
                  <a:schemeClr val="tx1">
                    <a:tint val="82000"/>
                  </a:schemeClr>
                </a:solidFill>
              </a:defRPr>
            </a:lvl3pPr>
            <a:lvl4pPr marL="4389120" indent="0">
              <a:buNone/>
              <a:defRPr sz="5120">
                <a:solidFill>
                  <a:schemeClr val="tx1">
                    <a:tint val="82000"/>
                  </a:schemeClr>
                </a:solidFill>
              </a:defRPr>
            </a:lvl4pPr>
            <a:lvl5pPr marL="5852160" indent="0">
              <a:buNone/>
              <a:defRPr sz="5120">
                <a:solidFill>
                  <a:schemeClr val="tx1">
                    <a:tint val="82000"/>
                  </a:schemeClr>
                </a:solidFill>
              </a:defRPr>
            </a:lvl5pPr>
            <a:lvl6pPr marL="7315200" indent="0">
              <a:buNone/>
              <a:defRPr sz="5120">
                <a:solidFill>
                  <a:schemeClr val="tx1">
                    <a:tint val="82000"/>
                  </a:schemeClr>
                </a:solidFill>
              </a:defRPr>
            </a:lvl6pPr>
            <a:lvl7pPr marL="8778240" indent="0">
              <a:buNone/>
              <a:defRPr sz="5120">
                <a:solidFill>
                  <a:schemeClr val="tx1">
                    <a:tint val="82000"/>
                  </a:schemeClr>
                </a:solidFill>
              </a:defRPr>
            </a:lvl7pPr>
            <a:lvl8pPr marL="10241280" indent="0">
              <a:buNone/>
              <a:defRPr sz="5120">
                <a:solidFill>
                  <a:schemeClr val="tx1">
                    <a:tint val="82000"/>
                  </a:schemeClr>
                </a:solidFill>
              </a:defRPr>
            </a:lvl8pPr>
            <a:lvl9pPr marL="11704320" indent="0">
              <a:buNone/>
              <a:defRPr sz="512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A1016-3272-46F4-B534-9137F2D42845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1535F-233F-4358-B223-D0792B5705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27283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63140" y="5842000"/>
            <a:ext cx="13990320" cy="139242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664940" y="5842000"/>
            <a:ext cx="13990320" cy="139242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A1016-3272-46F4-B534-9137F2D42845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1535F-233F-4358-B223-D0792B5705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42473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67428" y="1168405"/>
            <a:ext cx="28392120" cy="424180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67431" y="5379722"/>
            <a:ext cx="13926024" cy="2636518"/>
          </a:xfrm>
        </p:spPr>
        <p:txBody>
          <a:bodyPr anchor="b"/>
          <a:lstStyle>
            <a:lvl1pPr marL="0" indent="0">
              <a:buNone/>
              <a:defRPr sz="7680" b="1"/>
            </a:lvl1pPr>
            <a:lvl2pPr marL="1463040" indent="0">
              <a:buNone/>
              <a:defRPr sz="6400" b="1"/>
            </a:lvl2pPr>
            <a:lvl3pPr marL="2926080" indent="0">
              <a:buNone/>
              <a:defRPr sz="5760" b="1"/>
            </a:lvl3pPr>
            <a:lvl4pPr marL="4389120" indent="0">
              <a:buNone/>
              <a:defRPr sz="5120" b="1"/>
            </a:lvl4pPr>
            <a:lvl5pPr marL="5852160" indent="0">
              <a:buNone/>
              <a:defRPr sz="5120" b="1"/>
            </a:lvl5pPr>
            <a:lvl6pPr marL="7315200" indent="0">
              <a:buNone/>
              <a:defRPr sz="5120" b="1"/>
            </a:lvl6pPr>
            <a:lvl7pPr marL="8778240" indent="0">
              <a:buNone/>
              <a:defRPr sz="5120" b="1"/>
            </a:lvl7pPr>
            <a:lvl8pPr marL="10241280" indent="0">
              <a:buNone/>
              <a:defRPr sz="5120" b="1"/>
            </a:lvl8pPr>
            <a:lvl9pPr marL="11704320" indent="0">
              <a:buNone/>
              <a:defRPr sz="51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67431" y="8016240"/>
            <a:ext cx="13926024" cy="117906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6664942" y="5379722"/>
            <a:ext cx="13994608" cy="2636518"/>
          </a:xfrm>
        </p:spPr>
        <p:txBody>
          <a:bodyPr anchor="b"/>
          <a:lstStyle>
            <a:lvl1pPr marL="0" indent="0">
              <a:buNone/>
              <a:defRPr sz="7680" b="1"/>
            </a:lvl1pPr>
            <a:lvl2pPr marL="1463040" indent="0">
              <a:buNone/>
              <a:defRPr sz="6400" b="1"/>
            </a:lvl2pPr>
            <a:lvl3pPr marL="2926080" indent="0">
              <a:buNone/>
              <a:defRPr sz="5760" b="1"/>
            </a:lvl3pPr>
            <a:lvl4pPr marL="4389120" indent="0">
              <a:buNone/>
              <a:defRPr sz="5120" b="1"/>
            </a:lvl4pPr>
            <a:lvl5pPr marL="5852160" indent="0">
              <a:buNone/>
              <a:defRPr sz="5120" b="1"/>
            </a:lvl5pPr>
            <a:lvl6pPr marL="7315200" indent="0">
              <a:buNone/>
              <a:defRPr sz="5120" b="1"/>
            </a:lvl6pPr>
            <a:lvl7pPr marL="8778240" indent="0">
              <a:buNone/>
              <a:defRPr sz="5120" b="1"/>
            </a:lvl7pPr>
            <a:lvl8pPr marL="10241280" indent="0">
              <a:buNone/>
              <a:defRPr sz="5120" b="1"/>
            </a:lvl8pPr>
            <a:lvl9pPr marL="11704320" indent="0">
              <a:buNone/>
              <a:defRPr sz="51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6664942" y="8016240"/>
            <a:ext cx="13994608" cy="117906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A1016-3272-46F4-B534-9137F2D42845}" type="datetimeFigureOut">
              <a:rPr lang="en-US" smtClean="0"/>
              <a:t>8/26/26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1535F-233F-4358-B223-D0792B5705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22615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A1016-3272-46F4-B534-9137F2D42845}" type="datetimeFigureOut">
              <a:rPr lang="en-US" smtClean="0"/>
              <a:t>8/26/26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1535F-233F-4358-B223-D0792B5705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06377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A1016-3272-46F4-B534-9137F2D42845}" type="datetimeFigureOut">
              <a:rPr lang="en-US" smtClean="0"/>
              <a:t>8/26/26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1535F-233F-4358-B223-D0792B5705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71360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67428" y="1463040"/>
            <a:ext cx="10617041" cy="5120640"/>
          </a:xfrm>
        </p:spPr>
        <p:txBody>
          <a:bodyPr anchor="b"/>
          <a:lstStyle>
            <a:lvl1pPr>
              <a:defRPr sz="1024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94608" y="3159765"/>
            <a:ext cx="16664940" cy="15595600"/>
          </a:xfrm>
        </p:spPr>
        <p:txBody>
          <a:bodyPr/>
          <a:lstStyle>
            <a:lvl1pPr>
              <a:defRPr sz="10240"/>
            </a:lvl1pPr>
            <a:lvl2pPr>
              <a:defRPr sz="8960"/>
            </a:lvl2pPr>
            <a:lvl3pPr>
              <a:defRPr sz="7680"/>
            </a:lvl3pPr>
            <a:lvl4pPr>
              <a:defRPr sz="6400"/>
            </a:lvl4pPr>
            <a:lvl5pPr>
              <a:defRPr sz="6400"/>
            </a:lvl5pPr>
            <a:lvl6pPr>
              <a:defRPr sz="6400"/>
            </a:lvl6pPr>
            <a:lvl7pPr>
              <a:defRPr sz="6400"/>
            </a:lvl7pPr>
            <a:lvl8pPr>
              <a:defRPr sz="6400"/>
            </a:lvl8pPr>
            <a:lvl9pPr>
              <a:defRPr sz="6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67428" y="6583680"/>
            <a:ext cx="10617041" cy="12197082"/>
          </a:xfrm>
        </p:spPr>
        <p:txBody>
          <a:bodyPr/>
          <a:lstStyle>
            <a:lvl1pPr marL="0" indent="0">
              <a:buNone/>
              <a:defRPr sz="5120"/>
            </a:lvl1pPr>
            <a:lvl2pPr marL="1463040" indent="0">
              <a:buNone/>
              <a:defRPr sz="4480"/>
            </a:lvl2pPr>
            <a:lvl3pPr marL="2926080" indent="0">
              <a:buNone/>
              <a:defRPr sz="3840"/>
            </a:lvl3pPr>
            <a:lvl4pPr marL="4389120" indent="0">
              <a:buNone/>
              <a:defRPr sz="3200"/>
            </a:lvl4pPr>
            <a:lvl5pPr marL="5852160" indent="0">
              <a:buNone/>
              <a:defRPr sz="3200"/>
            </a:lvl5pPr>
            <a:lvl6pPr marL="7315200" indent="0">
              <a:buNone/>
              <a:defRPr sz="3200"/>
            </a:lvl6pPr>
            <a:lvl7pPr marL="8778240" indent="0">
              <a:buNone/>
              <a:defRPr sz="3200"/>
            </a:lvl7pPr>
            <a:lvl8pPr marL="10241280" indent="0">
              <a:buNone/>
              <a:defRPr sz="3200"/>
            </a:lvl8pPr>
            <a:lvl9pPr marL="11704320" indent="0">
              <a:buNone/>
              <a:defRPr sz="3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A1016-3272-46F4-B534-9137F2D42845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1535F-233F-4358-B223-D0792B5705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20000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67428" y="1463040"/>
            <a:ext cx="10617041" cy="5120640"/>
          </a:xfrm>
        </p:spPr>
        <p:txBody>
          <a:bodyPr anchor="b"/>
          <a:lstStyle>
            <a:lvl1pPr>
              <a:defRPr sz="1024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994608" y="3159765"/>
            <a:ext cx="16664940" cy="15595600"/>
          </a:xfrm>
        </p:spPr>
        <p:txBody>
          <a:bodyPr anchor="t"/>
          <a:lstStyle>
            <a:lvl1pPr marL="0" indent="0">
              <a:buNone/>
              <a:defRPr sz="10240"/>
            </a:lvl1pPr>
            <a:lvl2pPr marL="1463040" indent="0">
              <a:buNone/>
              <a:defRPr sz="8960"/>
            </a:lvl2pPr>
            <a:lvl3pPr marL="2926080" indent="0">
              <a:buNone/>
              <a:defRPr sz="7680"/>
            </a:lvl3pPr>
            <a:lvl4pPr marL="4389120" indent="0">
              <a:buNone/>
              <a:defRPr sz="6400"/>
            </a:lvl4pPr>
            <a:lvl5pPr marL="5852160" indent="0">
              <a:buNone/>
              <a:defRPr sz="6400"/>
            </a:lvl5pPr>
            <a:lvl6pPr marL="7315200" indent="0">
              <a:buNone/>
              <a:defRPr sz="6400"/>
            </a:lvl6pPr>
            <a:lvl7pPr marL="8778240" indent="0">
              <a:buNone/>
              <a:defRPr sz="6400"/>
            </a:lvl7pPr>
            <a:lvl8pPr marL="10241280" indent="0">
              <a:buNone/>
              <a:defRPr sz="6400"/>
            </a:lvl8pPr>
            <a:lvl9pPr marL="11704320" indent="0">
              <a:buNone/>
              <a:defRPr sz="64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67428" y="6583680"/>
            <a:ext cx="10617041" cy="12197082"/>
          </a:xfrm>
        </p:spPr>
        <p:txBody>
          <a:bodyPr/>
          <a:lstStyle>
            <a:lvl1pPr marL="0" indent="0">
              <a:buNone/>
              <a:defRPr sz="5120"/>
            </a:lvl1pPr>
            <a:lvl2pPr marL="1463040" indent="0">
              <a:buNone/>
              <a:defRPr sz="4480"/>
            </a:lvl2pPr>
            <a:lvl3pPr marL="2926080" indent="0">
              <a:buNone/>
              <a:defRPr sz="3840"/>
            </a:lvl3pPr>
            <a:lvl4pPr marL="4389120" indent="0">
              <a:buNone/>
              <a:defRPr sz="3200"/>
            </a:lvl4pPr>
            <a:lvl5pPr marL="5852160" indent="0">
              <a:buNone/>
              <a:defRPr sz="3200"/>
            </a:lvl5pPr>
            <a:lvl6pPr marL="7315200" indent="0">
              <a:buNone/>
              <a:defRPr sz="3200"/>
            </a:lvl6pPr>
            <a:lvl7pPr marL="8778240" indent="0">
              <a:buNone/>
              <a:defRPr sz="3200"/>
            </a:lvl7pPr>
            <a:lvl8pPr marL="10241280" indent="0">
              <a:buNone/>
              <a:defRPr sz="3200"/>
            </a:lvl8pPr>
            <a:lvl9pPr marL="11704320" indent="0">
              <a:buNone/>
              <a:defRPr sz="3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A1016-3272-46F4-B534-9137F2D42845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1535F-233F-4358-B223-D0792B5705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89353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A1016-3272-46F4-B534-9137F2D42845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1535F-233F-4358-B223-D0792B5705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8636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3557232" y="1168400"/>
            <a:ext cx="7098030" cy="1859788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63142" y="1168400"/>
            <a:ext cx="20882610" cy="1859788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A1016-3272-46F4-B534-9137F2D42845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1535F-233F-4358-B223-D0792B5705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6151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63140" y="1168405"/>
            <a:ext cx="28392120" cy="42418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63140" y="5842000"/>
            <a:ext cx="28392120" cy="139242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263140" y="20340325"/>
            <a:ext cx="7406640" cy="1168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8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3EA1016-3272-46F4-B534-9137F2D42845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904220" y="20340325"/>
            <a:ext cx="11109960" cy="1168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8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3248620" y="20340325"/>
            <a:ext cx="7406640" cy="1168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8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1D1535F-233F-4358-B223-D0792B5705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25780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2926080" rtl="0" eaLnBrk="1" latinLnBrk="0" hangingPunct="1">
        <a:lnSpc>
          <a:spcPct val="90000"/>
        </a:lnSpc>
        <a:spcBef>
          <a:spcPct val="0"/>
        </a:spcBef>
        <a:buNone/>
        <a:defRPr sz="1408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731520" indent="-731520" algn="l" defTabSz="2926080" rtl="0" eaLnBrk="1" latinLnBrk="0" hangingPunct="1">
        <a:lnSpc>
          <a:spcPct val="90000"/>
        </a:lnSpc>
        <a:spcBef>
          <a:spcPts val="3200"/>
        </a:spcBef>
        <a:buFont typeface="Arial" panose="020B0604020202020204" pitchFamily="34" charset="0"/>
        <a:buChar char="•"/>
        <a:defRPr sz="8960" kern="1200">
          <a:solidFill>
            <a:schemeClr val="tx1"/>
          </a:solidFill>
          <a:latin typeface="+mn-lt"/>
          <a:ea typeface="+mn-ea"/>
          <a:cs typeface="+mn-cs"/>
        </a:defRPr>
      </a:lvl1pPr>
      <a:lvl2pPr marL="2194560" indent="-731520" algn="l" defTabSz="2926080" rtl="0" eaLnBrk="1" latinLnBrk="0" hangingPunct="1">
        <a:lnSpc>
          <a:spcPct val="90000"/>
        </a:lnSpc>
        <a:spcBef>
          <a:spcPts val="1600"/>
        </a:spcBef>
        <a:buFont typeface="Arial" panose="020B0604020202020204" pitchFamily="34" charset="0"/>
        <a:buChar char="•"/>
        <a:defRPr sz="7680" kern="1200">
          <a:solidFill>
            <a:schemeClr val="tx1"/>
          </a:solidFill>
          <a:latin typeface="+mn-lt"/>
          <a:ea typeface="+mn-ea"/>
          <a:cs typeface="+mn-cs"/>
        </a:defRPr>
      </a:lvl2pPr>
      <a:lvl3pPr marL="3657600" indent="-731520" algn="l" defTabSz="2926080" rtl="0" eaLnBrk="1" latinLnBrk="0" hangingPunct="1">
        <a:lnSpc>
          <a:spcPct val="90000"/>
        </a:lnSpc>
        <a:spcBef>
          <a:spcPts val="1600"/>
        </a:spcBef>
        <a:buFont typeface="Arial" panose="020B0604020202020204" pitchFamily="34" charset="0"/>
        <a:buChar char="•"/>
        <a:defRPr sz="6400" kern="1200">
          <a:solidFill>
            <a:schemeClr val="tx1"/>
          </a:solidFill>
          <a:latin typeface="+mn-lt"/>
          <a:ea typeface="+mn-ea"/>
          <a:cs typeface="+mn-cs"/>
        </a:defRPr>
      </a:lvl3pPr>
      <a:lvl4pPr marL="5120640" indent="-731520" algn="l" defTabSz="2926080" rtl="0" eaLnBrk="1" latinLnBrk="0" hangingPunct="1">
        <a:lnSpc>
          <a:spcPct val="90000"/>
        </a:lnSpc>
        <a:spcBef>
          <a:spcPts val="1600"/>
        </a:spcBef>
        <a:buFont typeface="Arial" panose="020B0604020202020204" pitchFamily="34" charset="0"/>
        <a:buChar char="•"/>
        <a:defRPr sz="5760" kern="1200">
          <a:solidFill>
            <a:schemeClr val="tx1"/>
          </a:solidFill>
          <a:latin typeface="+mn-lt"/>
          <a:ea typeface="+mn-ea"/>
          <a:cs typeface="+mn-cs"/>
        </a:defRPr>
      </a:lvl4pPr>
      <a:lvl5pPr marL="6583680" indent="-731520" algn="l" defTabSz="2926080" rtl="0" eaLnBrk="1" latinLnBrk="0" hangingPunct="1">
        <a:lnSpc>
          <a:spcPct val="90000"/>
        </a:lnSpc>
        <a:spcBef>
          <a:spcPts val="1600"/>
        </a:spcBef>
        <a:buFont typeface="Arial" panose="020B0604020202020204" pitchFamily="34" charset="0"/>
        <a:buChar char="•"/>
        <a:defRPr sz="5760" kern="1200">
          <a:solidFill>
            <a:schemeClr val="tx1"/>
          </a:solidFill>
          <a:latin typeface="+mn-lt"/>
          <a:ea typeface="+mn-ea"/>
          <a:cs typeface="+mn-cs"/>
        </a:defRPr>
      </a:lvl5pPr>
      <a:lvl6pPr marL="8046720" indent="-731520" algn="l" defTabSz="2926080" rtl="0" eaLnBrk="1" latinLnBrk="0" hangingPunct="1">
        <a:lnSpc>
          <a:spcPct val="90000"/>
        </a:lnSpc>
        <a:spcBef>
          <a:spcPts val="1600"/>
        </a:spcBef>
        <a:buFont typeface="Arial" panose="020B0604020202020204" pitchFamily="34" charset="0"/>
        <a:buChar char="•"/>
        <a:defRPr sz="5760" kern="1200">
          <a:solidFill>
            <a:schemeClr val="tx1"/>
          </a:solidFill>
          <a:latin typeface="+mn-lt"/>
          <a:ea typeface="+mn-ea"/>
          <a:cs typeface="+mn-cs"/>
        </a:defRPr>
      </a:lvl6pPr>
      <a:lvl7pPr marL="9509760" indent="-731520" algn="l" defTabSz="2926080" rtl="0" eaLnBrk="1" latinLnBrk="0" hangingPunct="1">
        <a:lnSpc>
          <a:spcPct val="90000"/>
        </a:lnSpc>
        <a:spcBef>
          <a:spcPts val="1600"/>
        </a:spcBef>
        <a:buFont typeface="Arial" panose="020B0604020202020204" pitchFamily="34" charset="0"/>
        <a:buChar char="•"/>
        <a:defRPr sz="5760" kern="1200">
          <a:solidFill>
            <a:schemeClr val="tx1"/>
          </a:solidFill>
          <a:latin typeface="+mn-lt"/>
          <a:ea typeface="+mn-ea"/>
          <a:cs typeface="+mn-cs"/>
        </a:defRPr>
      </a:lvl7pPr>
      <a:lvl8pPr marL="10972800" indent="-731520" algn="l" defTabSz="2926080" rtl="0" eaLnBrk="1" latinLnBrk="0" hangingPunct="1">
        <a:lnSpc>
          <a:spcPct val="90000"/>
        </a:lnSpc>
        <a:spcBef>
          <a:spcPts val="1600"/>
        </a:spcBef>
        <a:buFont typeface="Arial" panose="020B0604020202020204" pitchFamily="34" charset="0"/>
        <a:buChar char="•"/>
        <a:defRPr sz="5760" kern="1200">
          <a:solidFill>
            <a:schemeClr val="tx1"/>
          </a:solidFill>
          <a:latin typeface="+mn-lt"/>
          <a:ea typeface="+mn-ea"/>
          <a:cs typeface="+mn-cs"/>
        </a:defRPr>
      </a:lvl8pPr>
      <a:lvl9pPr marL="12435840" indent="-731520" algn="l" defTabSz="2926080" rtl="0" eaLnBrk="1" latinLnBrk="0" hangingPunct="1">
        <a:lnSpc>
          <a:spcPct val="90000"/>
        </a:lnSpc>
        <a:spcBef>
          <a:spcPts val="1600"/>
        </a:spcBef>
        <a:buFont typeface="Arial" panose="020B0604020202020204" pitchFamily="34" charset="0"/>
        <a:buChar char="•"/>
        <a:defRPr sz="57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926080" rtl="0" eaLnBrk="1" latinLnBrk="0" hangingPunct="1">
        <a:defRPr sz="5760" kern="1200">
          <a:solidFill>
            <a:schemeClr val="tx1"/>
          </a:solidFill>
          <a:latin typeface="+mn-lt"/>
          <a:ea typeface="+mn-ea"/>
          <a:cs typeface="+mn-cs"/>
        </a:defRPr>
      </a:lvl1pPr>
      <a:lvl2pPr marL="1463040" algn="l" defTabSz="2926080" rtl="0" eaLnBrk="1" latinLnBrk="0" hangingPunct="1">
        <a:defRPr sz="5760" kern="1200">
          <a:solidFill>
            <a:schemeClr val="tx1"/>
          </a:solidFill>
          <a:latin typeface="+mn-lt"/>
          <a:ea typeface="+mn-ea"/>
          <a:cs typeface="+mn-cs"/>
        </a:defRPr>
      </a:lvl2pPr>
      <a:lvl3pPr marL="2926080" algn="l" defTabSz="2926080" rtl="0" eaLnBrk="1" latinLnBrk="0" hangingPunct="1">
        <a:defRPr sz="5760" kern="1200">
          <a:solidFill>
            <a:schemeClr val="tx1"/>
          </a:solidFill>
          <a:latin typeface="+mn-lt"/>
          <a:ea typeface="+mn-ea"/>
          <a:cs typeface="+mn-cs"/>
        </a:defRPr>
      </a:lvl3pPr>
      <a:lvl4pPr marL="4389120" algn="l" defTabSz="2926080" rtl="0" eaLnBrk="1" latinLnBrk="0" hangingPunct="1">
        <a:defRPr sz="5760" kern="1200">
          <a:solidFill>
            <a:schemeClr val="tx1"/>
          </a:solidFill>
          <a:latin typeface="+mn-lt"/>
          <a:ea typeface="+mn-ea"/>
          <a:cs typeface="+mn-cs"/>
        </a:defRPr>
      </a:lvl4pPr>
      <a:lvl5pPr marL="5852160" algn="l" defTabSz="2926080" rtl="0" eaLnBrk="1" latinLnBrk="0" hangingPunct="1">
        <a:defRPr sz="5760" kern="1200">
          <a:solidFill>
            <a:schemeClr val="tx1"/>
          </a:solidFill>
          <a:latin typeface="+mn-lt"/>
          <a:ea typeface="+mn-ea"/>
          <a:cs typeface="+mn-cs"/>
        </a:defRPr>
      </a:lvl5pPr>
      <a:lvl6pPr marL="7315200" algn="l" defTabSz="2926080" rtl="0" eaLnBrk="1" latinLnBrk="0" hangingPunct="1">
        <a:defRPr sz="5760" kern="1200">
          <a:solidFill>
            <a:schemeClr val="tx1"/>
          </a:solidFill>
          <a:latin typeface="+mn-lt"/>
          <a:ea typeface="+mn-ea"/>
          <a:cs typeface="+mn-cs"/>
        </a:defRPr>
      </a:lvl6pPr>
      <a:lvl7pPr marL="8778240" algn="l" defTabSz="2926080" rtl="0" eaLnBrk="1" latinLnBrk="0" hangingPunct="1">
        <a:defRPr sz="5760" kern="1200">
          <a:solidFill>
            <a:schemeClr val="tx1"/>
          </a:solidFill>
          <a:latin typeface="+mn-lt"/>
          <a:ea typeface="+mn-ea"/>
          <a:cs typeface="+mn-cs"/>
        </a:defRPr>
      </a:lvl7pPr>
      <a:lvl8pPr marL="10241280" algn="l" defTabSz="2926080" rtl="0" eaLnBrk="1" latinLnBrk="0" hangingPunct="1">
        <a:defRPr sz="5760" kern="1200">
          <a:solidFill>
            <a:schemeClr val="tx1"/>
          </a:solidFill>
          <a:latin typeface="+mn-lt"/>
          <a:ea typeface="+mn-ea"/>
          <a:cs typeface="+mn-cs"/>
        </a:defRPr>
      </a:lvl8pPr>
      <a:lvl9pPr marL="11704320" algn="l" defTabSz="2926080" rtl="0" eaLnBrk="1" latinLnBrk="0" hangingPunct="1">
        <a:defRPr sz="57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Relationship Id="rId10" Type="http://schemas.openxmlformats.org/officeDocument/2006/relationships/image" Target="../media/image8.png"/><Relationship Id="rId11" Type="http://schemas.openxmlformats.org/officeDocument/2006/relationships/image" Target="../media/image9.png"/><Relationship Id="rId12" Type="http://schemas.openxmlformats.org/officeDocument/2006/relationships/image" Target="../media/image10.png"/><Relationship Id="rId13" Type="http://schemas.openxmlformats.org/officeDocument/2006/relationships/image" Target="../media/image11.png"/><Relationship Id="rId14" Type="http://schemas.openxmlformats.org/officeDocument/2006/relationships/image" Target="../media/image12.png"/><Relationship Id="rId15" Type="http://schemas.openxmlformats.org/officeDocument/2006/relationships/image" Target="../media/image13.png"/><Relationship Id="rId16" Type="http://schemas.openxmlformats.org/officeDocument/2006/relationships/image" Target="../media/image14.png"/><Relationship Id="rId17" Type="http://schemas.openxmlformats.org/officeDocument/2006/relationships/image" Target="../media/image15.png"/><Relationship Id="rId18" Type="http://schemas.openxmlformats.org/officeDocument/2006/relationships/image" Target="../media/image16.png"/><Relationship Id="rId19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14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384E1DB-0D5F-7097-1411-99E6532EC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850392" y="576072"/>
            <a:ext cx="42336720" cy="5779008"/>
          </a:xfrm>
          <a:prstGeom prst="roundRect">
            <a:avLst/>
          </a:prstGeom>
          <a:solidFill>
            <a:srgbClr val="FFFFFF"/>
          </a:solidFill>
          <a:ln w="194310">
            <a:solidFill>
              <a:srgbClr val="C79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08792" y="1261872"/>
            <a:ext cx="224028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6600" b="1" i="0">
                <a:solidFill>
                  <a:srgbClr val="002147"/>
                </a:solidFill>
                <a:latin typeface="Calibri"/>
              </a:rPr>
              <a:t>Programmable Characterisation of</a:t>
            </a:r>
          </a:p>
          <a:p>
            <a:pPr algn="l">
              <a:spcAft>
                <a:spcPts val="1600"/>
              </a:spcAft>
            </a:pPr>
            <a:r>
              <a:rPr sz="6600" b="1" i="0">
                <a:solidFill>
                  <a:srgbClr val="002147"/>
                </a:solidFill>
                <a:latin typeface="Calibri"/>
              </a:rPr>
              <a:t>3D-Printed Wind Turbine Blades</a:t>
            </a:r>
          </a:p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0D2338"/>
                </a:solidFill>
                <a:latin typeface="Calibri"/>
              </a:rPr>
              <a:t>Stephen S. Eacuello, ISE Ph.D. Candidate</a:t>
            </a:r>
          </a:p>
          <a:p>
            <a:pPr algn="l">
              <a:spcAft>
                <a:spcPts val="0"/>
              </a:spcAft>
            </a:pPr>
            <a:r>
              <a:rPr sz="3200" b="0" i="0">
                <a:solidFill>
                  <a:srgbClr val="5B7288"/>
                </a:solidFill>
                <a:latin typeface="Calibri"/>
              </a:rPr>
              <a:t>Department of Mechanical, Industrial and Systems Engineering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71016" y="1719072"/>
            <a:ext cx="9189720" cy="3589734"/>
          </a:xfrm>
          <a:prstGeom prst="rect">
            <a:avLst/>
          </a:prstGeom>
        </p:spPr>
      </p:pic>
      <p:pic>
        <p:nvPicPr>
          <p:cNvPr id="5" name="Picture 4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55760" y="1947672"/>
            <a:ext cx="7918704" cy="3837793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50392" y="7004304"/>
            <a:ext cx="12691872" cy="8458200"/>
          </a:xfrm>
          <a:prstGeom prst="rect">
            <a:avLst/>
          </a:prstGeom>
          <a:solidFill>
            <a:srgbClr val="FFFFFF"/>
          </a:solidFill>
          <a:ln w="168910">
            <a:solidFill>
              <a:srgbClr val="C79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7104888"/>
            <a:ext cx="12051792" cy="1380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200" b="1" i="0">
                <a:solidFill>
                  <a:srgbClr val="002147"/>
                </a:solidFill>
                <a:latin typeface="Calibri"/>
              </a:rPr>
              <a:t>Introduction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53312" y="8485632"/>
            <a:ext cx="11686032" cy="66568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002147"/>
                </a:solidFill>
                <a:latin typeface="Calibri"/>
              </a:rPr>
              <a:t>3D printing makes new blade shapes cheap.</a:t>
            </a:r>
          </a:p>
          <a:p>
            <a:pPr algn="l">
              <a:spcAft>
                <a:spcPts val="1800"/>
              </a:spcAft>
            </a:pPr>
            <a:r>
              <a:rPr sz="3200" b="0" i="0">
                <a:solidFill>
                  <a:srgbClr val="0D2338"/>
                </a:solidFill>
                <a:latin typeface="Calibri"/>
              </a:rPr>
              <a:t>Measuring whether a shape is actually better does not.</a:t>
            </a:r>
          </a:p>
          <a:p>
            <a:pPr algn="l">
              <a:spcAft>
                <a:spcPts val="1800"/>
              </a:spcAft>
            </a:pPr>
            <a:r>
              <a:rPr sz="3200" b="0">
                <a:solidFill>
                  <a:srgbClr val="0D2338"/>
                </a:solidFill>
                <a:latin typeface="Calibri"/>
              </a:rPr>
              <a:t>Compare a dozen blades over a few weeks and the method drifts. You end up comparing </a:t>
            </a:r>
            <a:r>
              <a:rPr sz="3200" b="1">
                <a:solidFill>
                  <a:srgbClr val="002147"/>
                </a:solidFill>
                <a:latin typeface="Calibri"/>
              </a:rPr>
              <a:t>settings</a:t>
            </a:r>
            <a:r>
              <a:rPr sz="3200" b="0">
                <a:solidFill>
                  <a:srgbClr val="0D2338"/>
                </a:solidFill>
                <a:latin typeface="Calibri"/>
              </a:rPr>
              <a:t>, not blades.</a:t>
            </a:r>
          </a:p>
          <a:p>
            <a:pPr algn="l">
              <a:spcAft>
                <a:spcPts val="1800"/>
              </a:spcAft>
            </a:pPr>
            <a:r>
              <a:rPr sz="3200" b="0">
                <a:solidFill>
                  <a:srgbClr val="0D2338"/>
                </a:solidFill>
                <a:latin typeface="Calibri"/>
              </a:rPr>
              <a:t>So we automated it: </a:t>
            </a:r>
            <a:r>
              <a:rPr sz="3200" b="1">
                <a:solidFill>
                  <a:srgbClr val="002147"/>
                </a:solidFill>
                <a:latin typeface="Calibri"/>
              </a:rPr>
              <a:t>one rotor, 10 minutes, unattended</a:t>
            </a:r>
            <a:r>
              <a:rPr sz="3200" b="0">
                <a:solidFill>
                  <a:srgbClr val="0D2338"/>
                </a:solidFill>
                <a:latin typeface="Calibri"/>
              </a:rPr>
              <a:t> — and a record of exactly how it was measured.</a:t>
            </a:r>
          </a:p>
          <a:p>
            <a:pPr algn="l">
              <a:spcAft>
                <a:spcPts val="900"/>
              </a:spcAft>
            </a:pPr>
            <a:r>
              <a:rPr sz="2800" b="0">
                <a:solidFill>
                  <a:srgbClr val="8A7038"/>
                </a:solidFill>
                <a:latin typeface="Calibri"/>
              </a:rPr>
              <a:t>▪ </a:t>
            </a:r>
            <a:r>
              <a:rPr sz="2800" b="0">
                <a:solidFill>
                  <a:srgbClr val="002147"/>
                </a:solidFill>
                <a:latin typeface="Calibri"/>
              </a:rPr>
              <a:t>Automated 14-point load sweep, drive and load on one clock</a:t>
            </a:r>
          </a:p>
          <a:p>
            <a:pPr algn="l">
              <a:spcAft>
                <a:spcPts val="900"/>
              </a:spcAft>
            </a:pPr>
            <a:r>
              <a:rPr sz="2800" b="0">
                <a:solidFill>
                  <a:srgbClr val="8A7038"/>
                </a:solidFill>
                <a:latin typeface="Calibri"/>
              </a:rPr>
              <a:t>▪ </a:t>
            </a:r>
            <a:r>
              <a:rPr sz="2800" b="0">
                <a:solidFill>
                  <a:srgbClr val="002147"/>
                </a:solidFill>
                <a:latin typeface="Calibri"/>
              </a:rPr>
              <a:t>Two-layer watchdog safety, hardware E-stop untouched</a:t>
            </a:r>
          </a:p>
          <a:p>
            <a:pPr algn="l">
              <a:spcAft>
                <a:spcPts val="900"/>
              </a:spcAft>
            </a:pPr>
            <a:r>
              <a:rPr sz="2800" b="0">
                <a:solidFill>
                  <a:srgbClr val="8A7038"/>
                </a:solidFill>
                <a:latin typeface="Calibri"/>
              </a:rPr>
              <a:t>▪ </a:t>
            </a:r>
            <a:r>
              <a:rPr sz="2800" b="0">
                <a:solidFill>
                  <a:srgbClr val="002147"/>
                </a:solidFill>
                <a:latin typeface="Calibri"/>
              </a:rPr>
              <a:t>Protocol fingerprinting so runs are provably comparable</a:t>
            </a:r>
          </a:p>
          <a:p>
            <a:pPr algn="l">
              <a:spcAft>
                <a:spcPts val="900"/>
              </a:spcAft>
            </a:pPr>
            <a:r>
              <a:rPr sz="2800" b="0">
                <a:solidFill>
                  <a:srgbClr val="8A7038"/>
                </a:solidFill>
                <a:latin typeface="Calibri"/>
              </a:rPr>
              <a:t>▪ </a:t>
            </a:r>
            <a:r>
              <a:rPr sz="2800" b="0">
                <a:solidFill>
                  <a:srgbClr val="002147"/>
                </a:solidFill>
                <a:latin typeface="Calibri"/>
              </a:rPr>
              <a:t>Live dashboard, digital twin, and a full parameter archive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850392" y="15937992"/>
            <a:ext cx="12691872" cy="13670280"/>
          </a:xfrm>
          <a:prstGeom prst="rect">
            <a:avLst/>
          </a:prstGeom>
          <a:solidFill>
            <a:srgbClr val="FFFFFF"/>
          </a:solidFill>
          <a:ln w="168910">
            <a:solidFill>
              <a:srgbClr val="C79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16038576"/>
            <a:ext cx="12051792" cy="1380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200" b="1" i="0">
                <a:solidFill>
                  <a:srgbClr val="002147"/>
                </a:solidFill>
                <a:latin typeface="Calibri"/>
              </a:rPr>
              <a:t>System Architecture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53312" y="17419320"/>
            <a:ext cx="11686032" cy="1186891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  <a:p>
            <a:pPr algn="l">
              <a:spcAft>
                <a:spcPts val="1100"/>
              </a:spcAft>
            </a:pPr>
            <a:r>
              <a:rPr sz="2800" b="1">
                <a:solidFill>
                  <a:srgbClr val="002147"/>
                </a:solidFill>
                <a:latin typeface="Calibri"/>
              </a:rPr>
              <a:t>Drive   </a:t>
            </a:r>
            <a:r>
              <a:rPr sz="2800" b="0">
                <a:solidFill>
                  <a:srgbClr val="0D2338"/>
                </a:solidFill>
                <a:latin typeface="Calibri"/>
              </a:rPr>
              <a:t>ABB ACS550-U1-046A-2, 15 HP, 208–240 V 3φ. Commands speed in rpm, full scale 2435</a:t>
            </a:r>
          </a:p>
          <a:p>
            <a:pPr algn="l">
              <a:spcAft>
                <a:spcPts val="1100"/>
              </a:spcAft>
            </a:pPr>
            <a:r>
              <a:rPr sz="2800" b="1">
                <a:solidFill>
                  <a:srgbClr val="002147"/>
                </a:solidFill>
                <a:latin typeface="Calibri"/>
              </a:rPr>
              <a:t>Controller   </a:t>
            </a:r>
            <a:r>
              <a:rPr sz="2800" b="0">
                <a:solidFill>
                  <a:srgbClr val="0D2338"/>
                </a:solidFill>
                <a:latin typeface="Calibri"/>
              </a:rPr>
              <a:t>Portenta Machine Control — sole Modbus RTU master, owns both watchdogs</a:t>
            </a:r>
          </a:p>
          <a:p>
            <a:pPr algn="l">
              <a:spcAft>
                <a:spcPts val="1100"/>
              </a:spcAft>
            </a:pPr>
            <a:r>
              <a:rPr sz="2800" b="1">
                <a:solidFill>
                  <a:srgbClr val="002147"/>
                </a:solidFill>
                <a:latin typeface="Calibri"/>
              </a:rPr>
              <a:t>Load   </a:t>
            </a:r>
            <a:r>
              <a:rPr sz="2800" b="0">
                <a:solidFill>
                  <a:srgbClr val="0D2338"/>
                </a:solidFill>
                <a:latin typeface="Calibri"/>
              </a:rPr>
              <a:t>Chroma 63004-150-60 DC electronic load, SCPI over USB-TMC</a:t>
            </a:r>
          </a:p>
          <a:p>
            <a:pPr algn="l">
              <a:spcAft>
                <a:spcPts val="1100"/>
              </a:spcAft>
            </a:pPr>
            <a:r>
              <a:rPr sz="2800" b="1">
                <a:solidFill>
                  <a:srgbClr val="002147"/>
                </a:solidFill>
                <a:latin typeface="Calibri"/>
              </a:rPr>
              <a:t>Wind   </a:t>
            </a:r>
            <a:r>
              <a:rPr sz="2800" b="0">
                <a:solidFill>
                  <a:srgbClr val="0D2338"/>
                </a:solidFill>
                <a:latin typeface="Calibri"/>
              </a:rPr>
              <a:t>10.1 – 37.5 m/s;  v = 0.02132·rpm − 0.424,  R² = 0.9996</a:t>
            </a:r>
          </a:p>
          <a:p>
            <a:pPr algn="l">
              <a:spcAft>
                <a:spcPts val="1100"/>
              </a:spcAft>
            </a:pPr>
            <a:r>
              <a:rPr sz="2800" b="1" i="0">
                <a:solidFill>
                  <a:srgbClr val="B3261E"/>
                </a:solidFill>
                <a:latin typeface="Calibri"/>
              </a:rPr>
              <a:t>The hardwired E-stop is the safety device. No software is in that chain.</a:t>
            </a:r>
          </a:p>
          <a:p>
            <a:pPr algn="l">
              <a:spcAft>
                <a:spcPts val="1100"/>
              </a:spcAft>
            </a:pPr>
            <a:r>
              <a:rPr sz="2800" b="0">
                <a:solidFill>
                  <a:srgbClr val="8A7038"/>
                </a:solidFill>
                <a:latin typeface="Calibri"/>
              </a:rPr>
              <a:t>• </a:t>
            </a:r>
            <a:r>
              <a:rPr sz="2800" b="0">
                <a:solidFill>
                  <a:srgbClr val="0D2338"/>
                </a:solidFill>
                <a:latin typeface="Calibri"/>
              </a:rPr>
              <a:t>Two independent watchdogs — the drive stops the fan if the PMC goes quiet (3.0 s); the PMC stops the fan if the host goes quiet (5.0 s). Neither depends on the layer above it.</a:t>
            </a:r>
          </a:p>
          <a:p>
            <a:pPr algn="l">
              <a:spcAft>
                <a:spcPts val="1100"/>
              </a:spcAft>
            </a:pPr>
            <a:r>
              <a:rPr sz="2800" b="0">
                <a:solidFill>
                  <a:srgbClr val="8A7038"/>
                </a:solidFill>
                <a:latin typeface="Calibri"/>
              </a:rPr>
              <a:t>• </a:t>
            </a:r>
            <a:r>
              <a:rPr sz="2800" b="0">
                <a:solidFill>
                  <a:srgbClr val="0D2338"/>
                </a:solidFill>
                <a:latin typeface="Calibri"/>
              </a:rPr>
              <a:t>One Modbus master only. Two devices commanding a 15 HP fan, neither aware of the other, is the failure this design prevents.</a:t>
            </a:r>
          </a:p>
          <a:p>
            <a:pPr algn="l">
              <a:spcAft>
                <a:spcPts val="1100"/>
              </a:spcAft>
            </a:pPr>
            <a:r>
              <a:rPr sz="2800" b="0">
                <a:solidFill>
                  <a:srgbClr val="8A7038"/>
                </a:solidFill>
                <a:latin typeface="Calibri"/>
              </a:rPr>
              <a:t>• </a:t>
            </a:r>
            <a:r>
              <a:rPr sz="2800" b="0">
                <a:solidFill>
                  <a:srgbClr val="0D2338"/>
                </a:solidFill>
                <a:latin typeface="Calibri"/>
              </a:rPr>
              <a:t>Interlock: load ON → wind UP → test → wind DOWN → load OFF. An unloaded rotor in moving air accelerates.</a:t>
            </a:r>
          </a:p>
        </p:txBody>
      </p:sp>
      <p:pic>
        <p:nvPicPr>
          <p:cNvPr id="12" name="Picture 11" descr="chain_strip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353312" y="25077420"/>
            <a:ext cx="11686032" cy="38953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53312" y="29141927"/>
            <a:ext cx="116860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 i="1">
                <a:solidFill>
                  <a:srgbClr val="5B7288"/>
                </a:solidFill>
                <a:latin typeface="Calibri"/>
              </a:rPr>
              <a:t>Measurement and control chain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036040" y="6986016"/>
            <a:ext cx="15288767" cy="22704552"/>
          </a:xfrm>
          <a:prstGeom prst="rect">
            <a:avLst/>
          </a:prstGeom>
          <a:solidFill>
            <a:srgbClr val="FFFFFF"/>
          </a:solidFill>
          <a:ln w="168910">
            <a:solidFill>
              <a:srgbClr val="C79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356080" y="7086600"/>
            <a:ext cx="14648688" cy="1380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200" b="1" i="0">
                <a:solidFill>
                  <a:srgbClr val="002147"/>
                </a:solidFill>
                <a:latin typeface="Calibri"/>
              </a:rPr>
              <a:t>Project Details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538960" y="8467344"/>
            <a:ext cx="14282928" cy="20903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300"/>
              </a:spcAft>
            </a:pPr>
            <a:r>
              <a:rPr sz="3200" b="1" i="0">
                <a:solidFill>
                  <a:srgbClr val="002147"/>
                </a:solidFill>
                <a:latin typeface="Calibri"/>
              </a:rPr>
              <a:t>At each of 14 wind speeds (500 → 1800 rpm fan, 100 rpm steps):</a:t>
            </a:r>
          </a:p>
          <a:p>
            <a:pPr algn="l">
              <a:spcAft>
                <a:spcPts val="1100"/>
              </a:spcAft>
            </a:pPr>
            <a:r>
              <a:rPr sz="3200" b="0">
                <a:solidFill>
                  <a:srgbClr val="8A7038"/>
                </a:solidFill>
                <a:latin typeface="Calibri"/>
              </a:rPr>
              <a:t>• </a:t>
            </a:r>
            <a:r>
              <a:rPr sz="3200" b="0">
                <a:solidFill>
                  <a:srgbClr val="0D2338"/>
                </a:solidFill>
                <a:latin typeface="Calibri"/>
              </a:rPr>
              <a:t>Ramp the electronic load in constant-current steps</a:t>
            </a:r>
          </a:p>
          <a:p>
            <a:pPr algn="l">
              <a:spcAft>
                <a:spcPts val="1100"/>
              </a:spcAft>
            </a:pPr>
            <a:r>
              <a:rPr sz="3200" b="0">
                <a:solidFill>
                  <a:srgbClr val="8A7038"/>
                </a:solidFill>
                <a:latin typeface="Calibri"/>
              </a:rPr>
              <a:t>• </a:t>
            </a:r>
            <a:r>
              <a:rPr sz="3200" b="0">
                <a:solidFill>
                  <a:srgbClr val="0D2338"/>
                </a:solidFill>
                <a:latin typeface="Calibri"/>
              </a:rPr>
              <a:t>Stop once electrical power falls to 80% of its peak — the rotor is never driven to stall</a:t>
            </a:r>
          </a:p>
          <a:p>
            <a:pPr algn="l">
              <a:spcAft>
                <a:spcPts val="1100"/>
              </a:spcAft>
            </a:pPr>
            <a:r>
              <a:rPr sz="3200" b="0">
                <a:solidFill>
                  <a:srgbClr val="8A7038"/>
                </a:solidFill>
                <a:latin typeface="Calibri"/>
              </a:rPr>
              <a:t>• </a:t>
            </a:r>
            <a:r>
              <a:rPr sz="3200" b="0">
                <a:solidFill>
                  <a:srgbClr val="0D2338"/>
                </a:solidFill>
                <a:latin typeface="Calibri"/>
              </a:rPr>
              <a:t>Record V and I at every step, unload, advance the wind</a:t>
            </a:r>
          </a:p>
          <a:p>
            <a:pPr algn="l">
              <a:spcAft>
                <a:spcPts val="1300"/>
              </a:spcAft>
            </a:pPr>
            <a:r>
              <a:rPr sz="3200" b="1">
                <a:solidFill>
                  <a:srgbClr val="002147"/>
                </a:solidFill>
                <a:latin typeface="Calibri"/>
              </a:rPr>
              <a:t>Fit a parabola; don't take the highest reading. </a:t>
            </a:r>
            <a:r>
              <a:rPr sz="3200" b="0">
                <a:solidFill>
                  <a:srgbClr val="0D2338"/>
                </a:solidFill>
                <a:latin typeface="Calibri"/>
              </a:rPr>
              <a:t>The top of the power curve is flat, so the highest single reading always sits above the true peak — and the more points you take, the higher it sits.</a:t>
            </a:r>
          </a:p>
          <a:p>
            <a:pPr algn="l">
              <a:spcAft>
                <a:spcPts val="1300"/>
              </a:spcAft>
            </a:pPr>
            <a:r>
              <a:rPr sz="3200" b="1">
                <a:solidFill>
                  <a:srgbClr val="002147"/>
                </a:solidFill>
                <a:latin typeface="Calibri"/>
              </a:rPr>
              <a:t>Fingerprint every run. </a:t>
            </a:r>
            <a:r>
              <a:rPr sz="3200" b="0">
                <a:solidFill>
                  <a:srgbClr val="0D2338"/>
                </a:solidFill>
                <a:latin typeface="Calibri"/>
              </a:rPr>
              <a:t>Each sweep records a hash of its settings. Different hash = not comparable. The alternative is finding out much later, from numbers that looked fine.</a:t>
            </a:r>
          </a:p>
          <a:p>
            <a:pPr algn="l">
              <a:spcAft>
                <a:spcPts val="1100"/>
              </a:spcAft>
            </a:pPr>
            <a:r>
              <a:rPr sz="3000" b="1">
                <a:solidFill>
                  <a:srgbClr val="002147"/>
                </a:solidFill>
                <a:latin typeface="Calibri"/>
              </a:rPr>
              <a:t>Rotor   </a:t>
            </a:r>
            <a:r>
              <a:rPr sz="3000" b="0">
                <a:solidFill>
                  <a:srgbClr val="0D2338"/>
                </a:solidFill>
                <a:latin typeface="Calibri"/>
              </a:rPr>
              <a:t>vertical-axis H-rotor, 3 blades, R = 101.6 mm, span 245 mm. Swept area 2RH = 0.0498 m² — a cylinder, not a disc.</a:t>
            </a:r>
          </a:p>
          <a:p>
            <a:pPr algn="l">
              <a:spcAft>
                <a:spcPts val="0"/>
              </a:spcAft>
            </a:pPr>
            <a:r>
              <a:rPr sz="3000" b="1">
                <a:solidFill>
                  <a:srgbClr val="002147"/>
                </a:solidFill>
                <a:latin typeface="Calibri"/>
              </a:rPr>
              <a:t>Blade   </a:t>
            </a:r>
            <a:r>
              <a:rPr sz="3000" b="0">
                <a:solidFill>
                  <a:srgbClr val="0D2338"/>
                </a:solidFill>
                <a:latin typeface="Calibri"/>
              </a:rPr>
              <a:t>PETG thin cambered plate: 1.79 mm wall, t/c 4%, 42% camber, 183° turning, square edges — not an airfoil.</a:t>
            </a:r>
          </a:p>
        </p:txBody>
      </p:sp>
      <p:pic>
        <p:nvPicPr>
          <p:cNvPr id="17" name="Picture 16" descr="sweep_protocol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4538960" y="17544941"/>
            <a:ext cx="14282928" cy="986202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4538960" y="28821887"/>
            <a:ext cx="1428292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 i="1">
                <a:solidFill>
                  <a:srgbClr val="5B7288"/>
                </a:solidFill>
                <a:latin typeface="Calibri"/>
              </a:rPr>
              <a:t>Outer loop = wind speed; inner loop = load current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818584" y="6986016"/>
            <a:ext cx="13222224" cy="13862304"/>
          </a:xfrm>
          <a:prstGeom prst="rect">
            <a:avLst/>
          </a:prstGeom>
          <a:solidFill>
            <a:srgbClr val="FFFFFF"/>
          </a:solidFill>
          <a:ln w="168910">
            <a:solidFill>
              <a:srgbClr val="C79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138624" y="7086600"/>
            <a:ext cx="12582144" cy="1380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200" b="1" i="0">
                <a:solidFill>
                  <a:srgbClr val="002147"/>
                </a:solidFill>
                <a:latin typeface="Calibri"/>
              </a:rPr>
              <a:t>Results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321503" y="8467344"/>
            <a:ext cx="12216384" cy="120609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300"/>
              </a:spcAft>
            </a:pPr>
            <a:r>
              <a:rPr sz="3000" b="0" i="0">
                <a:solidFill>
                  <a:srgbClr val="0D2338"/>
                </a:solidFill>
                <a:latin typeface="Calibri"/>
              </a:rPr>
              <a:t>14 / 14 points clean, single continuous run</a:t>
            </a:r>
          </a:p>
          <a:p>
            <a:pPr algn="l">
              <a:spcAft>
                <a:spcPts val="800"/>
              </a:spcAft>
            </a:pPr>
            <a:r>
              <a:rPr sz="4000" b="1" i="0">
                <a:solidFill>
                  <a:srgbClr val="002147"/>
                </a:solidFill>
                <a:latin typeface="Calibri"/>
              </a:rPr>
              <a:t>P ∝ v^3.77    R² = 0.998</a:t>
            </a:r>
          </a:p>
          <a:p>
            <a:pPr algn="l">
              <a:spcAft>
                <a:spcPts val="1300"/>
              </a:spcAft>
            </a:pPr>
            <a:r>
              <a:rPr sz="4000" b="1" i="0">
                <a:solidFill>
                  <a:srgbClr val="002147"/>
                </a:solidFill>
                <a:latin typeface="Calibri"/>
              </a:rPr>
              <a:t>peak 3.793 W at 37.5 m/s</a:t>
            </a:r>
          </a:p>
          <a:p>
            <a:pPr algn="l">
              <a:spcAft>
                <a:spcPts val="1600"/>
              </a:spcAft>
            </a:pPr>
            <a:r>
              <a:rPr sz="2800" b="0" i="0">
                <a:solidFill>
                  <a:srgbClr val="5B7288"/>
                </a:solidFill>
                <a:latin typeface="Calibri"/>
              </a:rPr>
              <a:t>Independent repeats at 1200 and 1800 rpm match the sweep to 0.3% and 0.2%.</a:t>
            </a:r>
          </a:p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8A7038"/>
                </a:solidFill>
                <a:latin typeface="Calibri"/>
              </a:rPr>
              <a:t>But that exponent describes the GENERATOR,</a:t>
            </a:r>
          </a:p>
          <a:p>
            <a:pPr algn="l">
              <a:spcAft>
                <a:spcPts val="1100"/>
              </a:spcAft>
            </a:pPr>
            <a:r>
              <a:rPr sz="3000" b="1" i="0">
                <a:solidFill>
                  <a:srgbClr val="8A7038"/>
                </a:solidFill>
                <a:latin typeface="Calibri"/>
              </a:rPr>
              <a:t>not the blade.</a:t>
            </a:r>
          </a:p>
          <a:p>
            <a:pPr algn="l">
              <a:spcAft>
                <a:spcPts val="800"/>
              </a:spcAft>
            </a:pPr>
            <a:r>
              <a:rPr sz="2600" b="0" i="0">
                <a:solidFill>
                  <a:srgbClr val="002147"/>
                </a:solidFill>
                <a:latin typeface="Calibri"/>
              </a:rPr>
              <a:t>V_oc ∝ v^1.52   and   R_int ∝ v^−0.64   (73.6 → 40.1 Ω)</a:t>
            </a:r>
          </a:p>
          <a:p>
            <a:pPr algn="l">
              <a:spcAft>
                <a:spcPts val="800"/>
              </a:spcAft>
            </a:pPr>
            <a:r>
              <a:rPr sz="2600" b="0" i="0">
                <a:solidFill>
                  <a:srgbClr val="002147"/>
                </a:solidFill>
                <a:latin typeface="Calibri"/>
              </a:rPr>
              <a:t>every peak sits at the Thévenin match,  P = V_oc² / 4R_int</a:t>
            </a:r>
          </a:p>
          <a:p>
            <a:pPr algn="l">
              <a:spcAft>
                <a:spcPts val="800"/>
              </a:spcAft>
            </a:pPr>
            <a:r>
              <a:rPr sz="2600" b="0" i="0">
                <a:solidFill>
                  <a:srgbClr val="002147"/>
                </a:solidFill>
                <a:latin typeface="Calibri"/>
              </a:rPr>
              <a:t>n = 2a − b = 3.69,  against 3.77 measured</a:t>
            </a:r>
          </a:p>
          <a:p>
            <a:pPr algn="l">
              <a:spcAft>
                <a:spcPts val="0"/>
              </a:spcAft>
            </a:pPr>
            <a:r>
              <a:rPr sz="2800" b="0">
                <a:solidFill>
                  <a:srgbClr val="0D2338"/>
                </a:solidFill>
                <a:latin typeface="Calibri"/>
              </a:rPr>
              <a:t>Efficiency is </a:t>
            </a:r>
            <a:r>
              <a:rPr sz="2800" b="1">
                <a:solidFill>
                  <a:srgbClr val="B3261E"/>
                </a:solidFill>
                <a:latin typeface="Calibri"/>
              </a:rPr>
              <a:t>Cp = 0.10 – 0.24%</a:t>
            </a:r>
            <a:r>
              <a:rPr sz="2800" b="0">
                <a:solidFill>
                  <a:srgbClr val="0D2338"/>
                </a:solidFill>
                <a:latin typeface="Calibri"/>
              </a:rPr>
              <a:t>, about 100× below a working turbine — the rotor is spinning far too fast for its own good, held there by the generator.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30321503" y="14721840"/>
          <a:ext cx="11887200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2743200"/>
                <a:gridCol w="3108960"/>
                <a:gridCol w="3017520"/>
              </a:tblGrid>
              <a:tr h="749807">
                <a:tc>
                  <a:txBody>
                    <a:bodyPr/>
                    <a:lstStyle/>
                    <a:p>
                      <a:pPr algn="l"/>
                      <a:r>
                        <a:rPr sz="2400" b="1">
                          <a:solidFill>
                            <a:srgbClr val="FFFFFF"/>
                          </a:solidFill>
                        </a:rPr>
                        <a:t>fan rpm</a:t>
                      </a:r>
                    </a:p>
                  </a:txBody>
                  <a:tcPr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2400" b="1">
                          <a:solidFill>
                            <a:srgbClr val="FFFFFF"/>
                          </a:solidFill>
                        </a:rPr>
                        <a:t>m/s</a:t>
                      </a:r>
                    </a:p>
                  </a:txBody>
                  <a:tcPr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2400" b="1">
                          <a:solidFill>
                            <a:srgbClr val="FFFFFF"/>
                          </a:solidFill>
                        </a:rPr>
                        <a:t>P_max</a:t>
                      </a:r>
                    </a:p>
                  </a:txBody>
                  <a:tcPr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2400" b="1">
                          <a:solidFill>
                            <a:srgbClr val="FFFFFF"/>
                          </a:solidFill>
                        </a:rPr>
                        <a:t>at</a:t>
                      </a:r>
                    </a:p>
                  </a:txBody>
                  <a:tcPr>
                    <a:solidFill>
                      <a:srgbClr val="002147"/>
                    </a:solidFill>
                  </a:tcPr>
                </a:tc>
              </a:tr>
              <a:tr h="749807">
                <a:tc>
                  <a:txBody>
                    <a:bodyPr/>
                    <a:lstStyle/>
                    <a:p>
                      <a:pPr algn="l"/>
                      <a:r>
                        <a:rPr sz="2400" b="0">
                          <a:solidFill>
                            <a:srgbClr val="0D2338"/>
                          </a:solidFill>
                        </a:rPr>
                        <a:t>496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2400" b="0">
                          <a:solidFill>
                            <a:srgbClr val="0D2338"/>
                          </a:solidFill>
                        </a:rPr>
                        <a:t>10.1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2400" b="0">
                          <a:solidFill>
                            <a:srgbClr val="0D2338"/>
                          </a:solidFill>
                        </a:rPr>
                        <a:t>0.030 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2400" b="0">
                          <a:solidFill>
                            <a:srgbClr val="0D2338"/>
                          </a:solidFill>
                        </a:rPr>
                        <a:t>0.018 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49807">
                <a:tc>
                  <a:txBody>
                    <a:bodyPr/>
                    <a:lstStyle/>
                    <a:p>
                      <a:pPr algn="l"/>
                      <a:r>
                        <a:rPr sz="2400" b="0">
                          <a:solidFill>
                            <a:srgbClr val="0D2338"/>
                          </a:solidFill>
                        </a:rPr>
                        <a:t>894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2400" b="0">
                          <a:solidFill>
                            <a:srgbClr val="0D2338"/>
                          </a:solidFill>
                        </a:rPr>
                        <a:t>18.6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2400" b="0">
                          <a:solidFill>
                            <a:srgbClr val="0D2338"/>
                          </a:solidFill>
                        </a:rPr>
                        <a:t>0.273 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2400" b="0">
                          <a:solidFill>
                            <a:srgbClr val="0D2338"/>
                          </a:solidFill>
                        </a:rPr>
                        <a:t>0.068 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49807">
                <a:tc>
                  <a:txBody>
                    <a:bodyPr/>
                    <a:lstStyle/>
                    <a:p>
                      <a:pPr algn="l"/>
                      <a:r>
                        <a:rPr sz="2400" b="0">
                          <a:solidFill>
                            <a:srgbClr val="0D2338"/>
                          </a:solidFill>
                        </a:rPr>
                        <a:t>1384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2400" b="0">
                          <a:solidFill>
                            <a:srgbClr val="0D2338"/>
                          </a:solidFill>
                        </a:rPr>
                        <a:t>29.1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2400" b="0">
                          <a:solidFill>
                            <a:srgbClr val="0D2338"/>
                          </a:solidFill>
                        </a:rPr>
                        <a:t>1.665 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2400" b="0">
                          <a:solidFill>
                            <a:srgbClr val="0D2338"/>
                          </a:solidFill>
                        </a:rPr>
                        <a:t>0.240 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49811">
                <a:tc>
                  <a:txBody>
                    <a:bodyPr/>
                    <a:lstStyle/>
                    <a:p>
                      <a:pPr algn="l"/>
                      <a:r>
                        <a:rPr sz="2400" b="1">
                          <a:solidFill>
                            <a:srgbClr val="002147"/>
                          </a:solidFill>
                        </a:rPr>
                        <a:t>1779</a:t>
                      </a:r>
                    </a:p>
                  </a:txBody>
                  <a:tcPr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2400" b="1">
                          <a:solidFill>
                            <a:srgbClr val="002147"/>
                          </a:solidFill>
                        </a:rPr>
                        <a:t>37.5</a:t>
                      </a:r>
                    </a:p>
                  </a:txBody>
                  <a:tcPr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2400" b="1">
                          <a:solidFill>
                            <a:srgbClr val="002147"/>
                          </a:solidFill>
                        </a:rPr>
                        <a:t>3.793 W</a:t>
                      </a:r>
                    </a:p>
                  </a:txBody>
                  <a:tcPr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2400" b="1">
                          <a:solidFill>
                            <a:srgbClr val="002147"/>
                          </a:solidFill>
                        </a:rPr>
                        <a:t>0.320 A</a:t>
                      </a:r>
                    </a:p>
                  </a:txBody>
                  <a:tcPr>
                    <a:solidFill>
                      <a:srgbClr val="EAF1F8"/>
                    </a:solidFill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30321503" y="18580608"/>
            <a:ext cx="11887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 i="1">
                <a:solidFill>
                  <a:srgbClr val="5B7288"/>
                </a:solidFill>
                <a:latin typeface="Calibri"/>
              </a:rPr>
              <a:t>Wind speed from MEASURED fan rpm — the drive settles 4–13 rpm below setpoint.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9818584" y="21424392"/>
            <a:ext cx="13222224" cy="8266175"/>
          </a:xfrm>
          <a:prstGeom prst="rect">
            <a:avLst/>
          </a:prstGeom>
          <a:solidFill>
            <a:srgbClr val="FFFFFF"/>
          </a:solidFill>
          <a:ln w="168910">
            <a:solidFill>
              <a:srgbClr val="C79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0138624" y="21524976"/>
            <a:ext cx="12582144" cy="1380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200" b="1" i="0">
                <a:solidFill>
                  <a:srgbClr val="002147"/>
                </a:solidFill>
                <a:latin typeface="Calibri"/>
              </a:rPr>
              <a:t>Conclusion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321503" y="22905720"/>
            <a:ext cx="12216384" cy="64648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300"/>
              </a:spcAft>
            </a:pPr>
            <a:r>
              <a:rPr sz="2800" b="1">
                <a:solidFill>
                  <a:srgbClr val="B3261E"/>
                </a:solidFill>
                <a:latin typeface="Calibri"/>
              </a:rPr>
              <a:t>A better blade can measure as less power.</a:t>
            </a:r>
            <a:r>
              <a:rPr sz="2800" b="0">
                <a:solidFill>
                  <a:srgbClr val="0D2338"/>
                </a:solidFill>
                <a:latin typeface="Calibri"/>
              </a:rPr>
              <a:t>  A blade that grabs more energy spins slower — and slower means less voltage, so the meter reads lower. Watts alone cannot rank blades.</a:t>
            </a:r>
          </a:p>
          <a:p>
            <a:pPr algn="l">
              <a:spcAft>
                <a:spcPts val="1300"/>
              </a:spcAft>
            </a:pPr>
            <a:r>
              <a:rPr sz="2800" b="1">
                <a:solidFill>
                  <a:srgbClr val="1F7A52"/>
                </a:solidFill>
                <a:latin typeface="Calibri"/>
              </a:rPr>
              <a:t>The fix is one more channel: rotor speed.</a:t>
            </a:r>
            <a:r>
              <a:rPr sz="2800" b="0">
                <a:solidFill>
                  <a:srgbClr val="0D2338"/>
                </a:solidFill>
                <a:latin typeface="Calibri"/>
              </a:rPr>
              <a:t>  Every sweep already records a full load ramp at all 14 wind speeds, and a sensor on the rig already feeds the DAQ. Adding that one channel turns the whole archive into Cp(λ) — no new hardware, no new tunnel time.</a:t>
            </a:r>
          </a:p>
          <a:p>
            <a:pPr algn="l">
              <a:spcAft>
                <a:spcPts val="0"/>
              </a:spcAft>
            </a:pPr>
            <a:r>
              <a:rPr sz="2400" b="0" i="0">
                <a:solidFill>
                  <a:srgbClr val="5B7288"/>
                </a:solidFill>
                <a:latin typeface="Calibri"/>
              </a:rPr>
              <a:t>Limits: electrical power only, not Cp · Re_chord 32,376–119,735, below Reynolds-independence (~2×10⁵) · generator R_int inferred, never measured · single-mount data, no mount-to-mount error bar yet.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0392" y="30266640"/>
            <a:ext cx="42199560" cy="1947672"/>
          </a:xfrm>
          <a:prstGeom prst="rect">
            <a:avLst/>
          </a:prstGeom>
          <a:solidFill>
            <a:srgbClr val="FFFFFF"/>
          </a:solidFill>
          <a:ln w="168910">
            <a:solidFill>
              <a:srgbClr val="C79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34072" y="30614112"/>
            <a:ext cx="301752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933" b="1" i="0">
                <a:solidFill>
                  <a:srgbClr val="000000"/>
                </a:solidFill>
                <a:latin typeface="Arial"/>
              </a:rPr>
              <a:t>The University of Rhode Island CYPHER Research Center IPT Meeting for Power Systems and Manufacturing</a:t>
            </a:r>
          </a:p>
          <a:p>
            <a:pPr algn="l">
              <a:spcAft>
                <a:spcPts val="0"/>
              </a:spcAft>
            </a:pPr>
            <a:r>
              <a:rPr sz="2200" b="0" i="0">
                <a:solidFill>
                  <a:srgbClr val="222222"/>
                </a:solidFill>
                <a:latin typeface="Arial"/>
              </a:rPr>
              <a:t>Sodhi Lab × Jeong Lab  ·  Department of Mechanical, Industrial and Systems Engineering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4128" y="30531816"/>
            <a:ext cx="5715000" cy="12836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51325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8403C848-73D3-624B-BA4F-A29975D779FE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42cdb11d-f58b-4725-bbf1-154744fa921f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15051</TotalTime>
  <Words>789</Words>
  <Application>Microsoft Macintosh PowerPoint</Application>
  <PresentationFormat>Custom</PresentationFormat>
  <Paragraphs>56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Wingdings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Anissa Elias</dc:creator>
  <cp:lastModifiedBy>Stephen Eacuello</cp:lastModifiedBy>
  <cp:revision>44</cp:revision>
  <dcterms:created xsi:type="dcterms:W3CDTF">2025-06-27T02:42:48Z</dcterms:created>
  <dcterms:modified xsi:type="dcterms:W3CDTF">2026-08-26T13:36:12Z</dcterms:modified>
</cp:coreProperties>
</file>