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512064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43891200" cy="201168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685800"/>
            <a:ext cx="40965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40965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 i="0">
                <a:solidFill>
                  <a:srgbClr val="FFFFFF"/>
                </a:solidFill>
                <a:latin typeface="Calibri"/>
              </a:rPr>
              <a:t>Programmable Characterisation of 3D-Printed Wind Turbine Blades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703320"/>
            <a:ext cx="40965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 i="0">
                <a:solidFill>
                  <a:srgbClr val="C0DDF2"/>
                </a:solidFill>
                <a:latin typeface="Calibri"/>
              </a:rPr>
              <a:t>Stephen Acuello   ·   seacuello@uri.edu   ·   Aerolab wind tunnel, automated load sweeps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035040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6163055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6748272"/>
            <a:ext cx="129844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0D2338"/>
                </a:solidFill>
                <a:latin typeface="Calibri"/>
              </a:rPr>
              <a:t>3D printing makes rotor geometry cheap to iterate. Measuring whether a change actually helps does not follow automatically: a wind-tunnel campaign that compares a dozen blades has to hold its protocol fixed across weeks, or the comparison silently becomes a comparison of settings.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0D2338"/>
                </a:solidFill>
                <a:latin typeface="Calibri"/>
              </a:rPr>
              <a:t>This work builds programmable, reproducible control of the Aerolab tunnel and its electronic load, so a rotor can be characterised unattended in ~10 minutes with a machine-checkable record of exactly how.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12691872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12819888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APPARATUS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3405104"/>
            <a:ext cx="12984480" cy="7863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ctr"/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Drive   </a:t>
            </a:r>
            <a:r>
              <a:rPr sz="2000" b="0">
                <a:solidFill>
                  <a:srgbClr val="0D2338"/>
                </a:solidFill>
                <a:latin typeface="Calibri"/>
              </a:rPr>
              <a:t>ABB ACS550-U1-046A-2, 15 HP, 208–240 V 3φ; commands speed in rpm, full scale 2435</a:t>
            </a:r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Controller   </a:t>
            </a:r>
            <a:r>
              <a:rPr sz="2000" b="0">
                <a:solidFill>
                  <a:srgbClr val="0D2338"/>
                </a:solidFill>
                <a:latin typeface="Calibri"/>
              </a:rPr>
              <a:t>Portenta Machine Control — sole Modbus RTU master, owns both watchdogs</a:t>
            </a:r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Load   </a:t>
            </a:r>
            <a:r>
              <a:rPr sz="2000" b="0">
                <a:solidFill>
                  <a:srgbClr val="0D2338"/>
                </a:solidFill>
                <a:latin typeface="Calibri"/>
              </a:rPr>
              <a:t>Chroma 63004-150-60 DC electronic load, SCPI over USB-TMC</a:t>
            </a:r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Wind   </a:t>
            </a:r>
            <a:r>
              <a:rPr sz="2000" b="0">
                <a:solidFill>
                  <a:srgbClr val="0D2338"/>
                </a:solidFill>
                <a:latin typeface="Calibri"/>
              </a:rPr>
              <a:t>10.1 – 37.5 m/s, v = 0.02132·rpm − 0.424, R² = 0.9996</a:t>
            </a:r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Rotor   </a:t>
            </a:r>
            <a:r>
              <a:rPr sz="2000" b="0">
                <a:solidFill>
                  <a:srgbClr val="0D2338"/>
                </a:solidFill>
                <a:latin typeface="Calibri"/>
              </a:rPr>
              <a:t>Vertical-axis H-rotor, 3 blades, R = 101.6 mm, span 245 mm, swept area 2RH = 0.0498 m²</a:t>
            </a:r>
          </a:p>
          <a:p>
            <a:pPr algn="l">
              <a:spcAft>
                <a:spcPts val="130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Blade   </a:t>
            </a:r>
            <a:r>
              <a:rPr sz="2000" b="0">
                <a:solidFill>
                  <a:srgbClr val="0D2338"/>
                </a:solidFill>
                <a:latin typeface="Calibri"/>
              </a:rPr>
              <a:t>PETG, thin cambered plate: 1.79 mm wall, t/c 4%, 42% camber, 183° turning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22274784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240280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22988016"/>
            <a:ext cx="12984480" cy="585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100" b="1" i="0">
                <a:solidFill>
                  <a:srgbClr val="B3261E"/>
                </a:solidFill>
                <a:latin typeface="Calibri"/>
              </a:rPr>
              <a:t>The hardwired E-stop is the safety device. No software is in that chain.</a:t>
            </a:r>
          </a:p>
          <a:p>
            <a:pPr algn="l">
              <a:spcAft>
                <a:spcPts val="13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Two independent watchdogs — the drive stops the fan if the PMC goes quiet (3.0 s); the PMC stops the fan if the host goes quiet (5.0 s). Neither depends on the layer above it.</a:t>
            </a:r>
          </a:p>
          <a:p>
            <a:pPr algn="l">
              <a:spcAft>
                <a:spcPts val="13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One Modbus master only. Two devices commanding a 15 HP fan, neither aware of the other, is the failure this design prevents.</a:t>
            </a:r>
          </a:p>
          <a:p>
            <a:pPr algn="l">
              <a:spcAft>
                <a:spcPts val="13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Interlock: load ON → wind UP → test → wind DOWN → load OFF. An unloaded rotor in moving air accelerates.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361919" y="6035040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681959" y="6163055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361919" y="6748272"/>
            <a:ext cx="12984480" cy="5669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100" b="1" i="0">
                <a:solidFill>
                  <a:srgbClr val="002147"/>
                </a:solidFill>
                <a:latin typeface="Calibri"/>
              </a:rPr>
              <a:t>At each of 14 wind speeds (500 → 1800 rpm fan in 100 rpm steps):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277B3"/>
                </a:solidFill>
                <a:latin typeface="Calibri"/>
              </a:rPr>
              <a:t>• </a:t>
            </a:r>
            <a:r>
              <a:rPr sz="20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0D2338"/>
                </a:solidFill>
                <a:latin typeface="Calibri"/>
              </a:rPr>
              <a:t>Peak located by parabolic fit. Over a flat maximum the largest single sample is biased high, and the bias grows with sample count — so blades measured with different point counts would be compared unfairly.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361919" y="13423392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81959" y="13551408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PROTOCOL FINGERPRINTING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361919" y="14136624"/>
            <a:ext cx="12984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0D2338"/>
                </a:solidFill>
                <a:latin typeface="Calibri"/>
              </a:rPr>
              <a:t>Every run hashes the settings that change what a curve MEANS — step size, scaling rule, dwell, cut-out voltage, current range, floor current, roll-off fraction.</a:t>
            </a:r>
          </a:p>
          <a:p>
            <a:pPr algn="l">
              <a:spcAft>
                <a:spcPts val="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Runs with different fingerprints are not comparable. </a:t>
            </a:r>
            <a:r>
              <a:rPr sz="2000" b="0">
                <a:solidFill>
                  <a:srgbClr val="0D2338"/>
                </a:solidFill>
                <a:latin typeface="Calibri"/>
              </a:rPr>
              <a:t>The hash makes that visible instead of silent — across a dozen rotors the numbers stay perfectly plausible either way.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361919" y="19897344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681959" y="2002536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RESULTS — BLADE V1, RA 20 ΜM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361919" y="20610576"/>
            <a:ext cx="12984480" cy="822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ctr"/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1400"/>
              </a:spcAft>
            </a:pPr>
            <a:r>
              <a:rPr sz="2600" b="1" i="0">
                <a:solidFill>
                  <a:srgbClr val="002147"/>
                </a:solidFill>
                <a:latin typeface="Consolas"/>
              </a:rPr>
              <a:t>P ∝ v^3.77,  R² = 0.998</a:t>
            </a:r>
          </a:p>
          <a:p>
            <a:pPr algn="l">
              <a:spcAft>
                <a:spcPts val="1400"/>
              </a:spcAft>
            </a:pPr>
            <a:r>
              <a:rPr sz="2600" b="1" i="0">
                <a:solidFill>
                  <a:srgbClr val="002147"/>
                </a:solidFill>
                <a:latin typeface="Consolas"/>
              </a:rPr>
              <a:t>peak 3.793 W at 37.5 m/s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0D2338"/>
                </a:solidFill>
                <a:latin typeface="Calibri"/>
              </a:rPr>
              <a:t>independent repeats at 1200 and 1800 rpm match the sweep to 0.3% and 0.2%</a:t>
            </a:r>
          </a:p>
          <a:p>
            <a:pPr algn="ctr">
              <a:spcAft>
                <a:spcPts val="0"/>
              </a:spcAft>
            </a:pPr>
            <a:r>
              <a:rPr sz="1900" b="1" i="1">
                <a:solidFill>
                  <a:srgbClr val="5B7288"/>
                </a:solidFill>
                <a:latin typeface="Calibri"/>
              </a:rPr>
              <a:t>FIGURE — P_max(v), log–log, with the fitted power law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79" y="6035040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63719" y="6163055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WHAT THE EXPONENT ACTUALLY MEASURES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443679" y="6748272"/>
            <a:ext cx="12984480" cy="896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8A7038"/>
                </a:solidFill>
                <a:latin typeface="Calibri"/>
              </a:rPr>
              <a:t>v^3.77 is a generator characteristic, not an aerodynamic one.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002147"/>
                </a:solidFill>
                <a:latin typeface="Consolas"/>
              </a:rPr>
              <a:t>V_oc ∝ v^1.52,  R_int ∝ v^−0.64  (73.6 → 40.1 Ω)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002147"/>
                </a:solidFill>
                <a:latin typeface="Consolas"/>
              </a:rPr>
              <a:t>every peak sits at the Thévenin match, P = V_oc² / 4R_int</a:t>
            </a:r>
          </a:p>
          <a:p>
            <a:pPr algn="l">
              <a:spcAft>
                <a:spcPts val="1100"/>
              </a:spcAft>
            </a:pPr>
            <a:r>
              <a:rPr sz="1900" b="0" i="0">
                <a:solidFill>
                  <a:srgbClr val="002147"/>
                </a:solidFill>
                <a:latin typeface="Consolas"/>
              </a:rPr>
              <a:t>n = 2a − b = 3.69,  against 3.77 measured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D2338"/>
                </a:solidFill>
                <a:latin typeface="Calibri"/>
              </a:rPr>
              <a:t>Cp_elec = </a:t>
            </a:r>
            <a:r>
              <a:rPr sz="2000" b="1">
                <a:solidFill>
                  <a:srgbClr val="B3261E"/>
                </a:solidFill>
                <a:latin typeface="Calibri"/>
              </a:rPr>
              <a:t>0.10 – 0.24%</a:t>
            </a:r>
            <a:r>
              <a:rPr sz="2000" b="0">
                <a:solidFill>
                  <a:srgbClr val="0D2338"/>
                </a:solidFill>
                <a:latin typeface="Calibri"/>
              </a:rPr>
              <a:t>, roughly 100× below a working H-rotor, because peak power sits at ω/ω_runaway ≈ 0.70 → 0.94 — the far limb of Cp(λ) where Cp → 0 by construction.</a:t>
            </a:r>
          </a:p>
          <a:p>
            <a:pPr algn="l">
              <a:spcAft>
                <a:spcPts val="0"/>
              </a:spcAft>
            </a:pPr>
            <a:r>
              <a:rPr sz="2000" b="1">
                <a:solidFill>
                  <a:srgbClr val="002147"/>
                </a:solidFill>
                <a:latin typeface="Calibri"/>
              </a:rPr>
              <a:t>Consequence: </a:t>
            </a:r>
            <a:r>
              <a:rPr sz="2000" b="0">
                <a:solidFill>
                  <a:srgbClr val="0D2338"/>
                </a:solidFill>
                <a:latin typeface="Calibri"/>
              </a:rPr>
              <a:t>a better blade can read as LESS electrical power. Anything that raises Cp_max while adding low-α drag lowers λ_runaway, lowers V_oc, and lowers measured P as the square.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443679" y="16715232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63719" y="16843248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443679" y="17428464"/>
            <a:ext cx="12984480" cy="658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ctr"/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8A7038"/>
                </a:solidFill>
                <a:latin typeface="Calibri"/>
              </a:rPr>
              <a:t>• </a:t>
            </a:r>
            <a:r>
              <a:rPr sz="1900" b="0">
                <a:solidFill>
                  <a:srgbClr val="0D2338"/>
                </a:solidFill>
                <a:latin typeface="Calibri"/>
              </a:rPr>
              <a:t>Electrical power only — not Cp. Rotor speed is required.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8A7038"/>
                </a:solidFill>
                <a:latin typeface="Calibri"/>
              </a:rPr>
              <a:t>• </a:t>
            </a:r>
            <a:r>
              <a:rPr sz="1900" b="0">
                <a:solidFill>
                  <a:srgbClr val="0D2338"/>
                </a:solidFill>
                <a:latin typeface="Calibri"/>
              </a:rPr>
              <a:t>The blade is a cambered plate, not an airfoil: separation is pinned by square edges, so polar and XFOIL cross-checks do not apply.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8A7038"/>
                </a:solidFill>
                <a:latin typeface="Calibri"/>
              </a:rPr>
              <a:t>• </a:t>
            </a:r>
            <a:r>
              <a:rPr sz="1900" b="0">
                <a:solidFill>
                  <a:srgbClr val="0D2338"/>
                </a:solidFill>
                <a:latin typeface="Calibri"/>
              </a:rPr>
              <a:t>Re_chord = 32,376 → 119,735, below Reynolds-independence (~2×10⁵) for a cross-flow turbine.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8A7038"/>
                </a:solidFill>
                <a:latin typeface="Calibri"/>
              </a:rPr>
              <a:t>• </a:t>
            </a:r>
            <a:r>
              <a:rPr sz="1900" b="0">
                <a:solidFill>
                  <a:srgbClr val="0D2338"/>
                </a:solidFill>
                <a:latin typeface="Calibri"/>
              </a:rPr>
              <a:t>Generator R_int is inferred from a fit, never measured.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8A7038"/>
                </a:solidFill>
                <a:latin typeface="Calibri"/>
              </a:rPr>
              <a:t>• </a:t>
            </a:r>
            <a:r>
              <a:rPr sz="1900" b="0">
                <a:solidFill>
                  <a:srgbClr val="0D2338"/>
                </a:solidFill>
                <a:latin typeface="Calibri"/>
              </a:rPr>
              <a:t>Single-mount data — no mount-to-mount error bar yet.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79" y="25017984"/>
            <a:ext cx="12984480" cy="7132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63719" y="2514600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443679" y="25731216"/>
            <a:ext cx="1298448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65760"/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1F7A52"/>
                </a:solidFill>
                <a:latin typeface="Calibri"/>
              </a:rPr>
              <a:t>One rotor-speed channel converts the entire existing archive into Cq(λ) retroactively.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0D2338"/>
                </a:solidFill>
                <a:latin typeface="Calibri"/>
              </a:rPr>
              <a:t>Every sweep already records a full load ramp at all 14 wind speeds. The measurement exists — a proximity sensor on the rig already feeds the Jeong lab DAQ. What is needed is its channel and pulses-per-revolution, not new hardware.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0D2338"/>
                </a:solidFill>
                <a:latin typeface="Calibri"/>
              </a:rPr>
              <a:t>Then: surface-finish and geometry comparisons under ABBA ordering, with the first mount-to-mount error bar this rig has had.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31546800"/>
            <a:ext cx="43891200" cy="13716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3040" y="31894272"/>
            <a:ext cx="40965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C0DDF2"/>
                </a:solidFill>
                <a:latin typeface="Calibri"/>
              </a:rPr>
              <a:t>Code, data and full protocol: github.com/stephenseacuello/windtunnel-control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